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Canva Sans Bold" charset="1" panose="020B0803030501040103"/>
      <p:regular r:id="rId18"/>
    </p:embeddedFont>
    <p:embeddedFont>
      <p:font typeface="Open Sauce Bold" charset="1" panose="00000800000000000000"/>
      <p:regular r:id="rId19"/>
    </p:embeddedFont>
    <p:embeddedFont>
      <p:font typeface="Poppins" charset="1" panose="00000500000000000000"/>
      <p:regular r:id="rId20"/>
    </p:embeddedFont>
    <p:embeddedFont>
      <p:font typeface="Open Sauce" charset="1" panose="00000500000000000000"/>
      <p:regular r:id="rId21"/>
    </p:embeddedFont>
    <p:embeddedFont>
      <p:font typeface="Canva Sans" charset="1" panose="020B0503030501040103"/>
      <p:regular r:id="rId22"/>
    </p:embeddedFont>
    <p:embeddedFont>
      <p:font typeface="Times New Roman" charset="1" panose="02030502070405020303"/>
      <p:regular r:id="rId23"/>
    </p:embeddedFont>
    <p:embeddedFont>
      <p:font typeface="Calibri (MS)" charset="1" panose="020F05020202040302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3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32.png" Type="http://schemas.openxmlformats.org/officeDocument/2006/relationships/image"/><Relationship Id="rId4" Target="../media/image3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34.jpeg" Type="http://schemas.openxmlformats.org/officeDocument/2006/relationships/image"/><Relationship Id="rId4" Target="../media/image35.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grpSp>
        <p:nvGrpSpPr>
          <p:cNvPr name="Group 2" id="2"/>
          <p:cNvGrpSpPr/>
          <p:nvPr/>
        </p:nvGrpSpPr>
        <p:grpSpPr>
          <a:xfrm rot="0">
            <a:off x="12974764" y="-207071"/>
            <a:ext cx="3086100" cy="11299900"/>
            <a:chOff x="0" y="0"/>
            <a:chExt cx="812800" cy="2976105"/>
          </a:xfrm>
        </p:grpSpPr>
        <p:sp>
          <p:nvSpPr>
            <p:cNvPr name="Freeform 3" id="3"/>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C5739"/>
            </a:solidFill>
          </p:spPr>
        </p:sp>
        <p:sp>
          <p:nvSpPr>
            <p:cNvPr name="TextBox 4" id="4"/>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sp>
        <p:nvSpPr>
          <p:cNvPr name="Freeform 5" id="5"/>
          <p:cNvSpPr/>
          <p:nvPr/>
        </p:nvSpPr>
        <p:spPr>
          <a:xfrm flipH="false" flipV="false" rot="0">
            <a:off x="16384715" y="9009597"/>
            <a:ext cx="3806571" cy="2083232"/>
          </a:xfrm>
          <a:custGeom>
            <a:avLst/>
            <a:gdLst/>
            <a:ahLst/>
            <a:cxnLst/>
            <a:rect r="r" b="b" t="t" l="l"/>
            <a:pathLst>
              <a:path h="2083232" w="3806571">
                <a:moveTo>
                  <a:pt x="0" y="0"/>
                </a:moveTo>
                <a:lnTo>
                  <a:pt x="3806570" y="0"/>
                </a:lnTo>
                <a:lnTo>
                  <a:pt x="3806570" y="2083232"/>
                </a:lnTo>
                <a:lnTo>
                  <a:pt x="0" y="2083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776329" y="580047"/>
            <a:ext cx="5482971" cy="9023371"/>
          </a:xfrm>
          <a:custGeom>
            <a:avLst/>
            <a:gdLst/>
            <a:ahLst/>
            <a:cxnLst/>
            <a:rect r="r" b="b" t="t" l="l"/>
            <a:pathLst>
              <a:path h="9023371" w="5482971">
                <a:moveTo>
                  <a:pt x="0" y="0"/>
                </a:moveTo>
                <a:lnTo>
                  <a:pt x="5482971" y="0"/>
                </a:lnTo>
                <a:lnTo>
                  <a:pt x="5482971" y="9023371"/>
                </a:lnTo>
                <a:lnTo>
                  <a:pt x="0" y="9023371"/>
                </a:lnTo>
                <a:lnTo>
                  <a:pt x="0" y="0"/>
                </a:lnTo>
                <a:close/>
              </a:path>
            </a:pathLst>
          </a:custGeom>
          <a:blipFill>
            <a:blip r:embed="rId4"/>
            <a:stretch>
              <a:fillRect l="-4822" t="0" r="-4822" b="0"/>
            </a:stretch>
          </a:blipFill>
        </p:spPr>
      </p:sp>
      <p:grpSp>
        <p:nvGrpSpPr>
          <p:cNvPr name="Group 7" id="7"/>
          <p:cNvGrpSpPr/>
          <p:nvPr/>
        </p:nvGrpSpPr>
        <p:grpSpPr>
          <a:xfrm rot="0">
            <a:off x="-1543050" y="-558218"/>
            <a:ext cx="3086100" cy="11299900"/>
            <a:chOff x="0" y="0"/>
            <a:chExt cx="812800" cy="2976105"/>
          </a:xfrm>
        </p:grpSpPr>
        <p:sp>
          <p:nvSpPr>
            <p:cNvPr name="Freeform 8" id="8"/>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C5739"/>
            </a:solidFill>
          </p:spPr>
        </p:sp>
        <p:sp>
          <p:nvSpPr>
            <p:cNvPr name="TextBox 9" id="9"/>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grpSp>
        <p:nvGrpSpPr>
          <p:cNvPr name="Group 10" id="10"/>
          <p:cNvGrpSpPr/>
          <p:nvPr/>
        </p:nvGrpSpPr>
        <p:grpSpPr>
          <a:xfrm rot="0">
            <a:off x="1227773" y="4163622"/>
            <a:ext cx="110236" cy="2818996"/>
            <a:chOff x="0" y="0"/>
            <a:chExt cx="26312" cy="672855"/>
          </a:xfrm>
        </p:grpSpPr>
        <p:sp>
          <p:nvSpPr>
            <p:cNvPr name="Freeform 11" id="11"/>
            <p:cNvSpPr/>
            <p:nvPr/>
          </p:nvSpPr>
          <p:spPr>
            <a:xfrm flipH="false" flipV="false" rot="0">
              <a:off x="0" y="0"/>
              <a:ext cx="26312" cy="672855"/>
            </a:xfrm>
            <a:custGeom>
              <a:avLst/>
              <a:gdLst/>
              <a:ahLst/>
              <a:cxnLst/>
              <a:rect r="r" b="b" t="t" l="l"/>
              <a:pathLst>
                <a:path h="672855" w="26312">
                  <a:moveTo>
                    <a:pt x="0" y="0"/>
                  </a:moveTo>
                  <a:lnTo>
                    <a:pt x="26312" y="0"/>
                  </a:lnTo>
                  <a:lnTo>
                    <a:pt x="26312" y="672855"/>
                  </a:lnTo>
                  <a:lnTo>
                    <a:pt x="0" y="672855"/>
                  </a:lnTo>
                  <a:close/>
                </a:path>
              </a:pathLst>
            </a:custGeom>
            <a:solidFill>
              <a:srgbClr val="FFFFFF"/>
            </a:solidFill>
          </p:spPr>
        </p:sp>
        <p:sp>
          <p:nvSpPr>
            <p:cNvPr name="TextBox 12" id="12"/>
            <p:cNvSpPr txBox="true"/>
            <p:nvPr/>
          </p:nvSpPr>
          <p:spPr>
            <a:xfrm>
              <a:off x="0" y="-19050"/>
              <a:ext cx="26312" cy="691905"/>
            </a:xfrm>
            <a:prstGeom prst="rect">
              <a:avLst/>
            </a:prstGeom>
          </p:spPr>
          <p:txBody>
            <a:bodyPr anchor="ctr" rtlCol="false" tIns="50800" lIns="50800" bIns="50800" rIns="50800"/>
            <a:lstStyle/>
            <a:p>
              <a:pPr algn="ctr">
                <a:lnSpc>
                  <a:spcPts val="2859"/>
                </a:lnSpc>
              </a:pPr>
            </a:p>
          </p:txBody>
        </p:sp>
      </p:grpSp>
      <p:sp>
        <p:nvSpPr>
          <p:cNvPr name="Freeform 13" id="13"/>
          <p:cNvSpPr/>
          <p:nvPr/>
        </p:nvSpPr>
        <p:spPr>
          <a:xfrm flipH="false" flipV="false" rot="0">
            <a:off x="-2777871" y="-207071"/>
            <a:ext cx="3806571" cy="2083232"/>
          </a:xfrm>
          <a:custGeom>
            <a:avLst/>
            <a:gdLst/>
            <a:ahLst/>
            <a:cxnLst/>
            <a:rect r="r" b="b" t="t" l="l"/>
            <a:pathLst>
              <a:path h="2083232" w="3806571">
                <a:moveTo>
                  <a:pt x="0" y="0"/>
                </a:moveTo>
                <a:lnTo>
                  <a:pt x="3806571" y="0"/>
                </a:lnTo>
                <a:lnTo>
                  <a:pt x="3806571" y="2083233"/>
                </a:lnTo>
                <a:lnTo>
                  <a:pt x="0" y="208323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98173" y="3662924"/>
            <a:ext cx="10051613" cy="3110866"/>
          </a:xfrm>
          <a:prstGeom prst="rect">
            <a:avLst/>
          </a:prstGeom>
        </p:spPr>
        <p:txBody>
          <a:bodyPr anchor="t" rtlCol="false" tIns="0" lIns="0" bIns="0" rIns="0">
            <a:spAutoFit/>
          </a:bodyPr>
          <a:lstStyle/>
          <a:p>
            <a:pPr algn="ctr">
              <a:lnSpc>
                <a:spcPts val="8399"/>
              </a:lnSpc>
            </a:pPr>
            <a:r>
              <a:rPr lang="en-US" sz="5999" b="true">
                <a:solidFill>
                  <a:srgbClr val="000000"/>
                </a:solidFill>
                <a:latin typeface="Canva Sans Bold"/>
                <a:ea typeface="Canva Sans Bold"/>
                <a:cs typeface="Canva Sans Bold"/>
                <a:sym typeface="Canva Sans Bold"/>
              </a:rPr>
              <a:t>       </a:t>
            </a:r>
            <a:r>
              <a:rPr lang="en-US" sz="5999" b="true">
                <a:solidFill>
                  <a:srgbClr val="009245"/>
                </a:solidFill>
                <a:latin typeface="Canva Sans Bold"/>
                <a:ea typeface="Canva Sans Bold"/>
                <a:cs typeface="Canva Sans Bold"/>
                <a:sym typeface="Canva Sans Bold"/>
              </a:rPr>
              <a:t>IT SUPPORT SYSTEM</a:t>
            </a:r>
          </a:p>
          <a:p>
            <a:pPr algn="ctr">
              <a:lnSpc>
                <a:spcPts val="7839"/>
              </a:lnSpc>
            </a:pPr>
            <a:r>
              <a:rPr lang="en-US" sz="5599" b="true">
                <a:solidFill>
                  <a:srgbClr val="009245"/>
                </a:solidFill>
                <a:latin typeface="Canva Sans Bold"/>
                <a:ea typeface="Canva Sans Bold"/>
                <a:cs typeface="Canva Sans Bold"/>
                <a:sym typeface="Canva Sans Bold"/>
              </a:rPr>
              <a:t>&amp;</a:t>
            </a:r>
          </a:p>
          <a:p>
            <a:pPr algn="ctr">
              <a:lnSpc>
                <a:spcPts val="8819"/>
              </a:lnSpc>
            </a:pPr>
            <a:r>
              <a:rPr lang="en-US" sz="6299" b="true">
                <a:solidFill>
                  <a:srgbClr val="009245"/>
                </a:solidFill>
                <a:latin typeface="Canva Sans Bold"/>
                <a:ea typeface="Canva Sans Bold"/>
                <a:cs typeface="Canva Sans Bold"/>
                <a:sym typeface="Canva Sans Bold"/>
              </a:rPr>
              <a:t>        VIRTUAL ASSISTANCE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grpSp>
        <p:nvGrpSpPr>
          <p:cNvPr name="Group 2" id="2"/>
          <p:cNvGrpSpPr/>
          <p:nvPr/>
        </p:nvGrpSpPr>
        <p:grpSpPr>
          <a:xfrm rot="0">
            <a:off x="3927120" y="3815019"/>
            <a:ext cx="852864" cy="5457241"/>
            <a:chOff x="0" y="0"/>
            <a:chExt cx="224623" cy="1437298"/>
          </a:xfrm>
        </p:grpSpPr>
        <p:sp>
          <p:nvSpPr>
            <p:cNvPr name="Freeform 3" id="3"/>
            <p:cNvSpPr/>
            <p:nvPr/>
          </p:nvSpPr>
          <p:spPr>
            <a:xfrm flipH="false" flipV="false" rot="0">
              <a:off x="0" y="0"/>
              <a:ext cx="224623" cy="1437298"/>
            </a:xfrm>
            <a:custGeom>
              <a:avLst/>
              <a:gdLst/>
              <a:ahLst/>
              <a:cxnLst/>
              <a:rect r="r" b="b" t="t" l="l"/>
              <a:pathLst>
                <a:path h="1437298" w="224623">
                  <a:moveTo>
                    <a:pt x="112311" y="0"/>
                  </a:moveTo>
                  <a:lnTo>
                    <a:pt x="112311" y="0"/>
                  </a:lnTo>
                  <a:cubicBezTo>
                    <a:pt x="142098" y="0"/>
                    <a:pt x="170665" y="11833"/>
                    <a:pt x="191727" y="32895"/>
                  </a:cubicBezTo>
                  <a:cubicBezTo>
                    <a:pt x="212790" y="53958"/>
                    <a:pt x="224623" y="82525"/>
                    <a:pt x="224623" y="112311"/>
                  </a:cubicBezTo>
                  <a:lnTo>
                    <a:pt x="224623" y="1324987"/>
                  </a:lnTo>
                  <a:cubicBezTo>
                    <a:pt x="224623" y="1387015"/>
                    <a:pt x="174339" y="1437298"/>
                    <a:pt x="112311" y="1437298"/>
                  </a:cubicBezTo>
                  <a:lnTo>
                    <a:pt x="112311" y="1437298"/>
                  </a:lnTo>
                  <a:cubicBezTo>
                    <a:pt x="50283" y="1437298"/>
                    <a:pt x="0" y="1387015"/>
                    <a:pt x="0" y="1324987"/>
                  </a:cubicBezTo>
                  <a:lnTo>
                    <a:pt x="0" y="112311"/>
                  </a:lnTo>
                  <a:cubicBezTo>
                    <a:pt x="0" y="50283"/>
                    <a:pt x="50283" y="0"/>
                    <a:pt x="112311" y="0"/>
                  </a:cubicBezTo>
                  <a:close/>
                </a:path>
              </a:pathLst>
            </a:custGeom>
            <a:solidFill>
              <a:srgbClr val="1C5739"/>
            </a:solidFill>
            <a:ln cap="rnd">
              <a:noFill/>
              <a:prstDash val="solid"/>
              <a:round/>
            </a:ln>
          </p:spPr>
        </p:sp>
        <p:sp>
          <p:nvSpPr>
            <p:cNvPr name="TextBox 4" id="4"/>
            <p:cNvSpPr txBox="true"/>
            <p:nvPr/>
          </p:nvSpPr>
          <p:spPr>
            <a:xfrm>
              <a:off x="0" y="-123825"/>
              <a:ext cx="224623" cy="1561123"/>
            </a:xfrm>
            <a:prstGeom prst="rect">
              <a:avLst/>
            </a:prstGeom>
          </p:spPr>
          <p:txBody>
            <a:bodyPr anchor="ctr" rtlCol="false" tIns="0" lIns="0" bIns="0" rIns="0"/>
            <a:lstStyle/>
            <a:p>
              <a:pPr algn="ctr">
                <a:lnSpc>
                  <a:spcPts val="3981"/>
                </a:lnSpc>
              </a:pPr>
              <a:r>
                <a:rPr lang="en-US" b="true" sz="2199" spc="127">
                  <a:solidFill>
                    <a:srgbClr val="FDFBFB"/>
                  </a:solidFill>
                  <a:latin typeface="Open Sauce Bold"/>
                  <a:ea typeface="Open Sauce Bold"/>
                  <a:cs typeface="Open Sauce Bold"/>
                  <a:sym typeface="Open Sauce Bold"/>
                </a:rPr>
                <a:t>01</a:t>
              </a:r>
            </a:p>
            <a:p>
              <a:pPr algn="ctr">
                <a:lnSpc>
                  <a:spcPts val="3981"/>
                </a:lnSpc>
              </a:pPr>
              <a:r>
                <a:rPr lang="en-US" b="true" sz="2199" spc="127">
                  <a:solidFill>
                    <a:srgbClr val="FDFBFB"/>
                  </a:solidFill>
                  <a:latin typeface="Open Sauce Bold"/>
                  <a:ea typeface="Open Sauce Bold"/>
                  <a:cs typeface="Open Sauce Bold"/>
                  <a:sym typeface="Open Sauce Bold"/>
                </a:rPr>
                <a:t>02</a:t>
              </a:r>
            </a:p>
            <a:p>
              <a:pPr algn="ctr">
                <a:lnSpc>
                  <a:spcPts val="3981"/>
                </a:lnSpc>
              </a:pPr>
            </a:p>
            <a:p>
              <a:pPr algn="ctr">
                <a:lnSpc>
                  <a:spcPts val="3981"/>
                </a:lnSpc>
              </a:pPr>
              <a:r>
                <a:rPr lang="en-US" b="true" sz="2199" spc="127">
                  <a:solidFill>
                    <a:srgbClr val="FDFBFB"/>
                  </a:solidFill>
                  <a:latin typeface="Open Sauce Bold"/>
                  <a:ea typeface="Open Sauce Bold"/>
                  <a:cs typeface="Open Sauce Bold"/>
                  <a:sym typeface="Open Sauce Bold"/>
                </a:rPr>
                <a:t>03</a:t>
              </a:r>
            </a:p>
            <a:p>
              <a:pPr algn="ctr">
                <a:lnSpc>
                  <a:spcPts val="3981"/>
                </a:lnSpc>
              </a:pPr>
              <a:r>
                <a:rPr lang="en-US" b="true" sz="2199" spc="127">
                  <a:solidFill>
                    <a:srgbClr val="FDFBFB"/>
                  </a:solidFill>
                  <a:latin typeface="Open Sauce Bold"/>
                  <a:ea typeface="Open Sauce Bold"/>
                  <a:cs typeface="Open Sauce Bold"/>
                  <a:sym typeface="Open Sauce Bold"/>
                </a:rPr>
                <a:t>04</a:t>
              </a:r>
            </a:p>
            <a:p>
              <a:pPr algn="ctr">
                <a:lnSpc>
                  <a:spcPts val="3981"/>
                </a:lnSpc>
              </a:pPr>
              <a:r>
                <a:rPr lang="en-US" b="true" sz="2199" spc="127">
                  <a:solidFill>
                    <a:srgbClr val="FDFBFB"/>
                  </a:solidFill>
                  <a:latin typeface="Open Sauce Bold"/>
                  <a:ea typeface="Open Sauce Bold"/>
                  <a:cs typeface="Open Sauce Bold"/>
                  <a:sym typeface="Open Sauce Bold"/>
                </a:rPr>
                <a:t>05</a:t>
              </a:r>
            </a:p>
            <a:p>
              <a:pPr algn="ctr">
                <a:lnSpc>
                  <a:spcPts val="3981"/>
                </a:lnSpc>
              </a:pPr>
              <a:r>
                <a:rPr lang="en-US" b="true" sz="2199" spc="127">
                  <a:solidFill>
                    <a:srgbClr val="FDFBFB"/>
                  </a:solidFill>
                  <a:latin typeface="Open Sauce Bold"/>
                  <a:ea typeface="Open Sauce Bold"/>
                  <a:cs typeface="Open Sauce Bold"/>
                  <a:sym typeface="Open Sauce Bold"/>
                </a:rPr>
                <a:t>06</a:t>
              </a:r>
            </a:p>
            <a:p>
              <a:pPr algn="ctr" marL="0" indent="0" lvl="0">
                <a:lnSpc>
                  <a:spcPts val="3981"/>
                </a:lnSpc>
              </a:pPr>
              <a:r>
                <a:rPr lang="en-US" b="true" sz="2199" spc="127">
                  <a:solidFill>
                    <a:srgbClr val="FDFBFB"/>
                  </a:solidFill>
                  <a:latin typeface="Open Sauce Bold"/>
                  <a:ea typeface="Open Sauce Bold"/>
                  <a:cs typeface="Open Sauce Bold"/>
                  <a:sym typeface="Open Sauce Bold"/>
                </a:rPr>
                <a:t>07</a:t>
              </a:r>
            </a:p>
            <a:p>
              <a:pPr algn="ctr" marL="0" indent="0" lvl="0">
                <a:lnSpc>
                  <a:spcPts val="3981"/>
                </a:lnSpc>
              </a:pPr>
              <a:r>
                <a:rPr lang="en-US" b="true" sz="2199" spc="127" u="none">
                  <a:solidFill>
                    <a:srgbClr val="FDFBFB"/>
                  </a:solidFill>
                  <a:latin typeface="Open Sauce Bold"/>
                  <a:ea typeface="Open Sauce Bold"/>
                  <a:cs typeface="Open Sauce Bold"/>
                  <a:sym typeface="Open Sauce Bold"/>
                </a:rPr>
                <a:t>08</a:t>
              </a:r>
            </a:p>
            <a:p>
              <a:pPr algn="ctr" marL="0" indent="0" lvl="0">
                <a:lnSpc>
                  <a:spcPts val="3981"/>
                </a:lnSpc>
              </a:pPr>
            </a:p>
            <a:p>
              <a:pPr algn="ctr" marL="0" indent="0" lvl="0">
                <a:lnSpc>
                  <a:spcPts val="3981"/>
                </a:lnSpc>
              </a:pPr>
              <a:r>
                <a:rPr lang="en-US" b="true" sz="2199" spc="127" u="none">
                  <a:solidFill>
                    <a:srgbClr val="FDFBFB"/>
                  </a:solidFill>
                  <a:latin typeface="Open Sauce Bold"/>
                  <a:ea typeface="Open Sauce Bold"/>
                  <a:cs typeface="Open Sauce Bold"/>
                  <a:sym typeface="Open Sauce Bold"/>
                </a:rPr>
                <a:t>09</a:t>
              </a:r>
            </a:p>
          </p:txBody>
        </p:sp>
      </p:grpSp>
      <p:grpSp>
        <p:nvGrpSpPr>
          <p:cNvPr name="Group 5" id="5"/>
          <p:cNvGrpSpPr/>
          <p:nvPr/>
        </p:nvGrpSpPr>
        <p:grpSpPr>
          <a:xfrm rot="0">
            <a:off x="-1543050" y="-558218"/>
            <a:ext cx="3086100" cy="11299900"/>
            <a:chOff x="0" y="0"/>
            <a:chExt cx="812800" cy="2976105"/>
          </a:xfrm>
        </p:grpSpPr>
        <p:sp>
          <p:nvSpPr>
            <p:cNvPr name="Freeform 6" id="6"/>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C5739"/>
            </a:solidFill>
          </p:spPr>
        </p:sp>
        <p:sp>
          <p:nvSpPr>
            <p:cNvPr name="TextBox 7" id="7"/>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grpSp>
        <p:nvGrpSpPr>
          <p:cNvPr name="Group 8" id="8"/>
          <p:cNvGrpSpPr/>
          <p:nvPr/>
        </p:nvGrpSpPr>
        <p:grpSpPr>
          <a:xfrm rot="0">
            <a:off x="12193216" y="1415447"/>
            <a:ext cx="5408984" cy="7979428"/>
            <a:chOff x="0" y="0"/>
            <a:chExt cx="1424588" cy="2101578"/>
          </a:xfrm>
        </p:grpSpPr>
        <p:sp>
          <p:nvSpPr>
            <p:cNvPr name="Freeform 9" id="9"/>
            <p:cNvSpPr/>
            <p:nvPr/>
          </p:nvSpPr>
          <p:spPr>
            <a:xfrm flipH="false" flipV="false" rot="0">
              <a:off x="0" y="0"/>
              <a:ext cx="1424588" cy="2101578"/>
            </a:xfrm>
            <a:custGeom>
              <a:avLst/>
              <a:gdLst/>
              <a:ahLst/>
              <a:cxnLst/>
              <a:rect r="r" b="b" t="t" l="l"/>
              <a:pathLst>
                <a:path h="2101578" w="1424588">
                  <a:moveTo>
                    <a:pt x="0" y="0"/>
                  </a:moveTo>
                  <a:lnTo>
                    <a:pt x="1424588" y="0"/>
                  </a:lnTo>
                  <a:lnTo>
                    <a:pt x="1424588" y="2101578"/>
                  </a:lnTo>
                  <a:lnTo>
                    <a:pt x="0" y="2101578"/>
                  </a:lnTo>
                  <a:close/>
                </a:path>
              </a:pathLst>
            </a:custGeom>
            <a:solidFill>
              <a:srgbClr val="1C5739"/>
            </a:solidFill>
          </p:spPr>
        </p:sp>
        <p:sp>
          <p:nvSpPr>
            <p:cNvPr name="TextBox 10" id="10"/>
            <p:cNvSpPr txBox="true"/>
            <p:nvPr/>
          </p:nvSpPr>
          <p:spPr>
            <a:xfrm>
              <a:off x="0" y="-19050"/>
              <a:ext cx="1424588" cy="2120628"/>
            </a:xfrm>
            <a:prstGeom prst="rect">
              <a:avLst/>
            </a:prstGeom>
          </p:spPr>
          <p:txBody>
            <a:bodyPr anchor="ctr" rtlCol="false" tIns="50800" lIns="50800" bIns="50800" rIns="50800"/>
            <a:lstStyle/>
            <a:p>
              <a:pPr algn="ctr">
                <a:lnSpc>
                  <a:spcPts val="2859"/>
                </a:lnSpc>
              </a:pPr>
            </a:p>
          </p:txBody>
        </p:sp>
      </p:grpSp>
      <p:sp>
        <p:nvSpPr>
          <p:cNvPr name="Freeform 11" id="11"/>
          <p:cNvSpPr/>
          <p:nvPr/>
        </p:nvSpPr>
        <p:spPr>
          <a:xfrm flipH="false" flipV="false" rot="0">
            <a:off x="15698915" y="8697813"/>
            <a:ext cx="3806571" cy="2083232"/>
          </a:xfrm>
          <a:custGeom>
            <a:avLst/>
            <a:gdLst/>
            <a:ahLst/>
            <a:cxnLst/>
            <a:rect r="r" b="b" t="t" l="l"/>
            <a:pathLst>
              <a:path h="2083232" w="3806571">
                <a:moveTo>
                  <a:pt x="0" y="0"/>
                </a:moveTo>
                <a:lnTo>
                  <a:pt x="3806570" y="0"/>
                </a:lnTo>
                <a:lnTo>
                  <a:pt x="3806570" y="2083232"/>
                </a:lnTo>
                <a:lnTo>
                  <a:pt x="0" y="2083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1772900" y="1028700"/>
            <a:ext cx="5486400" cy="7980897"/>
          </a:xfrm>
          <a:custGeom>
            <a:avLst/>
            <a:gdLst/>
            <a:ahLst/>
            <a:cxnLst/>
            <a:rect r="r" b="b" t="t" l="l"/>
            <a:pathLst>
              <a:path h="7980897" w="5486400">
                <a:moveTo>
                  <a:pt x="0" y="0"/>
                </a:moveTo>
                <a:lnTo>
                  <a:pt x="5486400" y="0"/>
                </a:lnTo>
                <a:lnTo>
                  <a:pt x="5486400" y="7980897"/>
                </a:lnTo>
                <a:lnTo>
                  <a:pt x="0" y="7980897"/>
                </a:lnTo>
                <a:lnTo>
                  <a:pt x="0" y="0"/>
                </a:lnTo>
                <a:close/>
              </a:path>
            </a:pathLst>
          </a:custGeom>
          <a:blipFill>
            <a:blip r:embed="rId4"/>
            <a:stretch>
              <a:fillRect l="0" t="0" r="0" b="-3116"/>
            </a:stretch>
          </a:blipFill>
        </p:spPr>
      </p:sp>
      <p:sp>
        <p:nvSpPr>
          <p:cNvPr name="TextBox 13" id="13"/>
          <p:cNvSpPr txBox="true"/>
          <p:nvPr/>
        </p:nvSpPr>
        <p:spPr>
          <a:xfrm rot="0">
            <a:off x="3657735" y="1556697"/>
            <a:ext cx="5661991" cy="1401272"/>
          </a:xfrm>
          <a:prstGeom prst="rect">
            <a:avLst/>
          </a:prstGeom>
        </p:spPr>
        <p:txBody>
          <a:bodyPr anchor="t" rtlCol="false" tIns="0" lIns="0" bIns="0" rIns="0">
            <a:spAutoFit/>
          </a:bodyPr>
          <a:lstStyle/>
          <a:p>
            <a:pPr algn="l">
              <a:lnSpc>
                <a:spcPts val="10858"/>
              </a:lnSpc>
            </a:pPr>
            <a:r>
              <a:rPr lang="en-US" sz="7868" spc="771">
                <a:solidFill>
                  <a:srgbClr val="231F20"/>
                </a:solidFill>
                <a:latin typeface="Poppins"/>
                <a:ea typeface="Poppins"/>
                <a:cs typeface="Poppins"/>
                <a:sym typeface="Poppins"/>
              </a:rPr>
              <a:t>Content</a:t>
            </a:r>
          </a:p>
        </p:txBody>
      </p:sp>
      <p:sp>
        <p:nvSpPr>
          <p:cNvPr name="TextBox 14" id="14"/>
          <p:cNvSpPr txBox="true"/>
          <p:nvPr/>
        </p:nvSpPr>
        <p:spPr>
          <a:xfrm rot="0">
            <a:off x="4912727" y="3691194"/>
            <a:ext cx="2864642" cy="8030591"/>
          </a:xfrm>
          <a:prstGeom prst="rect">
            <a:avLst/>
          </a:prstGeom>
        </p:spPr>
        <p:txBody>
          <a:bodyPr anchor="t" rtlCol="false" tIns="0" lIns="0" bIns="0" rIns="0">
            <a:spAutoFit/>
          </a:bodyPr>
          <a:lstStyle/>
          <a:p>
            <a:pPr algn="l">
              <a:lnSpc>
                <a:spcPts val="3981"/>
              </a:lnSpc>
            </a:pPr>
            <a:r>
              <a:rPr lang="en-US" sz="2199" spc="127">
                <a:solidFill>
                  <a:srgbClr val="231F20"/>
                </a:solidFill>
                <a:latin typeface="Open Sauce"/>
                <a:ea typeface="Open Sauce"/>
                <a:cs typeface="Open Sauce"/>
                <a:sym typeface="Open Sauce"/>
              </a:rPr>
              <a:t>INTRODUCTIONWWORKING PRINCIPLE</a:t>
            </a:r>
          </a:p>
          <a:p>
            <a:pPr algn="l">
              <a:lnSpc>
                <a:spcPts val="3981"/>
              </a:lnSpc>
            </a:pPr>
            <a:r>
              <a:rPr lang="en-US" sz="2199" spc="127">
                <a:solidFill>
                  <a:srgbClr val="231F20"/>
                </a:solidFill>
                <a:latin typeface="Open Sauce"/>
                <a:ea typeface="Open Sauce"/>
                <a:cs typeface="Open Sauce"/>
                <a:sym typeface="Open Sauce"/>
              </a:rPr>
              <a:t>DESIGNING</a:t>
            </a:r>
          </a:p>
          <a:p>
            <a:pPr algn="l">
              <a:lnSpc>
                <a:spcPts val="3981"/>
              </a:lnSpc>
            </a:pPr>
            <a:r>
              <a:rPr lang="en-US" sz="2199" spc="127">
                <a:solidFill>
                  <a:srgbClr val="231F20"/>
                </a:solidFill>
                <a:latin typeface="Open Sauce"/>
                <a:ea typeface="Open Sauce"/>
                <a:cs typeface="Open Sauce"/>
                <a:sym typeface="Open Sauce"/>
              </a:rPr>
              <a:t>FLOW CHART</a:t>
            </a:r>
          </a:p>
          <a:p>
            <a:pPr algn="l">
              <a:lnSpc>
                <a:spcPts val="3981"/>
              </a:lnSpc>
            </a:pPr>
            <a:r>
              <a:rPr lang="en-US" sz="2199" spc="127">
                <a:solidFill>
                  <a:srgbClr val="231F20"/>
                </a:solidFill>
                <a:latin typeface="Open Sauce"/>
                <a:ea typeface="Open Sauce"/>
                <a:cs typeface="Open Sauce"/>
                <a:sym typeface="Open Sauce"/>
              </a:rPr>
              <a:t>ER- DIAGRAM</a:t>
            </a:r>
          </a:p>
          <a:p>
            <a:pPr algn="l">
              <a:lnSpc>
                <a:spcPts val="3981"/>
              </a:lnSpc>
            </a:pPr>
            <a:r>
              <a:rPr lang="en-US" sz="2199" spc="127">
                <a:solidFill>
                  <a:srgbClr val="231F20"/>
                </a:solidFill>
                <a:latin typeface="Open Sauce"/>
                <a:ea typeface="Open Sauce"/>
                <a:cs typeface="Open Sauce"/>
                <a:sym typeface="Open Sauce"/>
              </a:rPr>
              <a:t>IMPLEMENTATION</a:t>
            </a:r>
          </a:p>
          <a:p>
            <a:pPr algn="l">
              <a:lnSpc>
                <a:spcPts val="3981"/>
              </a:lnSpc>
            </a:pPr>
            <a:r>
              <a:rPr lang="en-US" sz="2199" spc="127">
                <a:solidFill>
                  <a:srgbClr val="231F20"/>
                </a:solidFill>
                <a:latin typeface="Open Sauce"/>
                <a:ea typeface="Open Sauce"/>
                <a:cs typeface="Open Sauce"/>
                <a:sym typeface="Open Sauce"/>
              </a:rPr>
              <a:t>CODING</a:t>
            </a:r>
          </a:p>
          <a:p>
            <a:pPr algn="l">
              <a:lnSpc>
                <a:spcPts val="3981"/>
              </a:lnSpc>
            </a:pPr>
            <a:r>
              <a:rPr lang="en-US" sz="2199" spc="127">
                <a:solidFill>
                  <a:srgbClr val="231F20"/>
                </a:solidFill>
                <a:latin typeface="Open Sauce"/>
                <a:ea typeface="Open Sauce"/>
                <a:cs typeface="Open Sauce"/>
                <a:sym typeface="Open Sauce"/>
              </a:rPr>
              <a:t>FUTURE DEVELOPMENT</a:t>
            </a:r>
          </a:p>
          <a:p>
            <a:pPr algn="l">
              <a:lnSpc>
                <a:spcPts val="3981"/>
              </a:lnSpc>
            </a:pPr>
            <a:r>
              <a:rPr lang="en-US" sz="2199" spc="127">
                <a:solidFill>
                  <a:srgbClr val="231F20"/>
                </a:solidFill>
                <a:latin typeface="Open Sauce"/>
                <a:ea typeface="Open Sauce"/>
                <a:cs typeface="Open Sauce"/>
                <a:sym typeface="Open Sauce"/>
              </a:rPr>
              <a:t>CONCLUSION</a:t>
            </a:r>
          </a:p>
          <a:p>
            <a:pPr algn="l">
              <a:lnSpc>
                <a:spcPts val="3981"/>
              </a:lnSpc>
            </a:pPr>
          </a:p>
          <a:p>
            <a:pPr algn="l">
              <a:lnSpc>
                <a:spcPts val="3981"/>
              </a:lnSpc>
            </a:pPr>
          </a:p>
          <a:p>
            <a:pPr algn="l">
              <a:lnSpc>
                <a:spcPts val="3981"/>
              </a:lnSpc>
            </a:pPr>
          </a:p>
          <a:p>
            <a:pPr algn="l">
              <a:lnSpc>
                <a:spcPts val="3981"/>
              </a:lnSpc>
            </a:pPr>
          </a:p>
          <a:p>
            <a:pPr algn="l">
              <a:lnSpc>
                <a:spcPts val="3981"/>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grpSp>
        <p:nvGrpSpPr>
          <p:cNvPr name="Group 2" id="2"/>
          <p:cNvGrpSpPr/>
          <p:nvPr/>
        </p:nvGrpSpPr>
        <p:grpSpPr>
          <a:xfrm rot="0">
            <a:off x="-2262642" y="-3904566"/>
            <a:ext cx="8637895" cy="863789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5739"/>
            </a:solidFill>
            <a:ln cap="sq">
              <a:noFill/>
              <a:prstDash val="solid"/>
              <a:miter/>
            </a:ln>
          </p:spPr>
        </p:sp>
        <p:sp>
          <p:nvSpPr>
            <p:cNvPr name="TextBox 4" id="4"/>
            <p:cNvSpPr txBox="true"/>
            <p:nvPr/>
          </p:nvSpPr>
          <p:spPr>
            <a:xfrm>
              <a:off x="76200" y="57150"/>
              <a:ext cx="660400" cy="679450"/>
            </a:xfrm>
            <a:prstGeom prst="rect">
              <a:avLst/>
            </a:prstGeom>
          </p:spPr>
          <p:txBody>
            <a:bodyPr anchor="ctr" rtlCol="false" tIns="50800" lIns="50800" bIns="50800" rIns="50800"/>
            <a:lstStyle/>
            <a:p>
              <a:pPr algn="ctr" marL="0" indent="0" lvl="0">
                <a:lnSpc>
                  <a:spcPts val="2340"/>
                </a:lnSpc>
                <a:spcBef>
                  <a:spcPct val="0"/>
                </a:spcBef>
              </a:pPr>
            </a:p>
          </p:txBody>
        </p:sp>
      </p:grpSp>
      <p:sp>
        <p:nvSpPr>
          <p:cNvPr name="Freeform 5" id="5"/>
          <p:cNvSpPr/>
          <p:nvPr/>
        </p:nvSpPr>
        <p:spPr>
          <a:xfrm flipH="false" flipV="false" rot="0">
            <a:off x="8747792" y="1741356"/>
            <a:ext cx="847584" cy="1009028"/>
          </a:xfrm>
          <a:custGeom>
            <a:avLst/>
            <a:gdLst/>
            <a:ahLst/>
            <a:cxnLst/>
            <a:rect r="r" b="b" t="t" l="l"/>
            <a:pathLst>
              <a:path h="1009028" w="847584">
                <a:moveTo>
                  <a:pt x="0" y="0"/>
                </a:moveTo>
                <a:lnTo>
                  <a:pt x="847584" y="0"/>
                </a:lnTo>
                <a:lnTo>
                  <a:pt x="847584" y="1009028"/>
                </a:lnTo>
                <a:lnTo>
                  <a:pt x="0" y="10090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889965" y="3595131"/>
            <a:ext cx="976021" cy="1071481"/>
          </a:xfrm>
          <a:custGeom>
            <a:avLst/>
            <a:gdLst/>
            <a:ahLst/>
            <a:cxnLst/>
            <a:rect r="r" b="b" t="t" l="l"/>
            <a:pathLst>
              <a:path h="1071481" w="976021">
                <a:moveTo>
                  <a:pt x="0" y="0"/>
                </a:moveTo>
                <a:lnTo>
                  <a:pt x="976021" y="0"/>
                </a:lnTo>
                <a:lnTo>
                  <a:pt x="976021" y="1071480"/>
                </a:lnTo>
                <a:lnTo>
                  <a:pt x="0" y="10714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9713584" y="1675054"/>
            <a:ext cx="3636065" cy="1236429"/>
          </a:xfrm>
          <a:prstGeom prst="rect">
            <a:avLst/>
          </a:prstGeom>
        </p:spPr>
        <p:txBody>
          <a:bodyPr anchor="t" rtlCol="false" tIns="0" lIns="0" bIns="0" rIns="0">
            <a:spAutoFit/>
          </a:bodyPr>
          <a:lstStyle/>
          <a:p>
            <a:pPr algn="l" marL="0" indent="0" lvl="0">
              <a:lnSpc>
                <a:spcPts val="2012"/>
              </a:lnSpc>
              <a:spcBef>
                <a:spcPct val="0"/>
              </a:spcBef>
            </a:pPr>
            <a:r>
              <a:rPr lang="en-US" sz="1458" spc="142">
                <a:solidFill>
                  <a:srgbClr val="FFFFFF"/>
                </a:solidFill>
                <a:latin typeface="Open Sauce"/>
                <a:ea typeface="Open Sauce"/>
                <a:cs typeface="Open Sauce"/>
                <a:sym typeface="Open Sauce"/>
              </a:rPr>
              <a:t>Lorem ipsum dolor sit amet, consectetur adipiscing elit. Duis vulputate nulla at ante rhoncus, vel efficitur felis condimentum. Proin odio odio.</a:t>
            </a:r>
          </a:p>
        </p:txBody>
      </p:sp>
      <p:sp>
        <p:nvSpPr>
          <p:cNvPr name="TextBox 8" id="8"/>
          <p:cNvSpPr txBox="true"/>
          <p:nvPr/>
        </p:nvSpPr>
        <p:spPr>
          <a:xfrm rot="0">
            <a:off x="6152292" y="7672064"/>
            <a:ext cx="3636065" cy="1233489"/>
          </a:xfrm>
          <a:prstGeom prst="rect">
            <a:avLst/>
          </a:prstGeom>
        </p:spPr>
        <p:txBody>
          <a:bodyPr anchor="t" rtlCol="false" tIns="0" lIns="0" bIns="0" rIns="0">
            <a:spAutoFit/>
          </a:bodyPr>
          <a:lstStyle/>
          <a:p>
            <a:pPr algn="r" marL="0" indent="0" lvl="0">
              <a:lnSpc>
                <a:spcPts val="2012"/>
              </a:lnSpc>
              <a:spcBef>
                <a:spcPct val="0"/>
              </a:spcBef>
            </a:pPr>
            <a:r>
              <a:rPr lang="en-US" sz="1458" spc="142">
                <a:solidFill>
                  <a:srgbClr val="FFFFFF"/>
                </a:solidFill>
                <a:latin typeface="Open Sauce"/>
                <a:ea typeface="Open Sauce"/>
                <a:cs typeface="Open Sauce"/>
                <a:sym typeface="Open Sauce"/>
              </a:rPr>
              <a:t>Lorem ipsum dolor sit amet, consectetur adipiscing elit. Duis vulputate nulla at ante rhoncus, vel efficitur felis condimentum. Proin odio odio.</a:t>
            </a:r>
          </a:p>
        </p:txBody>
      </p:sp>
      <p:sp>
        <p:nvSpPr>
          <p:cNvPr name="TextBox 9" id="9"/>
          <p:cNvSpPr txBox="true"/>
          <p:nvPr/>
        </p:nvSpPr>
        <p:spPr>
          <a:xfrm rot="0">
            <a:off x="536300" y="673538"/>
            <a:ext cx="5181600" cy="887095"/>
          </a:xfrm>
          <a:prstGeom prst="rect">
            <a:avLst/>
          </a:prstGeom>
        </p:spPr>
        <p:txBody>
          <a:bodyPr anchor="t" rtlCol="false" tIns="0" lIns="0" bIns="0" rIns="0">
            <a:spAutoFit/>
          </a:bodyPr>
          <a:lstStyle/>
          <a:p>
            <a:pPr algn="ctr">
              <a:lnSpc>
                <a:spcPts val="7279"/>
              </a:lnSpc>
            </a:pPr>
            <a:r>
              <a:rPr lang="en-US" sz="5199" b="true">
                <a:solidFill>
                  <a:srgbClr val="F2F2F2"/>
                </a:solidFill>
                <a:latin typeface="Canva Sans Bold"/>
                <a:ea typeface="Canva Sans Bold"/>
                <a:cs typeface="Canva Sans Bold"/>
                <a:sym typeface="Canva Sans Bold"/>
              </a:rPr>
              <a:t>INTRODUCTION</a:t>
            </a:r>
          </a:p>
        </p:txBody>
      </p:sp>
      <p:sp>
        <p:nvSpPr>
          <p:cNvPr name="TextBox 10" id="10"/>
          <p:cNvSpPr txBox="true"/>
          <p:nvPr/>
        </p:nvSpPr>
        <p:spPr>
          <a:xfrm rot="0">
            <a:off x="233419" y="4838103"/>
            <a:ext cx="17821163" cy="5441426"/>
          </a:xfrm>
          <a:prstGeom prst="rect">
            <a:avLst/>
          </a:prstGeom>
        </p:spPr>
        <p:txBody>
          <a:bodyPr anchor="t" rtlCol="false" tIns="0" lIns="0" bIns="0" rIns="0">
            <a:spAutoFit/>
          </a:bodyPr>
          <a:lstStyle/>
          <a:p>
            <a:pPr algn="just">
              <a:lnSpc>
                <a:spcPts val="3181"/>
              </a:lnSpc>
            </a:pPr>
            <a:r>
              <a:rPr lang="en-US" sz="2272">
                <a:solidFill>
                  <a:srgbClr val="000000"/>
                </a:solidFill>
                <a:latin typeface="Canva Sans"/>
                <a:ea typeface="Canva Sans"/>
                <a:cs typeface="Canva Sans"/>
                <a:sym typeface="Canva Sans"/>
              </a:rPr>
              <a:t>"Empowering Seamless Support: Introducing Our Advanced IT Support System"</a:t>
            </a:r>
          </a:p>
          <a:p>
            <a:pPr algn="just">
              <a:lnSpc>
                <a:spcPts val="3295"/>
              </a:lnSpc>
            </a:pPr>
          </a:p>
          <a:p>
            <a:pPr algn="just">
              <a:lnSpc>
                <a:spcPts val="3295"/>
              </a:lnSpc>
            </a:pPr>
            <a:r>
              <a:rPr lang="en-US" sz="2354">
                <a:solidFill>
                  <a:srgbClr val="000000"/>
                </a:solidFill>
                <a:latin typeface="Canva Sans"/>
                <a:ea typeface="Canva Sans"/>
                <a:cs typeface="Canva Sans"/>
                <a:sym typeface="Canva Sans"/>
              </a:rPr>
              <a:t>Revolutionize your IT support experience with our cutting-edge platform, designed to bridge the gap between users and IT teams. Our system combines the efficiency of AI-powered virtual assistance with the expertise of human IT professionals to deliver prompt, personalized, and effective solutions.</a:t>
            </a:r>
          </a:p>
          <a:p>
            <a:pPr algn="just">
              <a:lnSpc>
                <a:spcPts val="3295"/>
              </a:lnSpc>
            </a:pPr>
          </a:p>
          <a:p>
            <a:pPr algn="just">
              <a:lnSpc>
                <a:spcPts val="3295"/>
              </a:lnSpc>
            </a:pPr>
            <a:r>
              <a:rPr lang="en-US" sz="2354">
                <a:solidFill>
                  <a:srgbClr val="000000"/>
                </a:solidFill>
                <a:latin typeface="Canva Sans"/>
                <a:ea typeface="Canva Sans"/>
                <a:cs typeface="Canva Sans"/>
                <a:sym typeface="Canva Sans"/>
              </a:rPr>
              <a:t>"Resolve Issues Faster. Enhance Productivity. Elevate User Experience."</a:t>
            </a:r>
          </a:p>
          <a:p>
            <a:pPr algn="just">
              <a:lnSpc>
                <a:spcPts val="3295"/>
              </a:lnSpc>
            </a:pPr>
          </a:p>
          <a:p>
            <a:pPr algn="just">
              <a:lnSpc>
                <a:spcPts val="3295"/>
              </a:lnSpc>
            </a:pPr>
            <a:r>
              <a:rPr lang="en-US" sz="2354">
                <a:solidFill>
                  <a:srgbClr val="000000"/>
                </a:solidFill>
                <a:latin typeface="Canva Sans"/>
                <a:ea typeface="Canva Sans"/>
                <a:cs typeface="Canva Sans"/>
                <a:sym typeface="Canva Sans"/>
              </a:rPr>
              <a:t>With our platform, users can effortlessly submit complaints or issues, track progress in real-time, and receive point-wise solutions from our dedicated IT team. Our AI-driven virtual assistant provides instant support, guidance, and answers to common questions, ensuring a seamless experience.</a:t>
            </a:r>
          </a:p>
          <a:p>
            <a:pPr algn="ctr">
              <a:lnSpc>
                <a:spcPts val="3875"/>
              </a:lnSpc>
            </a:pPr>
          </a:p>
          <a:p>
            <a:pPr algn="ctr">
              <a:lnSpc>
                <a:spcPts val="3875"/>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grpSp>
        <p:nvGrpSpPr>
          <p:cNvPr name="Group 2" id="2"/>
          <p:cNvGrpSpPr/>
          <p:nvPr/>
        </p:nvGrpSpPr>
        <p:grpSpPr>
          <a:xfrm rot="0">
            <a:off x="9490015" y="387203"/>
            <a:ext cx="2223718" cy="2218402"/>
            <a:chOff x="0" y="0"/>
            <a:chExt cx="2409120" cy="2403360"/>
          </a:xfrm>
        </p:grpSpPr>
        <p:sp>
          <p:nvSpPr>
            <p:cNvPr name="Freeform 3" id="3"/>
            <p:cNvSpPr/>
            <p:nvPr/>
          </p:nvSpPr>
          <p:spPr>
            <a:xfrm flipH="false" flipV="false" rot="0">
              <a:off x="0" y="0"/>
              <a:ext cx="2409190" cy="2403348"/>
            </a:xfrm>
            <a:custGeom>
              <a:avLst/>
              <a:gdLst/>
              <a:ahLst/>
              <a:cxnLst/>
              <a:rect r="r" b="b" t="t" l="l"/>
              <a:pathLst>
                <a:path h="2403348" w="2409190">
                  <a:moveTo>
                    <a:pt x="0" y="1201674"/>
                  </a:moveTo>
                  <a:cubicBezTo>
                    <a:pt x="0" y="537972"/>
                    <a:pt x="539242" y="0"/>
                    <a:pt x="1204595" y="0"/>
                  </a:cubicBezTo>
                  <a:cubicBezTo>
                    <a:pt x="1869948" y="0"/>
                    <a:pt x="2409190" y="537972"/>
                    <a:pt x="2409190" y="1201674"/>
                  </a:cubicBezTo>
                  <a:cubicBezTo>
                    <a:pt x="2409190" y="1865376"/>
                    <a:pt x="1869948" y="2403348"/>
                    <a:pt x="1204595" y="2403348"/>
                  </a:cubicBezTo>
                  <a:cubicBezTo>
                    <a:pt x="539242" y="2403348"/>
                    <a:pt x="0" y="1865376"/>
                    <a:pt x="0" y="1201674"/>
                  </a:cubicBezTo>
                  <a:close/>
                </a:path>
              </a:pathLst>
            </a:custGeom>
            <a:solidFill>
              <a:srgbClr val="397D5A"/>
            </a:solidFill>
          </p:spPr>
        </p:sp>
      </p:grpSp>
      <p:sp>
        <p:nvSpPr>
          <p:cNvPr name="Freeform 4" id="4"/>
          <p:cNvSpPr/>
          <p:nvPr/>
        </p:nvSpPr>
        <p:spPr>
          <a:xfrm flipH="false" flipV="false" rot="0">
            <a:off x="9857356" y="1000561"/>
            <a:ext cx="1489037" cy="1302230"/>
          </a:xfrm>
          <a:custGeom>
            <a:avLst/>
            <a:gdLst/>
            <a:ahLst/>
            <a:cxnLst/>
            <a:rect r="r" b="b" t="t" l="l"/>
            <a:pathLst>
              <a:path h="1302230" w="1489037">
                <a:moveTo>
                  <a:pt x="0" y="0"/>
                </a:moveTo>
                <a:lnTo>
                  <a:pt x="1489037" y="0"/>
                </a:lnTo>
                <a:lnTo>
                  <a:pt x="1489037" y="1302230"/>
                </a:lnTo>
                <a:lnTo>
                  <a:pt x="0" y="13022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398008" y="2676676"/>
            <a:ext cx="1498866" cy="1205944"/>
          </a:xfrm>
          <a:custGeom>
            <a:avLst/>
            <a:gdLst/>
            <a:ahLst/>
            <a:cxnLst/>
            <a:rect r="r" b="b" t="t" l="l"/>
            <a:pathLst>
              <a:path h="1205944" w="1498866">
                <a:moveTo>
                  <a:pt x="0" y="0"/>
                </a:moveTo>
                <a:lnTo>
                  <a:pt x="1498866" y="0"/>
                </a:lnTo>
                <a:lnTo>
                  <a:pt x="1498866" y="1205944"/>
                </a:lnTo>
                <a:lnTo>
                  <a:pt x="0" y="12059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6987774" y="2605605"/>
            <a:ext cx="1408888" cy="1280807"/>
          </a:xfrm>
          <a:custGeom>
            <a:avLst/>
            <a:gdLst/>
            <a:ahLst/>
            <a:cxnLst/>
            <a:rect r="r" b="b" t="t" l="l"/>
            <a:pathLst>
              <a:path h="1280807" w="1408888">
                <a:moveTo>
                  <a:pt x="0" y="0"/>
                </a:moveTo>
                <a:lnTo>
                  <a:pt x="1408888" y="0"/>
                </a:lnTo>
                <a:lnTo>
                  <a:pt x="1408888" y="1280807"/>
                </a:lnTo>
                <a:lnTo>
                  <a:pt x="0" y="12808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6927575" y="7587964"/>
            <a:ext cx="1469087" cy="1268924"/>
          </a:xfrm>
          <a:custGeom>
            <a:avLst/>
            <a:gdLst/>
            <a:ahLst/>
            <a:cxnLst/>
            <a:rect r="r" b="b" t="t" l="l"/>
            <a:pathLst>
              <a:path h="1268924" w="1469087">
                <a:moveTo>
                  <a:pt x="0" y="0"/>
                </a:moveTo>
                <a:lnTo>
                  <a:pt x="1469087" y="0"/>
                </a:lnTo>
                <a:lnTo>
                  <a:pt x="1469087" y="1268924"/>
                </a:lnTo>
                <a:lnTo>
                  <a:pt x="0" y="126892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322124" y="7754894"/>
            <a:ext cx="4118443" cy="3654183"/>
          </a:xfrm>
          <a:custGeom>
            <a:avLst/>
            <a:gdLst/>
            <a:ahLst/>
            <a:cxnLst/>
            <a:rect r="r" b="b" t="t" l="l"/>
            <a:pathLst>
              <a:path h="3654183" w="4118443">
                <a:moveTo>
                  <a:pt x="0" y="0"/>
                </a:moveTo>
                <a:lnTo>
                  <a:pt x="4118443" y="0"/>
                </a:lnTo>
                <a:lnTo>
                  <a:pt x="4118443" y="3654183"/>
                </a:lnTo>
                <a:lnTo>
                  <a:pt x="0" y="365418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true" flipV="true" rot="0">
            <a:off x="-2059222" y="-798391"/>
            <a:ext cx="4118443" cy="3654183"/>
          </a:xfrm>
          <a:custGeom>
            <a:avLst/>
            <a:gdLst/>
            <a:ahLst/>
            <a:cxnLst/>
            <a:rect r="r" b="b" t="t" l="l"/>
            <a:pathLst>
              <a:path h="3654183" w="4118443">
                <a:moveTo>
                  <a:pt x="4118444" y="3654182"/>
                </a:moveTo>
                <a:lnTo>
                  <a:pt x="0" y="3654182"/>
                </a:lnTo>
                <a:lnTo>
                  <a:pt x="0" y="0"/>
                </a:lnTo>
                <a:lnTo>
                  <a:pt x="4118444" y="0"/>
                </a:lnTo>
                <a:lnTo>
                  <a:pt x="4118444" y="3654182"/>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1345555" y="1415696"/>
            <a:ext cx="6886933" cy="887095"/>
          </a:xfrm>
          <a:prstGeom prst="rect">
            <a:avLst/>
          </a:prstGeom>
        </p:spPr>
        <p:txBody>
          <a:bodyPr anchor="t" rtlCol="false" tIns="0" lIns="0" bIns="0" rIns="0">
            <a:spAutoFit/>
          </a:bodyPr>
          <a:lstStyle/>
          <a:p>
            <a:pPr algn="ctr">
              <a:lnSpc>
                <a:spcPts val="7279"/>
              </a:lnSpc>
            </a:pPr>
            <a:r>
              <a:rPr lang="en-US" sz="5199" b="true">
                <a:solidFill>
                  <a:srgbClr val="1C5739"/>
                </a:solidFill>
                <a:latin typeface="Canva Sans Bold"/>
                <a:ea typeface="Canva Sans Bold"/>
                <a:cs typeface="Canva Sans Bold"/>
                <a:sym typeface="Canva Sans Bold"/>
              </a:rPr>
              <a:t>WORKING PRINCIPLE</a:t>
            </a:r>
          </a:p>
        </p:txBody>
      </p:sp>
      <p:sp>
        <p:nvSpPr>
          <p:cNvPr name="TextBox 11" id="11"/>
          <p:cNvSpPr txBox="true"/>
          <p:nvPr/>
        </p:nvSpPr>
        <p:spPr>
          <a:xfrm rot="0">
            <a:off x="226770" y="2557980"/>
            <a:ext cx="17541037" cy="7113270"/>
          </a:xfrm>
          <a:prstGeom prst="rect">
            <a:avLst/>
          </a:prstGeom>
        </p:spPr>
        <p:txBody>
          <a:bodyPr anchor="t" rtlCol="false" tIns="0" lIns="0" bIns="0" rIns="0">
            <a:spAutoFit/>
          </a:bodyPr>
          <a:lstStyle/>
          <a:p>
            <a:pPr algn="just">
              <a:lnSpc>
                <a:spcPts val="2800"/>
              </a:lnSpc>
            </a:pPr>
            <a:r>
              <a:rPr lang="en-US" sz="2000">
                <a:solidFill>
                  <a:srgbClr val="1C5739"/>
                </a:solidFill>
                <a:latin typeface="Canva Sans"/>
                <a:ea typeface="Canva Sans"/>
                <a:cs typeface="Canva Sans"/>
                <a:sym typeface="Canva Sans"/>
              </a:rPr>
              <a:t>Our IT support system operates on a powerful synergy of AI-driven automation and human expertise, ensuring efficient issue resolution and exceptional user experience. Here's how it works:</a:t>
            </a:r>
          </a:p>
          <a:p>
            <a:pPr algn="just">
              <a:lnSpc>
                <a:spcPts val="1820"/>
              </a:lnSpc>
            </a:pPr>
          </a:p>
          <a:p>
            <a:pPr algn="just">
              <a:lnSpc>
                <a:spcPts val="2660"/>
              </a:lnSpc>
            </a:pPr>
            <a:r>
              <a:rPr lang="en-US" sz="1900">
                <a:solidFill>
                  <a:srgbClr val="1C5739"/>
                </a:solidFill>
                <a:latin typeface="Canva Sans"/>
                <a:ea typeface="Canva Sans"/>
                <a:cs typeface="Canva Sans"/>
                <a:sym typeface="Canva Sans"/>
              </a:rPr>
              <a:t>Step 1: User Submission</a:t>
            </a:r>
          </a:p>
          <a:p>
            <a:pPr algn="just">
              <a:lnSpc>
                <a:spcPts val="2660"/>
              </a:lnSpc>
            </a:pPr>
            <a:r>
              <a:rPr lang="en-US" sz="1900">
                <a:solidFill>
                  <a:srgbClr val="1C5739"/>
                </a:solidFill>
                <a:latin typeface="Canva Sans"/>
                <a:ea typeface="Canva Sans"/>
                <a:cs typeface="Canva Sans"/>
                <a:sym typeface="Canva Sans"/>
              </a:rPr>
              <a:t>Users submit their complaints or issues through our intuitive interface, which are then categorized and prioritized by our AI system.</a:t>
            </a:r>
          </a:p>
          <a:p>
            <a:pPr algn="just">
              <a:lnSpc>
                <a:spcPts val="2800"/>
              </a:lnSpc>
            </a:pPr>
            <a:r>
              <a:rPr lang="en-US" sz="2000">
                <a:solidFill>
                  <a:srgbClr val="1C5739"/>
                </a:solidFill>
                <a:latin typeface="Canva Sans"/>
                <a:ea typeface="Canva Sans"/>
                <a:cs typeface="Canva Sans"/>
                <a:sym typeface="Canva Sans"/>
              </a:rPr>
              <a:t>Step 2: AI-Powered Triage</a:t>
            </a:r>
          </a:p>
          <a:p>
            <a:pPr algn="just">
              <a:lnSpc>
                <a:spcPts val="2800"/>
              </a:lnSpc>
            </a:pPr>
            <a:r>
              <a:rPr lang="en-US" sz="2000">
                <a:solidFill>
                  <a:srgbClr val="1C5739"/>
                </a:solidFill>
                <a:latin typeface="Canva Sans"/>
                <a:ea typeface="Canva Sans"/>
                <a:cs typeface="Canva Sans"/>
                <a:sym typeface="Canva Sans"/>
              </a:rPr>
              <a:t>Our AI engine analyzes the issue and provides an instant response if it's a common problem. If not, the issue is escalated to our IT team.</a:t>
            </a:r>
          </a:p>
          <a:p>
            <a:pPr algn="just">
              <a:lnSpc>
                <a:spcPts val="2800"/>
              </a:lnSpc>
            </a:pPr>
            <a:r>
              <a:rPr lang="en-US" sz="2000">
                <a:solidFill>
                  <a:srgbClr val="1C5739"/>
                </a:solidFill>
                <a:latin typeface="Canva Sans"/>
                <a:ea typeface="Canva Sans"/>
                <a:cs typeface="Canva Sans"/>
                <a:sym typeface="Canva Sans"/>
              </a:rPr>
              <a:t>Step 3: IT Team Resolution</a:t>
            </a:r>
          </a:p>
          <a:p>
            <a:pPr algn="just">
              <a:lnSpc>
                <a:spcPts val="2800"/>
              </a:lnSpc>
            </a:pPr>
            <a:r>
              <a:rPr lang="en-US" sz="2000">
                <a:solidFill>
                  <a:srgbClr val="1C5739"/>
                </a:solidFill>
                <a:latin typeface="Canva Sans"/>
                <a:ea typeface="Canva Sans"/>
                <a:cs typeface="Canva Sans"/>
                <a:sym typeface="Canva Sans"/>
              </a:rPr>
              <a:t>Our dedicated IT team receives notifications and resolves the issue, providing point-wise solutions and updates to the user.</a:t>
            </a:r>
          </a:p>
          <a:p>
            <a:pPr algn="just">
              <a:lnSpc>
                <a:spcPts val="2800"/>
              </a:lnSpc>
            </a:pPr>
            <a:r>
              <a:rPr lang="en-US" sz="2000">
                <a:solidFill>
                  <a:srgbClr val="1C5739"/>
                </a:solidFill>
                <a:latin typeface="Canva Sans"/>
                <a:ea typeface="Canva Sans"/>
                <a:cs typeface="Canva Sans"/>
                <a:sym typeface="Canva Sans"/>
              </a:rPr>
              <a:t>Step 4: Virtual Assistance</a:t>
            </a:r>
          </a:p>
          <a:p>
            <a:pPr algn="just">
              <a:lnSpc>
                <a:spcPts val="2800"/>
              </a:lnSpc>
            </a:pPr>
            <a:r>
              <a:rPr lang="en-US" sz="2000">
                <a:solidFill>
                  <a:srgbClr val="1C5739"/>
                </a:solidFill>
                <a:latin typeface="Canva Sans"/>
                <a:ea typeface="Canva Sans"/>
                <a:cs typeface="Canva Sans"/>
                <a:sym typeface="Canva Sans"/>
              </a:rPr>
              <a:t>Throughout the process, our AI-powered virtual assistant provides users with instant support, guidance, and answers to common questions.</a:t>
            </a:r>
          </a:p>
          <a:p>
            <a:pPr algn="just">
              <a:lnSpc>
                <a:spcPts val="2800"/>
              </a:lnSpc>
            </a:pPr>
            <a:r>
              <a:rPr lang="en-US" sz="2000">
                <a:solidFill>
                  <a:srgbClr val="1C5739"/>
                </a:solidFill>
                <a:latin typeface="Canva Sans"/>
                <a:ea typeface="Canva Sans"/>
                <a:cs typeface="Canva Sans"/>
                <a:sym typeface="Canva Sans"/>
              </a:rPr>
              <a:t>Step 5: Real-time Updates</a:t>
            </a:r>
          </a:p>
          <a:p>
            <a:pPr algn="just">
              <a:lnSpc>
                <a:spcPts val="2800"/>
              </a:lnSpc>
            </a:pPr>
            <a:r>
              <a:rPr lang="en-US" sz="2000">
                <a:solidFill>
                  <a:srgbClr val="1C5739"/>
                </a:solidFill>
                <a:latin typeface="Canva Sans"/>
                <a:ea typeface="Canva Sans"/>
                <a:cs typeface="Canva Sans"/>
                <a:sym typeface="Canva Sans"/>
              </a:rPr>
              <a:t>Users receive real-time updates on the status of their complaints, ensuring transparency and peace of mind.</a:t>
            </a:r>
          </a:p>
          <a:p>
            <a:pPr algn="just">
              <a:lnSpc>
                <a:spcPts val="2800"/>
              </a:lnSpc>
            </a:pPr>
            <a:r>
              <a:rPr lang="en-US" sz="2000">
                <a:solidFill>
                  <a:srgbClr val="1C5739"/>
                </a:solidFill>
                <a:latin typeface="Canva Sans"/>
                <a:ea typeface="Canva Sans"/>
                <a:cs typeface="Canva Sans"/>
                <a:sym typeface="Canva Sans"/>
              </a:rPr>
              <a:t>Step 6: Knowledge Base Enrichment</a:t>
            </a:r>
          </a:p>
          <a:p>
            <a:pPr algn="just">
              <a:lnSpc>
                <a:spcPts val="2800"/>
              </a:lnSpc>
            </a:pPr>
            <a:r>
              <a:rPr lang="en-US" sz="2000">
                <a:solidFill>
                  <a:srgbClr val="1C5739"/>
                </a:solidFill>
                <a:latin typeface="Canva Sans"/>
                <a:ea typeface="Canva Sans"/>
                <a:cs typeface="Canva Sans"/>
                <a:sym typeface="Canva Sans"/>
              </a:rPr>
              <a:t>Our system continuously learns from resolved issues, enriching our knowledge base and improving the accuracy of our AI-powered virtual assistant.</a:t>
            </a:r>
          </a:p>
          <a:p>
            <a:pPr algn="just">
              <a:lnSpc>
                <a:spcPts val="2800"/>
              </a:lnSpc>
            </a:pPr>
            <a:r>
              <a:rPr lang="en-US" sz="2000">
                <a:solidFill>
                  <a:srgbClr val="1C5739"/>
                </a:solidFill>
                <a:latin typeface="Canva Sans"/>
                <a:ea typeface="Canva Sans"/>
                <a:cs typeface="Canva Sans"/>
                <a:sym typeface="Canva Sans"/>
              </a:rPr>
              <a:t>The Result:</a:t>
            </a:r>
          </a:p>
          <a:p>
            <a:pPr algn="just">
              <a:lnSpc>
                <a:spcPts val="2800"/>
              </a:lnSpc>
            </a:pPr>
            <a:r>
              <a:rPr lang="en-US" sz="2000">
                <a:solidFill>
                  <a:srgbClr val="1C5739"/>
                </a:solidFill>
                <a:latin typeface="Canva Sans"/>
                <a:ea typeface="Canva Sans"/>
                <a:cs typeface="Canva Sans"/>
                <a:sym typeface="Canva Sans"/>
              </a:rPr>
              <a:t>Faster issue resolution, enhanced user experience, and increased productivity for IT teams. Our system ensures that users receive prompt, personalized, and effective support, while our IT team can focus on complex issues and strategic initiatives.</a:t>
            </a:r>
          </a:p>
          <a:p>
            <a:pPr algn="ctr">
              <a:lnSpc>
                <a:spcPts val="4759"/>
              </a:lnSpc>
            </a:pPr>
            <a:r>
              <a:rPr lang="en-US" sz="3399">
                <a:solidFill>
                  <a:srgbClr val="1C5739"/>
                </a:solidFill>
                <a:latin typeface="Canva Sans"/>
                <a:ea typeface="Canva Sans"/>
                <a:cs typeface="Canva Sans"/>
                <a:sym typeface="Canva Sans"/>
              </a:rPr>
              <a:t>"Intelligent Automation. Human Expertise. Exceptional Support."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528002" y="0"/>
            <a:ext cx="19048322" cy="3086100"/>
            <a:chOff x="0" y="0"/>
            <a:chExt cx="5016842" cy="812800"/>
          </a:xfrm>
        </p:grpSpPr>
        <p:sp>
          <p:nvSpPr>
            <p:cNvPr name="Freeform 4" id="4"/>
            <p:cNvSpPr/>
            <p:nvPr/>
          </p:nvSpPr>
          <p:spPr>
            <a:xfrm flipH="false" flipV="false" rot="0">
              <a:off x="0" y="0"/>
              <a:ext cx="5016842" cy="812800"/>
            </a:xfrm>
            <a:custGeom>
              <a:avLst/>
              <a:gdLst/>
              <a:ahLst/>
              <a:cxnLst/>
              <a:rect r="r" b="b" t="t" l="l"/>
              <a:pathLst>
                <a:path h="812800" w="5016842">
                  <a:moveTo>
                    <a:pt x="0" y="0"/>
                  </a:moveTo>
                  <a:lnTo>
                    <a:pt x="5016842" y="0"/>
                  </a:lnTo>
                  <a:lnTo>
                    <a:pt x="5016842" y="812800"/>
                  </a:lnTo>
                  <a:lnTo>
                    <a:pt x="0" y="812800"/>
                  </a:lnTo>
                  <a:close/>
                </a:path>
              </a:pathLst>
            </a:custGeom>
            <a:solidFill>
              <a:srgbClr val="1C5739"/>
            </a:solidFill>
          </p:spPr>
        </p:sp>
        <p:sp>
          <p:nvSpPr>
            <p:cNvPr name="TextBox 5" id="5"/>
            <p:cNvSpPr txBox="true"/>
            <p:nvPr/>
          </p:nvSpPr>
          <p:spPr>
            <a:xfrm>
              <a:off x="0" y="-19050"/>
              <a:ext cx="5016842" cy="831850"/>
            </a:xfrm>
            <a:prstGeom prst="rect">
              <a:avLst/>
            </a:prstGeom>
          </p:spPr>
          <p:txBody>
            <a:bodyPr anchor="ctr" rtlCol="false" tIns="50800" lIns="50800" bIns="50800" rIns="50800"/>
            <a:lstStyle/>
            <a:p>
              <a:pPr algn="ctr">
                <a:lnSpc>
                  <a:spcPts val="2859"/>
                </a:lnSpc>
              </a:pPr>
            </a:p>
          </p:txBody>
        </p:sp>
      </p:grpSp>
      <p:sp>
        <p:nvSpPr>
          <p:cNvPr name="Freeform 6" id="6"/>
          <p:cNvSpPr/>
          <p:nvPr/>
        </p:nvSpPr>
        <p:spPr>
          <a:xfrm flipH="false" flipV="false" rot="0">
            <a:off x="15408481" y="-2153153"/>
            <a:ext cx="4116356" cy="4116356"/>
          </a:xfrm>
          <a:custGeom>
            <a:avLst/>
            <a:gdLst/>
            <a:ahLst/>
            <a:cxnLst/>
            <a:rect r="r" b="b" t="t" l="l"/>
            <a:pathLst>
              <a:path h="4116356" w="4116356">
                <a:moveTo>
                  <a:pt x="0" y="0"/>
                </a:moveTo>
                <a:lnTo>
                  <a:pt x="4116355" y="0"/>
                </a:lnTo>
                <a:lnTo>
                  <a:pt x="4116355" y="4116356"/>
                </a:lnTo>
                <a:lnTo>
                  <a:pt x="0" y="41163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602379" y="0"/>
            <a:ext cx="3256087" cy="3256087"/>
          </a:xfrm>
          <a:custGeom>
            <a:avLst/>
            <a:gdLst/>
            <a:ahLst/>
            <a:cxnLst/>
            <a:rect r="r" b="b" t="t" l="l"/>
            <a:pathLst>
              <a:path h="3256087" w="3256087">
                <a:moveTo>
                  <a:pt x="0" y="0"/>
                </a:moveTo>
                <a:lnTo>
                  <a:pt x="3256087" y="0"/>
                </a:lnTo>
                <a:lnTo>
                  <a:pt x="3256087" y="3256087"/>
                </a:lnTo>
                <a:lnTo>
                  <a:pt x="0" y="32560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2988008" y="1047533"/>
            <a:ext cx="4849178" cy="1144271"/>
          </a:xfrm>
          <a:prstGeom prst="rect">
            <a:avLst/>
          </a:prstGeom>
        </p:spPr>
        <p:txBody>
          <a:bodyPr anchor="t" rtlCol="false" tIns="0" lIns="0" bIns="0" rIns="0">
            <a:spAutoFit/>
          </a:bodyPr>
          <a:lstStyle/>
          <a:p>
            <a:pPr algn="ctr">
              <a:lnSpc>
                <a:spcPts val="9379"/>
              </a:lnSpc>
            </a:pPr>
            <a:r>
              <a:rPr lang="en-US" sz="6699" b="true">
                <a:solidFill>
                  <a:srgbClr val="F2F2F2"/>
                </a:solidFill>
                <a:latin typeface="Canva Sans Bold"/>
                <a:ea typeface="Canva Sans Bold"/>
                <a:cs typeface="Canva Sans Bold"/>
                <a:sym typeface="Canva Sans Bold"/>
              </a:rPr>
              <a:t>DESIGNING</a:t>
            </a:r>
          </a:p>
        </p:txBody>
      </p:sp>
      <p:sp>
        <p:nvSpPr>
          <p:cNvPr name="TextBox 9" id="9"/>
          <p:cNvSpPr txBox="true"/>
          <p:nvPr/>
        </p:nvSpPr>
        <p:spPr>
          <a:xfrm rot="0">
            <a:off x="653708" y="3743960"/>
            <a:ext cx="16812951" cy="7738110"/>
          </a:xfrm>
          <a:prstGeom prst="rect">
            <a:avLst/>
          </a:prstGeom>
        </p:spPr>
        <p:txBody>
          <a:bodyPr anchor="t" rtlCol="false" tIns="0" lIns="0" bIns="0" rIns="0">
            <a:spAutoFit/>
          </a:bodyPr>
          <a:lstStyle/>
          <a:p>
            <a:pPr algn="just">
              <a:lnSpc>
                <a:spcPts val="3220"/>
              </a:lnSpc>
            </a:pPr>
            <a:r>
              <a:rPr lang="en-US" sz="2300">
                <a:solidFill>
                  <a:srgbClr val="000000"/>
                </a:solidFill>
                <a:latin typeface="Canva Sans"/>
                <a:ea typeface="Canva Sans"/>
                <a:cs typeface="Canva Sans"/>
                <a:sym typeface="Canva Sans"/>
              </a:rPr>
              <a:t>Our IT support system boasts a modern, intuitive design that streamlines issue resolution and enhances user experience. Here are the key design details:</a:t>
            </a:r>
          </a:p>
          <a:p>
            <a:pPr algn="just">
              <a:lnSpc>
                <a:spcPts val="4480"/>
              </a:lnSpc>
            </a:pPr>
          </a:p>
          <a:p>
            <a:pPr algn="just">
              <a:lnSpc>
                <a:spcPts val="3220"/>
              </a:lnSpc>
            </a:pPr>
            <a:r>
              <a:rPr lang="en-US" sz="2300">
                <a:solidFill>
                  <a:srgbClr val="000000"/>
                </a:solidFill>
                <a:latin typeface="Canva Sans"/>
                <a:ea typeface="Canva Sans"/>
                <a:cs typeface="Canva Sans"/>
                <a:sym typeface="Canva Sans"/>
              </a:rPr>
              <a:t>User Interface:</a:t>
            </a:r>
          </a:p>
          <a:p>
            <a:pPr algn="just">
              <a:lnSpc>
                <a:spcPts val="3220"/>
              </a:lnSpc>
            </a:pPr>
          </a:p>
          <a:p>
            <a:pPr algn="just">
              <a:lnSpc>
                <a:spcPts val="3220"/>
              </a:lnSpc>
            </a:pPr>
            <a:r>
              <a:rPr lang="en-US" sz="2300">
                <a:solidFill>
                  <a:srgbClr val="000000"/>
                </a:solidFill>
                <a:latin typeface="Canva Sans"/>
                <a:ea typeface="Canva Sans"/>
                <a:cs typeface="Canva Sans"/>
                <a:sym typeface="Canva Sans"/>
              </a:rPr>
              <a:t>- Clean and Minimalist Design: A clutter-free interface that guides users through the complaint submission process with ease.</a:t>
            </a:r>
          </a:p>
          <a:p>
            <a:pPr algn="just">
              <a:lnSpc>
                <a:spcPts val="3220"/>
              </a:lnSpc>
            </a:pPr>
            <a:r>
              <a:rPr lang="en-US" sz="2300">
                <a:solidFill>
                  <a:srgbClr val="000000"/>
                </a:solidFill>
                <a:latin typeface="Canva Sans"/>
                <a:ea typeface="Canva Sans"/>
                <a:cs typeface="Canva Sans"/>
                <a:sym typeface="Canva Sans"/>
              </a:rPr>
              <a:t>- Responsive Design: Optimized for desktops, laptops, tablets, and mobile devices, ensuring accessibility from anywhere.</a:t>
            </a:r>
          </a:p>
          <a:p>
            <a:pPr algn="just">
              <a:lnSpc>
                <a:spcPts val="3220"/>
              </a:lnSpc>
            </a:pPr>
            <a:r>
              <a:rPr lang="en-US" sz="2300">
                <a:solidFill>
                  <a:srgbClr val="000000"/>
                </a:solidFill>
                <a:latin typeface="Canva Sans"/>
                <a:ea typeface="Canva Sans"/>
                <a:cs typeface="Canva Sans"/>
                <a:sym typeface="Canva Sans"/>
              </a:rPr>
              <a:t>- User-Friendly Navigation: Simple, logical navigation that helps users find what they need quickly.</a:t>
            </a:r>
          </a:p>
          <a:p>
            <a:pPr algn="just">
              <a:lnSpc>
                <a:spcPts val="3220"/>
              </a:lnSpc>
            </a:pPr>
          </a:p>
          <a:p>
            <a:pPr algn="just">
              <a:lnSpc>
                <a:spcPts val="3220"/>
              </a:lnSpc>
            </a:pPr>
            <a:r>
              <a:rPr lang="en-US" sz="2300">
                <a:solidFill>
                  <a:srgbClr val="000000"/>
                </a:solidFill>
                <a:latin typeface="Canva Sans"/>
                <a:ea typeface="Canva Sans"/>
                <a:cs typeface="Canva Sans"/>
                <a:sym typeface="Canva Sans"/>
              </a:rPr>
              <a:t>Dashboard:</a:t>
            </a:r>
          </a:p>
          <a:p>
            <a:pPr algn="just">
              <a:lnSpc>
                <a:spcPts val="3220"/>
              </a:lnSpc>
            </a:pPr>
          </a:p>
          <a:p>
            <a:pPr algn="just">
              <a:lnSpc>
                <a:spcPts val="3220"/>
              </a:lnSpc>
            </a:pPr>
            <a:r>
              <a:rPr lang="en-US" sz="2300">
                <a:solidFill>
                  <a:srgbClr val="000000"/>
                </a:solidFill>
                <a:latin typeface="Canva Sans"/>
                <a:ea typeface="Canva Sans"/>
                <a:cs typeface="Canva Sans"/>
                <a:sym typeface="Canva Sans"/>
              </a:rPr>
              <a:t>- Personalized Dashboard: A customized dashboard for each user, displaying their complaint history, current issues, and recommended solutions.</a:t>
            </a:r>
          </a:p>
          <a:p>
            <a:pPr algn="just">
              <a:lnSpc>
                <a:spcPts val="3220"/>
              </a:lnSpc>
            </a:pPr>
            <a:r>
              <a:rPr lang="en-US" sz="2300">
                <a:solidFill>
                  <a:srgbClr val="000000"/>
                </a:solidFill>
                <a:latin typeface="Canva Sans"/>
                <a:ea typeface="Canva Sans"/>
                <a:cs typeface="Canva Sans"/>
                <a:sym typeface="Canva Sans"/>
              </a:rPr>
              <a:t>- Real-time Updates: Live updates on complaint status, ensuring users stay informed throughout the resolution process.</a:t>
            </a:r>
          </a:p>
          <a:p>
            <a:pPr algn="just">
              <a:lnSpc>
                <a:spcPts val="4759"/>
              </a:lnSpc>
            </a:pPr>
          </a:p>
          <a:p>
            <a:pPr algn="just">
              <a:lnSpc>
                <a:spcPts val="4759"/>
              </a:lnSpc>
            </a:pP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DFBFB"/>
        </a:solidFill>
      </p:bgPr>
    </p:bg>
    <p:spTree>
      <p:nvGrpSpPr>
        <p:cNvPr id="1" name=""/>
        <p:cNvGrpSpPr/>
        <p:nvPr/>
      </p:nvGrpSpPr>
      <p:grpSpPr>
        <a:xfrm>
          <a:off x="0" y="0"/>
          <a:ext cx="0" cy="0"/>
          <a:chOff x="0" y="0"/>
          <a:chExt cx="0" cy="0"/>
        </a:xfrm>
      </p:grpSpPr>
      <p:grpSp>
        <p:nvGrpSpPr>
          <p:cNvPr name="Group 2" id="2"/>
          <p:cNvGrpSpPr/>
          <p:nvPr/>
        </p:nvGrpSpPr>
        <p:grpSpPr>
          <a:xfrm rot="0">
            <a:off x="-528002" y="0"/>
            <a:ext cx="19048322" cy="3086100"/>
            <a:chOff x="0" y="0"/>
            <a:chExt cx="5016842" cy="812800"/>
          </a:xfrm>
        </p:grpSpPr>
        <p:sp>
          <p:nvSpPr>
            <p:cNvPr name="Freeform 3" id="3"/>
            <p:cNvSpPr/>
            <p:nvPr/>
          </p:nvSpPr>
          <p:spPr>
            <a:xfrm flipH="false" flipV="false" rot="0">
              <a:off x="0" y="0"/>
              <a:ext cx="5016842" cy="812800"/>
            </a:xfrm>
            <a:custGeom>
              <a:avLst/>
              <a:gdLst/>
              <a:ahLst/>
              <a:cxnLst/>
              <a:rect r="r" b="b" t="t" l="l"/>
              <a:pathLst>
                <a:path h="812800" w="5016842">
                  <a:moveTo>
                    <a:pt x="0" y="0"/>
                  </a:moveTo>
                  <a:lnTo>
                    <a:pt x="5016842" y="0"/>
                  </a:lnTo>
                  <a:lnTo>
                    <a:pt x="5016842" y="812800"/>
                  </a:lnTo>
                  <a:lnTo>
                    <a:pt x="0" y="812800"/>
                  </a:lnTo>
                  <a:close/>
                </a:path>
              </a:pathLst>
            </a:custGeom>
            <a:solidFill>
              <a:srgbClr val="1C5739"/>
            </a:solidFill>
          </p:spPr>
        </p:sp>
        <p:sp>
          <p:nvSpPr>
            <p:cNvPr name="TextBox 4" id="4"/>
            <p:cNvSpPr txBox="true"/>
            <p:nvPr/>
          </p:nvSpPr>
          <p:spPr>
            <a:xfrm>
              <a:off x="0" y="-19050"/>
              <a:ext cx="5016842" cy="831850"/>
            </a:xfrm>
            <a:prstGeom prst="rect">
              <a:avLst/>
            </a:prstGeom>
          </p:spPr>
          <p:txBody>
            <a:bodyPr anchor="ctr" rtlCol="false" tIns="50800" lIns="50800" bIns="50800" rIns="50800"/>
            <a:lstStyle/>
            <a:p>
              <a:pPr algn="ctr">
                <a:lnSpc>
                  <a:spcPts val="2859"/>
                </a:lnSpc>
              </a:pPr>
            </a:p>
          </p:txBody>
        </p:sp>
      </p:grpSp>
      <p:sp>
        <p:nvSpPr>
          <p:cNvPr name="TextBox 5" id="5"/>
          <p:cNvSpPr txBox="true"/>
          <p:nvPr/>
        </p:nvSpPr>
        <p:spPr>
          <a:xfrm rot="0">
            <a:off x="750108" y="724217"/>
            <a:ext cx="16890861" cy="10255885"/>
          </a:xfrm>
          <a:prstGeom prst="rect">
            <a:avLst/>
          </a:prstGeom>
        </p:spPr>
        <p:txBody>
          <a:bodyPr anchor="t" rtlCol="false" tIns="0" lIns="0" bIns="0" rIns="0">
            <a:spAutoFit/>
          </a:bodyPr>
          <a:lstStyle/>
          <a:p>
            <a:pPr algn="just">
              <a:lnSpc>
                <a:spcPts val="3220"/>
              </a:lnSpc>
            </a:pPr>
            <a:r>
              <a:rPr lang="en-US" sz="2300">
                <a:solidFill>
                  <a:srgbClr val="F2F2F2"/>
                </a:solidFill>
                <a:latin typeface="Canva Sans"/>
                <a:ea typeface="Canva Sans"/>
                <a:cs typeface="Canva Sans"/>
                <a:sym typeface="Canva Sans"/>
              </a:rPr>
              <a:t>Complaint Submission Form:</a:t>
            </a:r>
          </a:p>
          <a:p>
            <a:pPr algn="just">
              <a:lnSpc>
                <a:spcPts val="3220"/>
              </a:lnSpc>
            </a:pPr>
          </a:p>
          <a:p>
            <a:pPr algn="just">
              <a:lnSpc>
                <a:spcPts val="3220"/>
              </a:lnSpc>
            </a:pPr>
            <a:r>
              <a:rPr lang="en-US" sz="2300">
                <a:solidFill>
                  <a:srgbClr val="F2F2F2"/>
                </a:solidFill>
                <a:latin typeface="Canva Sans"/>
                <a:ea typeface="Canva Sans"/>
                <a:cs typeface="Canva Sans"/>
                <a:sym typeface="Canva Sans"/>
              </a:rPr>
              <a:t>- Intelligent Form: A dynamic form that adapts to user input, providing relevant fields and options to ensure accurate issue reporting.</a:t>
            </a:r>
          </a:p>
          <a:p>
            <a:pPr algn="just">
              <a:lnSpc>
                <a:spcPts val="3220"/>
              </a:lnSpc>
            </a:pPr>
            <a:r>
              <a:rPr lang="en-US" sz="2300">
                <a:solidFill>
                  <a:srgbClr val="F2F2F2"/>
                </a:solidFill>
                <a:latin typeface="Canva Sans"/>
                <a:ea typeface="Canva Sans"/>
                <a:cs typeface="Canva Sans"/>
                <a:sym typeface="Canva Sans"/>
              </a:rPr>
              <a:t>- Attachment Support: Users can attach relevant files, screenshots, or documents to support their complaint.</a:t>
            </a:r>
          </a:p>
          <a:p>
            <a:pPr algn="just">
              <a:lnSpc>
                <a:spcPts val="3220"/>
              </a:lnSpc>
            </a:pPr>
          </a:p>
          <a:p>
            <a:pPr algn="just">
              <a:lnSpc>
                <a:spcPts val="3220"/>
              </a:lnSpc>
            </a:pPr>
            <a:r>
              <a:rPr lang="en-US" sz="2300">
                <a:solidFill>
                  <a:srgbClr val="000000"/>
                </a:solidFill>
                <a:latin typeface="Canva Sans"/>
                <a:ea typeface="Canva Sans"/>
                <a:cs typeface="Canva Sans"/>
                <a:sym typeface="Canva Sans"/>
              </a:rPr>
              <a:t>AI-Powered Virtual Assistant:</a:t>
            </a:r>
          </a:p>
          <a:p>
            <a:pPr algn="just">
              <a:lnSpc>
                <a:spcPts val="3220"/>
              </a:lnSpc>
            </a:pPr>
          </a:p>
          <a:p>
            <a:pPr algn="just">
              <a:lnSpc>
                <a:spcPts val="3220"/>
              </a:lnSpc>
            </a:pPr>
            <a:r>
              <a:rPr lang="en-US" sz="2300">
                <a:solidFill>
                  <a:srgbClr val="000000"/>
                </a:solidFill>
                <a:latin typeface="Canva Sans"/>
                <a:ea typeface="Canva Sans"/>
                <a:cs typeface="Canva Sans"/>
                <a:sym typeface="Canva Sans"/>
              </a:rPr>
              <a:t>- Conversational Interface: A friendly, conversational interface that provides instant support and guidance.</a:t>
            </a:r>
          </a:p>
          <a:p>
            <a:pPr algn="just">
              <a:lnSpc>
                <a:spcPts val="3220"/>
              </a:lnSpc>
            </a:pPr>
            <a:r>
              <a:rPr lang="en-US" sz="2300">
                <a:solidFill>
                  <a:srgbClr val="000000"/>
                </a:solidFill>
                <a:latin typeface="Canva Sans"/>
                <a:ea typeface="Canva Sans"/>
                <a:cs typeface="Canva Sans"/>
                <a:sym typeface="Canva Sans"/>
              </a:rPr>
              <a:t>- Natural Language Processing: Our AI engine understands natural language inputs, allowing users to ask questions and receive relevant answers.</a:t>
            </a:r>
          </a:p>
          <a:p>
            <a:pPr algn="just">
              <a:lnSpc>
                <a:spcPts val="3220"/>
              </a:lnSpc>
            </a:pPr>
          </a:p>
          <a:p>
            <a:pPr algn="just">
              <a:lnSpc>
                <a:spcPts val="3220"/>
              </a:lnSpc>
            </a:pPr>
            <a:r>
              <a:rPr lang="en-US" sz="2300">
                <a:solidFill>
                  <a:srgbClr val="000000"/>
                </a:solidFill>
                <a:latin typeface="Canva Sans"/>
                <a:ea typeface="Canva Sans"/>
                <a:cs typeface="Canva Sans"/>
                <a:sym typeface="Canva Sans"/>
              </a:rPr>
              <a:t>IT Team Interface:</a:t>
            </a:r>
          </a:p>
          <a:p>
            <a:pPr algn="just">
              <a:lnSpc>
                <a:spcPts val="3220"/>
              </a:lnSpc>
            </a:pPr>
          </a:p>
          <a:p>
            <a:pPr algn="just">
              <a:lnSpc>
                <a:spcPts val="3220"/>
              </a:lnSpc>
            </a:pPr>
            <a:r>
              <a:rPr lang="en-US" sz="2300">
                <a:solidFill>
                  <a:srgbClr val="000000"/>
                </a:solidFill>
                <a:latin typeface="Canva Sans"/>
                <a:ea typeface="Canva Sans"/>
                <a:cs typeface="Canva Sans"/>
                <a:sym typeface="Canva Sans"/>
              </a:rPr>
              <a:t>- Efficient Ticket Management: A streamlined interface for IT teams to manage complaints, assign tasks, and track progress.</a:t>
            </a:r>
          </a:p>
          <a:p>
            <a:pPr algn="just">
              <a:lnSpc>
                <a:spcPts val="3220"/>
              </a:lnSpc>
            </a:pPr>
            <a:r>
              <a:rPr lang="en-US" sz="2300">
                <a:solidFill>
                  <a:srgbClr val="000000"/>
                </a:solidFill>
                <a:latin typeface="Canva Sans"/>
                <a:ea typeface="Canva Sans"/>
                <a:cs typeface="Canva Sans"/>
                <a:sym typeface="Canva Sans"/>
              </a:rPr>
              <a:t>- Point-wise Solution: IT teams can provide detailed, point-wise solutions to users, ensuring clarity and transparency.</a:t>
            </a:r>
          </a:p>
          <a:p>
            <a:pPr algn="just">
              <a:lnSpc>
                <a:spcPts val="3220"/>
              </a:lnSpc>
            </a:pPr>
          </a:p>
          <a:p>
            <a:pPr algn="just">
              <a:lnSpc>
                <a:spcPts val="3220"/>
              </a:lnSpc>
            </a:pPr>
            <a:r>
              <a:rPr lang="en-US" sz="2300">
                <a:solidFill>
                  <a:srgbClr val="000000"/>
                </a:solidFill>
                <a:latin typeface="Canva Sans"/>
                <a:ea typeface="Canva Sans"/>
                <a:cs typeface="Canva Sans"/>
                <a:sym typeface="Canva Sans"/>
              </a:rPr>
              <a:t>Design Principles:</a:t>
            </a:r>
          </a:p>
          <a:p>
            <a:pPr algn="just">
              <a:lnSpc>
                <a:spcPts val="3220"/>
              </a:lnSpc>
            </a:pPr>
          </a:p>
          <a:p>
            <a:pPr algn="just">
              <a:lnSpc>
                <a:spcPts val="3220"/>
              </a:lnSpc>
            </a:pPr>
            <a:r>
              <a:rPr lang="en-US" sz="2300">
                <a:solidFill>
                  <a:srgbClr val="000000"/>
                </a:solidFill>
                <a:latin typeface="Canva Sans"/>
                <a:ea typeface="Canva Sans"/>
                <a:cs typeface="Canva Sans"/>
                <a:sym typeface="Canva Sans"/>
              </a:rPr>
              <a:t>- User-Centric Design: Our design prioritizes user needs, ensuring an intuitive and seamless experience.</a:t>
            </a:r>
          </a:p>
          <a:p>
            <a:pPr algn="just">
              <a:lnSpc>
                <a:spcPts val="3220"/>
              </a:lnSpc>
            </a:pPr>
            <a:r>
              <a:rPr lang="en-US" sz="2300">
                <a:solidFill>
                  <a:srgbClr val="000000"/>
                </a:solidFill>
                <a:latin typeface="Canva Sans"/>
                <a:ea typeface="Canva Sans"/>
                <a:cs typeface="Canva Sans"/>
                <a:sym typeface="Canva Sans"/>
              </a:rPr>
              <a:t>- Consistency: Consistent design elements and layouts throughout the platform, reducing cognitive load and improving usability.</a:t>
            </a:r>
          </a:p>
          <a:p>
            <a:pPr algn="just">
              <a:lnSpc>
                <a:spcPts val="3220"/>
              </a:lnSpc>
            </a:pPr>
            <a:r>
              <a:rPr lang="en-US" sz="2300">
                <a:solidFill>
                  <a:srgbClr val="000000"/>
                </a:solidFill>
                <a:latin typeface="Canva Sans"/>
                <a:ea typeface="Canva Sans"/>
                <a:cs typeface="Canva Sans"/>
                <a:sym typeface="Canva Sans"/>
              </a:rPr>
              <a:t>- Accessibility: Our design adheres to accessibility standards, ensuring equal access for users with disabilities.</a:t>
            </a:r>
          </a:p>
          <a:p>
            <a:pPr algn="just">
              <a:lnSpc>
                <a:spcPts val="545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grpSp>
        <p:nvGrpSpPr>
          <p:cNvPr name="Group 2" id="2"/>
          <p:cNvGrpSpPr/>
          <p:nvPr/>
        </p:nvGrpSpPr>
        <p:grpSpPr>
          <a:xfrm rot="0">
            <a:off x="-528002" y="0"/>
            <a:ext cx="19048322" cy="3086100"/>
            <a:chOff x="0" y="0"/>
            <a:chExt cx="5016842" cy="812800"/>
          </a:xfrm>
        </p:grpSpPr>
        <p:sp>
          <p:nvSpPr>
            <p:cNvPr name="Freeform 3" id="3"/>
            <p:cNvSpPr/>
            <p:nvPr/>
          </p:nvSpPr>
          <p:spPr>
            <a:xfrm flipH="false" flipV="false" rot="0">
              <a:off x="0" y="0"/>
              <a:ext cx="5016842" cy="812800"/>
            </a:xfrm>
            <a:custGeom>
              <a:avLst/>
              <a:gdLst/>
              <a:ahLst/>
              <a:cxnLst/>
              <a:rect r="r" b="b" t="t" l="l"/>
              <a:pathLst>
                <a:path h="812800" w="5016842">
                  <a:moveTo>
                    <a:pt x="0" y="0"/>
                  </a:moveTo>
                  <a:lnTo>
                    <a:pt x="5016842" y="0"/>
                  </a:lnTo>
                  <a:lnTo>
                    <a:pt x="5016842" y="812800"/>
                  </a:lnTo>
                  <a:lnTo>
                    <a:pt x="0" y="812800"/>
                  </a:lnTo>
                  <a:close/>
                </a:path>
              </a:pathLst>
            </a:custGeom>
            <a:solidFill>
              <a:srgbClr val="1C5739"/>
            </a:solidFill>
          </p:spPr>
        </p:sp>
        <p:sp>
          <p:nvSpPr>
            <p:cNvPr name="TextBox 4" id="4"/>
            <p:cNvSpPr txBox="true"/>
            <p:nvPr/>
          </p:nvSpPr>
          <p:spPr>
            <a:xfrm>
              <a:off x="0" y="-19050"/>
              <a:ext cx="5016842" cy="831850"/>
            </a:xfrm>
            <a:prstGeom prst="rect">
              <a:avLst/>
            </a:prstGeom>
          </p:spPr>
          <p:txBody>
            <a:bodyPr anchor="ctr" rtlCol="false" tIns="50800" lIns="50800" bIns="50800" rIns="50800"/>
            <a:lstStyle/>
            <a:p>
              <a:pPr algn="ctr">
                <a:lnSpc>
                  <a:spcPts val="2859"/>
                </a:lnSpc>
              </a:pPr>
            </a:p>
          </p:txBody>
        </p:sp>
      </p:grpSp>
      <p:sp>
        <p:nvSpPr>
          <p:cNvPr name="Freeform 5" id="5"/>
          <p:cNvSpPr/>
          <p:nvPr/>
        </p:nvSpPr>
        <p:spPr>
          <a:xfrm flipH="false" flipV="false" rot="0">
            <a:off x="0" y="4021584"/>
            <a:ext cx="18154906" cy="3460779"/>
          </a:xfrm>
          <a:custGeom>
            <a:avLst/>
            <a:gdLst/>
            <a:ahLst/>
            <a:cxnLst/>
            <a:rect r="r" b="b" t="t" l="l"/>
            <a:pathLst>
              <a:path h="3460779" w="18154906">
                <a:moveTo>
                  <a:pt x="0" y="0"/>
                </a:moveTo>
                <a:lnTo>
                  <a:pt x="18154906" y="0"/>
                </a:lnTo>
                <a:lnTo>
                  <a:pt x="18154906" y="3460779"/>
                </a:lnTo>
                <a:lnTo>
                  <a:pt x="0" y="3460779"/>
                </a:lnTo>
                <a:lnTo>
                  <a:pt x="0" y="0"/>
                </a:lnTo>
                <a:close/>
              </a:path>
            </a:pathLst>
          </a:custGeom>
          <a:blipFill>
            <a:blip r:embed="rId2"/>
            <a:stretch>
              <a:fillRect l="0" t="0" r="0" b="0"/>
            </a:stretch>
          </a:blipFill>
        </p:spPr>
      </p:sp>
      <p:sp>
        <p:nvSpPr>
          <p:cNvPr name="TextBox 6" id="6"/>
          <p:cNvSpPr txBox="true"/>
          <p:nvPr/>
        </p:nvSpPr>
        <p:spPr>
          <a:xfrm rot="0">
            <a:off x="1028700" y="846461"/>
            <a:ext cx="6125170" cy="1259829"/>
          </a:xfrm>
          <a:prstGeom prst="rect">
            <a:avLst/>
          </a:prstGeom>
        </p:spPr>
        <p:txBody>
          <a:bodyPr anchor="t" rtlCol="false" tIns="0" lIns="0" bIns="0" rIns="0">
            <a:spAutoFit/>
          </a:bodyPr>
          <a:lstStyle/>
          <a:p>
            <a:pPr algn="ctr">
              <a:lnSpc>
                <a:spcPts val="10360"/>
              </a:lnSpc>
            </a:pPr>
            <a:r>
              <a:rPr lang="en-US" sz="7400" b="true">
                <a:solidFill>
                  <a:srgbClr val="F2F2F2"/>
                </a:solidFill>
                <a:latin typeface="Canva Sans Bold"/>
                <a:ea typeface="Canva Sans Bold"/>
                <a:cs typeface="Canva Sans Bold"/>
                <a:sym typeface="Canva Sans Bold"/>
              </a:rPr>
              <a:t>FLOW CHART</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5346692">
            <a:off x="1322554" y="995516"/>
            <a:ext cx="614283" cy="0"/>
          </a:xfrm>
          <a:prstGeom prst="line">
            <a:avLst/>
          </a:prstGeom>
          <a:ln cap="rnd" w="9525">
            <a:solidFill>
              <a:srgbClr val="000000"/>
            </a:solidFill>
            <a:prstDash val="solid"/>
            <a:headEnd type="none" len="sm" w="sm"/>
            <a:tailEnd type="triangle" len="med" w="lg"/>
          </a:ln>
        </p:spPr>
      </p:sp>
      <p:sp>
        <p:nvSpPr>
          <p:cNvPr name="AutoShape 3" id="3"/>
          <p:cNvSpPr/>
          <p:nvPr/>
        </p:nvSpPr>
        <p:spPr>
          <a:xfrm rot="-5305439">
            <a:off x="2778881" y="1032386"/>
            <a:ext cx="614442" cy="0"/>
          </a:xfrm>
          <a:prstGeom prst="line">
            <a:avLst/>
          </a:prstGeom>
          <a:ln cap="rnd" w="9525">
            <a:solidFill>
              <a:srgbClr val="000000"/>
            </a:solidFill>
            <a:prstDash val="solid"/>
            <a:headEnd type="none" len="sm" w="sm"/>
            <a:tailEnd type="triangle" len="med" w="lg"/>
          </a:ln>
        </p:spPr>
      </p:sp>
      <p:sp>
        <p:nvSpPr>
          <p:cNvPr name="AutoShape 4" id="4"/>
          <p:cNvSpPr/>
          <p:nvPr/>
        </p:nvSpPr>
        <p:spPr>
          <a:xfrm rot="-3107812">
            <a:off x="3718643" y="1371600"/>
            <a:ext cx="969295" cy="0"/>
          </a:xfrm>
          <a:prstGeom prst="line">
            <a:avLst/>
          </a:prstGeom>
          <a:ln cap="rnd" w="9525">
            <a:solidFill>
              <a:srgbClr val="000000"/>
            </a:solidFill>
            <a:prstDash val="solid"/>
            <a:headEnd type="none" len="sm" w="sm"/>
            <a:tailEnd type="triangle" len="med" w="lg"/>
          </a:ln>
        </p:spPr>
      </p:sp>
      <p:sp>
        <p:nvSpPr>
          <p:cNvPr name="AutoShape 5" id="5"/>
          <p:cNvSpPr/>
          <p:nvPr/>
        </p:nvSpPr>
        <p:spPr>
          <a:xfrm rot="5352405">
            <a:off x="1588031" y="2536722"/>
            <a:ext cx="688017" cy="0"/>
          </a:xfrm>
          <a:prstGeom prst="line">
            <a:avLst/>
          </a:prstGeom>
          <a:ln cap="rnd" w="9525">
            <a:solidFill>
              <a:srgbClr val="000000"/>
            </a:solidFill>
            <a:prstDash val="solid"/>
            <a:headEnd type="none" len="sm" w="sm"/>
            <a:tailEnd type="triangle" len="med" w="lg"/>
          </a:ln>
        </p:spPr>
      </p:sp>
      <p:sp>
        <p:nvSpPr>
          <p:cNvPr name="AutoShape 6" id="6"/>
          <p:cNvSpPr/>
          <p:nvPr/>
        </p:nvSpPr>
        <p:spPr>
          <a:xfrm rot="5352405">
            <a:off x="3387333" y="2536722"/>
            <a:ext cx="688017" cy="0"/>
          </a:xfrm>
          <a:prstGeom prst="line">
            <a:avLst/>
          </a:prstGeom>
          <a:ln cap="rnd" w="9525">
            <a:solidFill>
              <a:srgbClr val="000000"/>
            </a:solidFill>
            <a:prstDash val="solid"/>
            <a:headEnd type="none" len="sm" w="sm"/>
            <a:tailEnd type="triangle" len="med" w="lg"/>
          </a:ln>
        </p:spPr>
      </p:sp>
      <p:grpSp>
        <p:nvGrpSpPr>
          <p:cNvPr name="Group 7" id="7"/>
          <p:cNvGrpSpPr/>
          <p:nvPr/>
        </p:nvGrpSpPr>
        <p:grpSpPr>
          <a:xfrm rot="0">
            <a:off x="2416587" y="-9524"/>
            <a:ext cx="1324280" cy="712222"/>
            <a:chOff x="0" y="0"/>
            <a:chExt cx="1765706" cy="949630"/>
          </a:xfrm>
        </p:grpSpPr>
        <p:sp>
          <p:nvSpPr>
            <p:cNvPr name="Freeform 8" id="8"/>
            <p:cNvSpPr/>
            <p:nvPr/>
          </p:nvSpPr>
          <p:spPr>
            <a:xfrm flipH="false" flipV="false" rot="0">
              <a:off x="12700" y="12700"/>
              <a:ext cx="1740408" cy="924306"/>
            </a:xfrm>
            <a:custGeom>
              <a:avLst/>
              <a:gdLst/>
              <a:ahLst/>
              <a:cxnLst/>
              <a:rect r="r" b="b" t="t" l="l"/>
              <a:pathLst>
                <a:path h="924306" w="1740408">
                  <a:moveTo>
                    <a:pt x="0" y="462153"/>
                  </a:moveTo>
                  <a:cubicBezTo>
                    <a:pt x="0" y="206883"/>
                    <a:pt x="389636" y="0"/>
                    <a:pt x="870204" y="0"/>
                  </a:cubicBezTo>
                  <a:cubicBezTo>
                    <a:pt x="1350772" y="0"/>
                    <a:pt x="1740408" y="206883"/>
                    <a:pt x="1740408" y="462153"/>
                  </a:cubicBezTo>
                  <a:cubicBezTo>
                    <a:pt x="1740408" y="717423"/>
                    <a:pt x="1350772" y="924306"/>
                    <a:pt x="870204" y="924306"/>
                  </a:cubicBezTo>
                  <a:cubicBezTo>
                    <a:pt x="389636" y="924306"/>
                    <a:pt x="0" y="717296"/>
                    <a:pt x="0" y="462153"/>
                  </a:cubicBezTo>
                  <a:close/>
                </a:path>
              </a:pathLst>
            </a:custGeom>
            <a:solidFill>
              <a:srgbClr val="FFFFFF"/>
            </a:solidFill>
          </p:spPr>
        </p:sp>
        <p:sp>
          <p:nvSpPr>
            <p:cNvPr name="Freeform 9" id="9"/>
            <p:cNvSpPr/>
            <p:nvPr/>
          </p:nvSpPr>
          <p:spPr>
            <a:xfrm flipH="false" flipV="false" rot="0">
              <a:off x="0" y="0"/>
              <a:ext cx="1765808" cy="949706"/>
            </a:xfrm>
            <a:custGeom>
              <a:avLst/>
              <a:gdLst/>
              <a:ahLst/>
              <a:cxnLst/>
              <a:rect r="r" b="b" t="t" l="l"/>
              <a:pathLst>
                <a:path h="949706" w="1765808">
                  <a:moveTo>
                    <a:pt x="0" y="474853"/>
                  </a:moveTo>
                  <a:cubicBezTo>
                    <a:pt x="0" y="206629"/>
                    <a:pt x="403352" y="0"/>
                    <a:pt x="882904" y="0"/>
                  </a:cubicBezTo>
                  <a:cubicBezTo>
                    <a:pt x="1362456" y="0"/>
                    <a:pt x="1765808" y="206629"/>
                    <a:pt x="1765808" y="474853"/>
                  </a:cubicBezTo>
                  <a:lnTo>
                    <a:pt x="1753108" y="474853"/>
                  </a:lnTo>
                  <a:lnTo>
                    <a:pt x="1765808" y="474853"/>
                  </a:lnTo>
                  <a:cubicBezTo>
                    <a:pt x="1765808" y="743077"/>
                    <a:pt x="1362456" y="949706"/>
                    <a:pt x="882904" y="949706"/>
                  </a:cubicBezTo>
                  <a:lnTo>
                    <a:pt x="882904" y="937006"/>
                  </a:lnTo>
                  <a:lnTo>
                    <a:pt x="882904" y="949706"/>
                  </a:lnTo>
                  <a:cubicBezTo>
                    <a:pt x="403352" y="949579"/>
                    <a:pt x="0" y="742950"/>
                    <a:pt x="0" y="474853"/>
                  </a:cubicBezTo>
                  <a:lnTo>
                    <a:pt x="12700" y="474853"/>
                  </a:lnTo>
                  <a:lnTo>
                    <a:pt x="25400" y="474853"/>
                  </a:lnTo>
                  <a:lnTo>
                    <a:pt x="12700" y="474853"/>
                  </a:lnTo>
                  <a:lnTo>
                    <a:pt x="0" y="474853"/>
                  </a:lnTo>
                  <a:moveTo>
                    <a:pt x="25400" y="474853"/>
                  </a:moveTo>
                  <a:cubicBezTo>
                    <a:pt x="25400" y="481838"/>
                    <a:pt x="19685" y="487553"/>
                    <a:pt x="12700" y="487553"/>
                  </a:cubicBezTo>
                  <a:cubicBezTo>
                    <a:pt x="5715" y="487553"/>
                    <a:pt x="0" y="481838"/>
                    <a:pt x="0" y="474853"/>
                  </a:cubicBezTo>
                  <a:cubicBezTo>
                    <a:pt x="0" y="467868"/>
                    <a:pt x="5715" y="462153"/>
                    <a:pt x="12700" y="462153"/>
                  </a:cubicBezTo>
                  <a:cubicBezTo>
                    <a:pt x="19685" y="462153"/>
                    <a:pt x="25400" y="467868"/>
                    <a:pt x="25400" y="474853"/>
                  </a:cubicBezTo>
                  <a:cubicBezTo>
                    <a:pt x="25400" y="717042"/>
                    <a:pt x="401193" y="924179"/>
                    <a:pt x="882904" y="924179"/>
                  </a:cubicBezTo>
                  <a:cubicBezTo>
                    <a:pt x="1364615" y="924179"/>
                    <a:pt x="1740408" y="717042"/>
                    <a:pt x="1740408" y="474726"/>
                  </a:cubicBezTo>
                  <a:cubicBezTo>
                    <a:pt x="1740408" y="232410"/>
                    <a:pt x="1364488" y="25400"/>
                    <a:pt x="882904" y="25400"/>
                  </a:cubicBezTo>
                  <a:lnTo>
                    <a:pt x="882904" y="12700"/>
                  </a:lnTo>
                  <a:lnTo>
                    <a:pt x="882904" y="25400"/>
                  </a:lnTo>
                  <a:cubicBezTo>
                    <a:pt x="401193" y="25400"/>
                    <a:pt x="25400" y="232537"/>
                    <a:pt x="25400" y="474853"/>
                  </a:cubicBezTo>
                  <a:close/>
                </a:path>
              </a:pathLst>
            </a:custGeom>
            <a:solidFill>
              <a:srgbClr val="70AD47"/>
            </a:solidFill>
          </p:spPr>
        </p:sp>
        <p:sp>
          <p:nvSpPr>
            <p:cNvPr name="TextBox 10" id="10"/>
            <p:cNvSpPr txBox="true"/>
            <p:nvPr/>
          </p:nvSpPr>
          <p:spPr>
            <a:xfrm>
              <a:off x="0" y="-38100"/>
              <a:ext cx="1765706" cy="987730"/>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User_id</a:t>
              </a:r>
            </a:p>
          </p:txBody>
        </p:sp>
      </p:grpSp>
      <p:grpSp>
        <p:nvGrpSpPr>
          <p:cNvPr name="Group 11" id="11"/>
          <p:cNvGrpSpPr/>
          <p:nvPr/>
        </p:nvGrpSpPr>
        <p:grpSpPr>
          <a:xfrm rot="0">
            <a:off x="4333875" y="233823"/>
            <a:ext cx="1479140" cy="918700"/>
            <a:chOff x="0" y="0"/>
            <a:chExt cx="1972186" cy="1224934"/>
          </a:xfrm>
        </p:grpSpPr>
        <p:sp>
          <p:nvSpPr>
            <p:cNvPr name="Freeform 12" id="12"/>
            <p:cNvSpPr/>
            <p:nvPr/>
          </p:nvSpPr>
          <p:spPr>
            <a:xfrm flipH="false" flipV="false" rot="0">
              <a:off x="12700" y="12700"/>
              <a:ext cx="1946910" cy="1199642"/>
            </a:xfrm>
            <a:custGeom>
              <a:avLst/>
              <a:gdLst/>
              <a:ahLst/>
              <a:cxnLst/>
              <a:rect r="r" b="b" t="t" l="l"/>
              <a:pathLst>
                <a:path h="1199642" w="1946910">
                  <a:moveTo>
                    <a:pt x="0" y="599821"/>
                  </a:moveTo>
                  <a:cubicBezTo>
                    <a:pt x="0" y="268478"/>
                    <a:pt x="435864" y="0"/>
                    <a:pt x="973455" y="0"/>
                  </a:cubicBezTo>
                  <a:cubicBezTo>
                    <a:pt x="1511046" y="0"/>
                    <a:pt x="1946910" y="268478"/>
                    <a:pt x="1946910" y="599821"/>
                  </a:cubicBezTo>
                  <a:cubicBezTo>
                    <a:pt x="1946910" y="931164"/>
                    <a:pt x="1511046" y="1199642"/>
                    <a:pt x="973455" y="1199642"/>
                  </a:cubicBezTo>
                  <a:cubicBezTo>
                    <a:pt x="435864" y="1199642"/>
                    <a:pt x="0" y="931037"/>
                    <a:pt x="0" y="599821"/>
                  </a:cubicBezTo>
                  <a:close/>
                </a:path>
              </a:pathLst>
            </a:custGeom>
            <a:solidFill>
              <a:srgbClr val="FFFFFF"/>
            </a:solidFill>
          </p:spPr>
        </p:sp>
        <p:sp>
          <p:nvSpPr>
            <p:cNvPr name="Freeform 13" id="13"/>
            <p:cNvSpPr/>
            <p:nvPr/>
          </p:nvSpPr>
          <p:spPr>
            <a:xfrm flipH="false" flipV="false" rot="0">
              <a:off x="0" y="0"/>
              <a:ext cx="1972310" cy="1224915"/>
            </a:xfrm>
            <a:custGeom>
              <a:avLst/>
              <a:gdLst/>
              <a:ahLst/>
              <a:cxnLst/>
              <a:rect r="r" b="b" t="t" l="l"/>
              <a:pathLst>
                <a:path h="1224915" w="1972310">
                  <a:moveTo>
                    <a:pt x="0" y="612521"/>
                  </a:moveTo>
                  <a:cubicBezTo>
                    <a:pt x="0" y="269367"/>
                    <a:pt x="447675" y="0"/>
                    <a:pt x="986155" y="0"/>
                  </a:cubicBezTo>
                  <a:lnTo>
                    <a:pt x="986155" y="12700"/>
                  </a:lnTo>
                  <a:lnTo>
                    <a:pt x="986155" y="0"/>
                  </a:lnTo>
                  <a:cubicBezTo>
                    <a:pt x="1524635" y="0"/>
                    <a:pt x="1972310" y="269367"/>
                    <a:pt x="1972310" y="612521"/>
                  </a:cubicBezTo>
                  <a:cubicBezTo>
                    <a:pt x="1972310" y="955675"/>
                    <a:pt x="1524508" y="1224915"/>
                    <a:pt x="986155" y="1224915"/>
                  </a:cubicBezTo>
                  <a:lnTo>
                    <a:pt x="986155" y="1212215"/>
                  </a:lnTo>
                  <a:lnTo>
                    <a:pt x="986155" y="1224915"/>
                  </a:lnTo>
                  <a:cubicBezTo>
                    <a:pt x="447675" y="1224915"/>
                    <a:pt x="0" y="955548"/>
                    <a:pt x="0" y="612521"/>
                  </a:cubicBezTo>
                  <a:lnTo>
                    <a:pt x="12700" y="612521"/>
                  </a:lnTo>
                  <a:lnTo>
                    <a:pt x="25400" y="612521"/>
                  </a:lnTo>
                  <a:lnTo>
                    <a:pt x="12700" y="612521"/>
                  </a:lnTo>
                  <a:lnTo>
                    <a:pt x="0" y="612521"/>
                  </a:lnTo>
                  <a:moveTo>
                    <a:pt x="25400" y="612521"/>
                  </a:moveTo>
                  <a:cubicBezTo>
                    <a:pt x="25400" y="619506"/>
                    <a:pt x="19685" y="625221"/>
                    <a:pt x="12700" y="625221"/>
                  </a:cubicBezTo>
                  <a:cubicBezTo>
                    <a:pt x="5715" y="625221"/>
                    <a:pt x="0" y="619506"/>
                    <a:pt x="0" y="612521"/>
                  </a:cubicBezTo>
                  <a:cubicBezTo>
                    <a:pt x="0" y="605536"/>
                    <a:pt x="5715" y="599821"/>
                    <a:pt x="12700" y="599821"/>
                  </a:cubicBezTo>
                  <a:cubicBezTo>
                    <a:pt x="19685" y="599821"/>
                    <a:pt x="25400" y="605536"/>
                    <a:pt x="25400" y="612521"/>
                  </a:cubicBezTo>
                  <a:cubicBezTo>
                    <a:pt x="25400" y="931799"/>
                    <a:pt x="449326" y="1199515"/>
                    <a:pt x="986155" y="1199515"/>
                  </a:cubicBezTo>
                  <a:cubicBezTo>
                    <a:pt x="1522984" y="1199515"/>
                    <a:pt x="1946910" y="931799"/>
                    <a:pt x="1946910" y="612394"/>
                  </a:cubicBezTo>
                  <a:lnTo>
                    <a:pt x="1959610" y="612394"/>
                  </a:lnTo>
                  <a:lnTo>
                    <a:pt x="1946910" y="612394"/>
                  </a:lnTo>
                  <a:cubicBezTo>
                    <a:pt x="1946783" y="293116"/>
                    <a:pt x="1522857" y="25400"/>
                    <a:pt x="986155" y="25400"/>
                  </a:cubicBezTo>
                  <a:lnTo>
                    <a:pt x="986155" y="12700"/>
                  </a:lnTo>
                  <a:lnTo>
                    <a:pt x="986155" y="25400"/>
                  </a:lnTo>
                  <a:cubicBezTo>
                    <a:pt x="449326" y="25400"/>
                    <a:pt x="25400" y="293116"/>
                    <a:pt x="25400" y="612521"/>
                  </a:cubicBezTo>
                  <a:close/>
                </a:path>
              </a:pathLst>
            </a:custGeom>
            <a:solidFill>
              <a:srgbClr val="70AD47"/>
            </a:solidFill>
          </p:spPr>
        </p:sp>
        <p:sp>
          <p:nvSpPr>
            <p:cNvPr name="TextBox 14" id="14"/>
            <p:cNvSpPr txBox="true"/>
            <p:nvPr/>
          </p:nvSpPr>
          <p:spPr>
            <a:xfrm>
              <a:off x="0" y="-38100"/>
              <a:ext cx="1972186" cy="1263034"/>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Email_id</a:t>
              </a:r>
            </a:p>
          </p:txBody>
        </p:sp>
      </p:grpSp>
      <p:grpSp>
        <p:nvGrpSpPr>
          <p:cNvPr name="Group 15" id="15"/>
          <p:cNvGrpSpPr/>
          <p:nvPr/>
        </p:nvGrpSpPr>
        <p:grpSpPr>
          <a:xfrm rot="0">
            <a:off x="1081856" y="2866410"/>
            <a:ext cx="1479138" cy="918701"/>
            <a:chOff x="0" y="0"/>
            <a:chExt cx="1972184" cy="1224934"/>
          </a:xfrm>
        </p:grpSpPr>
        <p:sp>
          <p:nvSpPr>
            <p:cNvPr name="Freeform 16" id="16"/>
            <p:cNvSpPr/>
            <p:nvPr/>
          </p:nvSpPr>
          <p:spPr>
            <a:xfrm flipH="false" flipV="false" rot="0">
              <a:off x="12700" y="12700"/>
              <a:ext cx="1946910" cy="1199642"/>
            </a:xfrm>
            <a:custGeom>
              <a:avLst/>
              <a:gdLst/>
              <a:ahLst/>
              <a:cxnLst/>
              <a:rect r="r" b="b" t="t" l="l"/>
              <a:pathLst>
                <a:path h="1199642" w="1946910">
                  <a:moveTo>
                    <a:pt x="0" y="599821"/>
                  </a:moveTo>
                  <a:cubicBezTo>
                    <a:pt x="0" y="268478"/>
                    <a:pt x="435864" y="0"/>
                    <a:pt x="973455" y="0"/>
                  </a:cubicBezTo>
                  <a:cubicBezTo>
                    <a:pt x="1511046" y="0"/>
                    <a:pt x="1946910" y="268478"/>
                    <a:pt x="1946910" y="599821"/>
                  </a:cubicBezTo>
                  <a:cubicBezTo>
                    <a:pt x="1946910" y="931164"/>
                    <a:pt x="1511046" y="1199642"/>
                    <a:pt x="973455" y="1199642"/>
                  </a:cubicBezTo>
                  <a:cubicBezTo>
                    <a:pt x="435864" y="1199642"/>
                    <a:pt x="0" y="931037"/>
                    <a:pt x="0" y="599821"/>
                  </a:cubicBezTo>
                  <a:close/>
                </a:path>
              </a:pathLst>
            </a:custGeom>
            <a:solidFill>
              <a:srgbClr val="FFFFFF"/>
            </a:solidFill>
          </p:spPr>
        </p:sp>
        <p:sp>
          <p:nvSpPr>
            <p:cNvPr name="Freeform 17" id="17"/>
            <p:cNvSpPr/>
            <p:nvPr/>
          </p:nvSpPr>
          <p:spPr>
            <a:xfrm flipH="false" flipV="false" rot="0">
              <a:off x="0" y="0"/>
              <a:ext cx="1972310" cy="1224915"/>
            </a:xfrm>
            <a:custGeom>
              <a:avLst/>
              <a:gdLst/>
              <a:ahLst/>
              <a:cxnLst/>
              <a:rect r="r" b="b" t="t" l="l"/>
              <a:pathLst>
                <a:path h="1224915" w="1972310">
                  <a:moveTo>
                    <a:pt x="0" y="612521"/>
                  </a:moveTo>
                  <a:cubicBezTo>
                    <a:pt x="0" y="269367"/>
                    <a:pt x="447675" y="0"/>
                    <a:pt x="986155" y="0"/>
                  </a:cubicBezTo>
                  <a:lnTo>
                    <a:pt x="986155" y="12700"/>
                  </a:lnTo>
                  <a:lnTo>
                    <a:pt x="986155" y="0"/>
                  </a:lnTo>
                  <a:cubicBezTo>
                    <a:pt x="1524635" y="0"/>
                    <a:pt x="1972310" y="269367"/>
                    <a:pt x="1972310" y="612521"/>
                  </a:cubicBezTo>
                  <a:cubicBezTo>
                    <a:pt x="1972310" y="955675"/>
                    <a:pt x="1524508" y="1224915"/>
                    <a:pt x="986155" y="1224915"/>
                  </a:cubicBezTo>
                  <a:lnTo>
                    <a:pt x="986155" y="1212215"/>
                  </a:lnTo>
                  <a:lnTo>
                    <a:pt x="986155" y="1224915"/>
                  </a:lnTo>
                  <a:cubicBezTo>
                    <a:pt x="447675" y="1224915"/>
                    <a:pt x="0" y="955548"/>
                    <a:pt x="0" y="612521"/>
                  </a:cubicBezTo>
                  <a:lnTo>
                    <a:pt x="12700" y="612521"/>
                  </a:lnTo>
                  <a:lnTo>
                    <a:pt x="25400" y="612521"/>
                  </a:lnTo>
                  <a:lnTo>
                    <a:pt x="12700" y="612521"/>
                  </a:lnTo>
                  <a:lnTo>
                    <a:pt x="0" y="612521"/>
                  </a:lnTo>
                  <a:moveTo>
                    <a:pt x="25400" y="612521"/>
                  </a:moveTo>
                  <a:cubicBezTo>
                    <a:pt x="25400" y="619506"/>
                    <a:pt x="19685" y="625221"/>
                    <a:pt x="12700" y="625221"/>
                  </a:cubicBezTo>
                  <a:cubicBezTo>
                    <a:pt x="5715" y="625221"/>
                    <a:pt x="0" y="619506"/>
                    <a:pt x="0" y="612521"/>
                  </a:cubicBezTo>
                  <a:cubicBezTo>
                    <a:pt x="0" y="605536"/>
                    <a:pt x="5715" y="599821"/>
                    <a:pt x="12700" y="599821"/>
                  </a:cubicBezTo>
                  <a:cubicBezTo>
                    <a:pt x="19685" y="599821"/>
                    <a:pt x="25400" y="605536"/>
                    <a:pt x="25400" y="612521"/>
                  </a:cubicBezTo>
                  <a:cubicBezTo>
                    <a:pt x="25400" y="931799"/>
                    <a:pt x="449326" y="1199515"/>
                    <a:pt x="986155" y="1199515"/>
                  </a:cubicBezTo>
                  <a:cubicBezTo>
                    <a:pt x="1522984" y="1199515"/>
                    <a:pt x="1946910" y="931799"/>
                    <a:pt x="1946910" y="612394"/>
                  </a:cubicBezTo>
                  <a:lnTo>
                    <a:pt x="1959610" y="612394"/>
                  </a:lnTo>
                  <a:lnTo>
                    <a:pt x="1946910" y="612394"/>
                  </a:lnTo>
                  <a:cubicBezTo>
                    <a:pt x="1946783" y="293116"/>
                    <a:pt x="1522857" y="25400"/>
                    <a:pt x="986155" y="25400"/>
                  </a:cubicBezTo>
                  <a:lnTo>
                    <a:pt x="986155" y="12700"/>
                  </a:lnTo>
                  <a:lnTo>
                    <a:pt x="986155" y="25400"/>
                  </a:lnTo>
                  <a:cubicBezTo>
                    <a:pt x="449326" y="25400"/>
                    <a:pt x="25400" y="293116"/>
                    <a:pt x="25400" y="612521"/>
                  </a:cubicBezTo>
                  <a:close/>
                </a:path>
              </a:pathLst>
            </a:custGeom>
            <a:solidFill>
              <a:srgbClr val="70AD47"/>
            </a:solidFill>
          </p:spPr>
        </p:sp>
        <p:sp>
          <p:nvSpPr>
            <p:cNvPr name="TextBox 18" id="18"/>
            <p:cNvSpPr txBox="true"/>
            <p:nvPr/>
          </p:nvSpPr>
          <p:spPr>
            <a:xfrm>
              <a:off x="0" y="-38100"/>
              <a:ext cx="1972184" cy="1263034"/>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password</a:t>
              </a:r>
            </a:p>
          </p:txBody>
        </p:sp>
      </p:grpSp>
      <p:grpSp>
        <p:nvGrpSpPr>
          <p:cNvPr name="Group 19" id="19"/>
          <p:cNvGrpSpPr/>
          <p:nvPr/>
        </p:nvGrpSpPr>
        <p:grpSpPr>
          <a:xfrm rot="0">
            <a:off x="2969648" y="2866410"/>
            <a:ext cx="1457019" cy="1036689"/>
            <a:chOff x="0" y="0"/>
            <a:chExt cx="1942692" cy="1382252"/>
          </a:xfrm>
        </p:grpSpPr>
        <p:sp>
          <p:nvSpPr>
            <p:cNvPr name="Freeform 20" id="20"/>
            <p:cNvSpPr/>
            <p:nvPr/>
          </p:nvSpPr>
          <p:spPr>
            <a:xfrm flipH="false" flipV="false" rot="0">
              <a:off x="12700" y="12700"/>
              <a:ext cx="1917192" cy="1356868"/>
            </a:xfrm>
            <a:custGeom>
              <a:avLst/>
              <a:gdLst/>
              <a:ahLst/>
              <a:cxnLst/>
              <a:rect r="r" b="b" t="t" l="l"/>
              <a:pathLst>
                <a:path h="1356868" w="1917192">
                  <a:moveTo>
                    <a:pt x="0" y="678434"/>
                  </a:moveTo>
                  <a:cubicBezTo>
                    <a:pt x="0" y="303784"/>
                    <a:pt x="429260" y="0"/>
                    <a:pt x="958596" y="0"/>
                  </a:cubicBezTo>
                  <a:cubicBezTo>
                    <a:pt x="1487932" y="0"/>
                    <a:pt x="1917192" y="303784"/>
                    <a:pt x="1917192" y="678434"/>
                  </a:cubicBezTo>
                  <a:cubicBezTo>
                    <a:pt x="1917192" y="1053084"/>
                    <a:pt x="1487932" y="1356868"/>
                    <a:pt x="958596" y="1356868"/>
                  </a:cubicBezTo>
                  <a:cubicBezTo>
                    <a:pt x="429260" y="1356868"/>
                    <a:pt x="0" y="1053084"/>
                    <a:pt x="0" y="678434"/>
                  </a:cubicBezTo>
                  <a:close/>
                </a:path>
              </a:pathLst>
            </a:custGeom>
            <a:solidFill>
              <a:srgbClr val="FFFFFF"/>
            </a:solidFill>
          </p:spPr>
        </p:sp>
        <p:sp>
          <p:nvSpPr>
            <p:cNvPr name="Freeform 21" id="21"/>
            <p:cNvSpPr/>
            <p:nvPr/>
          </p:nvSpPr>
          <p:spPr>
            <a:xfrm flipH="false" flipV="false" rot="0">
              <a:off x="0" y="0"/>
              <a:ext cx="1942592" cy="1382268"/>
            </a:xfrm>
            <a:custGeom>
              <a:avLst/>
              <a:gdLst/>
              <a:ahLst/>
              <a:cxnLst/>
              <a:rect r="r" b="b" t="t" l="l"/>
              <a:pathLst>
                <a:path h="1382268" w="1942592">
                  <a:moveTo>
                    <a:pt x="0" y="691134"/>
                  </a:moveTo>
                  <a:cubicBezTo>
                    <a:pt x="0" y="305689"/>
                    <a:pt x="439293" y="0"/>
                    <a:pt x="971296" y="0"/>
                  </a:cubicBezTo>
                  <a:lnTo>
                    <a:pt x="971296" y="12700"/>
                  </a:lnTo>
                  <a:lnTo>
                    <a:pt x="971296" y="25400"/>
                  </a:lnTo>
                  <a:lnTo>
                    <a:pt x="971296" y="12700"/>
                  </a:lnTo>
                  <a:lnTo>
                    <a:pt x="971296" y="0"/>
                  </a:lnTo>
                  <a:cubicBezTo>
                    <a:pt x="1503426" y="0"/>
                    <a:pt x="1942592" y="305689"/>
                    <a:pt x="1942592" y="691134"/>
                  </a:cubicBezTo>
                  <a:lnTo>
                    <a:pt x="1929892" y="691134"/>
                  </a:lnTo>
                  <a:lnTo>
                    <a:pt x="1942592" y="691134"/>
                  </a:lnTo>
                  <a:cubicBezTo>
                    <a:pt x="1942592" y="1076579"/>
                    <a:pt x="1503299" y="1382268"/>
                    <a:pt x="971296" y="1382268"/>
                  </a:cubicBezTo>
                  <a:lnTo>
                    <a:pt x="971296" y="1369568"/>
                  </a:lnTo>
                  <a:lnTo>
                    <a:pt x="971296" y="1382268"/>
                  </a:lnTo>
                  <a:cubicBezTo>
                    <a:pt x="439293" y="1382268"/>
                    <a:pt x="0" y="1076579"/>
                    <a:pt x="0" y="691134"/>
                  </a:cubicBezTo>
                  <a:lnTo>
                    <a:pt x="12700" y="691134"/>
                  </a:lnTo>
                  <a:lnTo>
                    <a:pt x="25400" y="691134"/>
                  </a:lnTo>
                  <a:lnTo>
                    <a:pt x="12700" y="691134"/>
                  </a:lnTo>
                  <a:lnTo>
                    <a:pt x="0" y="691134"/>
                  </a:lnTo>
                  <a:moveTo>
                    <a:pt x="25400" y="691134"/>
                  </a:moveTo>
                  <a:cubicBezTo>
                    <a:pt x="25400" y="698119"/>
                    <a:pt x="19685" y="703834"/>
                    <a:pt x="12700" y="703834"/>
                  </a:cubicBezTo>
                  <a:cubicBezTo>
                    <a:pt x="5715" y="703834"/>
                    <a:pt x="0" y="698119"/>
                    <a:pt x="0" y="691134"/>
                  </a:cubicBezTo>
                  <a:cubicBezTo>
                    <a:pt x="0" y="684149"/>
                    <a:pt x="5715" y="678434"/>
                    <a:pt x="12700" y="678434"/>
                  </a:cubicBezTo>
                  <a:cubicBezTo>
                    <a:pt x="19685" y="678434"/>
                    <a:pt x="25400" y="684149"/>
                    <a:pt x="25400" y="691134"/>
                  </a:cubicBezTo>
                  <a:cubicBezTo>
                    <a:pt x="25400" y="1055116"/>
                    <a:pt x="444500" y="1356868"/>
                    <a:pt x="971296" y="1356868"/>
                  </a:cubicBezTo>
                  <a:cubicBezTo>
                    <a:pt x="1498092" y="1356868"/>
                    <a:pt x="1917192" y="1055116"/>
                    <a:pt x="1917192" y="691134"/>
                  </a:cubicBezTo>
                  <a:cubicBezTo>
                    <a:pt x="1917192" y="327152"/>
                    <a:pt x="1498219" y="25400"/>
                    <a:pt x="971296" y="25400"/>
                  </a:cubicBezTo>
                  <a:cubicBezTo>
                    <a:pt x="964311" y="25400"/>
                    <a:pt x="958596" y="19685"/>
                    <a:pt x="958596" y="12700"/>
                  </a:cubicBezTo>
                  <a:cubicBezTo>
                    <a:pt x="958596" y="5715"/>
                    <a:pt x="964311" y="0"/>
                    <a:pt x="971296" y="0"/>
                  </a:cubicBezTo>
                  <a:cubicBezTo>
                    <a:pt x="978281" y="0"/>
                    <a:pt x="983996" y="5715"/>
                    <a:pt x="983996" y="12700"/>
                  </a:cubicBezTo>
                  <a:cubicBezTo>
                    <a:pt x="983996" y="19685"/>
                    <a:pt x="978281" y="25400"/>
                    <a:pt x="971296" y="25400"/>
                  </a:cubicBezTo>
                  <a:cubicBezTo>
                    <a:pt x="444500" y="25400"/>
                    <a:pt x="25400" y="327152"/>
                    <a:pt x="25400" y="691134"/>
                  </a:cubicBezTo>
                  <a:close/>
                </a:path>
              </a:pathLst>
            </a:custGeom>
            <a:solidFill>
              <a:srgbClr val="70AD47"/>
            </a:solidFill>
          </p:spPr>
        </p:sp>
        <p:sp>
          <p:nvSpPr>
            <p:cNvPr name="TextBox 22" id="22"/>
            <p:cNvSpPr txBox="true"/>
            <p:nvPr/>
          </p:nvSpPr>
          <p:spPr>
            <a:xfrm>
              <a:off x="0" y="-38100"/>
              <a:ext cx="1942692" cy="1420352"/>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mobile</a:t>
              </a:r>
            </a:p>
          </p:txBody>
        </p:sp>
      </p:grpSp>
      <p:grpSp>
        <p:nvGrpSpPr>
          <p:cNvPr name="Group 23" id="23"/>
          <p:cNvGrpSpPr/>
          <p:nvPr/>
        </p:nvGrpSpPr>
        <p:grpSpPr>
          <a:xfrm rot="0">
            <a:off x="617278" y="-9524"/>
            <a:ext cx="1810983" cy="782280"/>
            <a:chOff x="0" y="0"/>
            <a:chExt cx="2414644" cy="1043040"/>
          </a:xfrm>
        </p:grpSpPr>
        <p:sp>
          <p:nvSpPr>
            <p:cNvPr name="Freeform 24" id="24"/>
            <p:cNvSpPr/>
            <p:nvPr/>
          </p:nvSpPr>
          <p:spPr>
            <a:xfrm flipH="false" flipV="false" rot="0">
              <a:off x="12700" y="12700"/>
              <a:ext cx="2389124" cy="1017524"/>
            </a:xfrm>
            <a:custGeom>
              <a:avLst/>
              <a:gdLst/>
              <a:ahLst/>
              <a:cxnLst/>
              <a:rect r="r" b="b" t="t" l="l"/>
              <a:pathLst>
                <a:path h="1017524" w="2389124">
                  <a:moveTo>
                    <a:pt x="0" y="508762"/>
                  </a:moveTo>
                  <a:cubicBezTo>
                    <a:pt x="0" y="227838"/>
                    <a:pt x="534797" y="0"/>
                    <a:pt x="1194562" y="0"/>
                  </a:cubicBezTo>
                  <a:cubicBezTo>
                    <a:pt x="1854327" y="0"/>
                    <a:pt x="2389124" y="227838"/>
                    <a:pt x="2389124" y="508762"/>
                  </a:cubicBezTo>
                  <a:cubicBezTo>
                    <a:pt x="2389124" y="789686"/>
                    <a:pt x="1854327" y="1017524"/>
                    <a:pt x="1194562" y="1017524"/>
                  </a:cubicBezTo>
                  <a:cubicBezTo>
                    <a:pt x="534797" y="1017524"/>
                    <a:pt x="0" y="789813"/>
                    <a:pt x="0" y="508762"/>
                  </a:cubicBezTo>
                  <a:close/>
                </a:path>
              </a:pathLst>
            </a:custGeom>
            <a:solidFill>
              <a:srgbClr val="FFFFFF"/>
            </a:solidFill>
          </p:spPr>
        </p:sp>
        <p:sp>
          <p:nvSpPr>
            <p:cNvPr name="Freeform 25" id="25"/>
            <p:cNvSpPr/>
            <p:nvPr/>
          </p:nvSpPr>
          <p:spPr>
            <a:xfrm flipH="false" flipV="false" rot="0">
              <a:off x="0" y="0"/>
              <a:ext cx="2414524" cy="1043051"/>
            </a:xfrm>
            <a:custGeom>
              <a:avLst/>
              <a:gdLst/>
              <a:ahLst/>
              <a:cxnLst/>
              <a:rect r="r" b="b" t="t" l="l"/>
              <a:pathLst>
                <a:path h="1043051" w="2414524">
                  <a:moveTo>
                    <a:pt x="0" y="521462"/>
                  </a:moveTo>
                  <a:cubicBezTo>
                    <a:pt x="0" y="226314"/>
                    <a:pt x="551180" y="0"/>
                    <a:pt x="1207262" y="0"/>
                  </a:cubicBezTo>
                  <a:cubicBezTo>
                    <a:pt x="1863344" y="0"/>
                    <a:pt x="2414524" y="226314"/>
                    <a:pt x="2414524" y="521462"/>
                  </a:cubicBezTo>
                  <a:lnTo>
                    <a:pt x="2401824" y="521462"/>
                  </a:lnTo>
                  <a:lnTo>
                    <a:pt x="2414524" y="521462"/>
                  </a:lnTo>
                  <a:cubicBezTo>
                    <a:pt x="2414524" y="816737"/>
                    <a:pt x="1863344" y="1042924"/>
                    <a:pt x="1207262" y="1042924"/>
                  </a:cubicBezTo>
                  <a:lnTo>
                    <a:pt x="1207262" y="1030224"/>
                  </a:lnTo>
                  <a:lnTo>
                    <a:pt x="1207262" y="1042924"/>
                  </a:lnTo>
                  <a:cubicBezTo>
                    <a:pt x="551180" y="1043051"/>
                    <a:pt x="0" y="816737"/>
                    <a:pt x="0" y="521462"/>
                  </a:cubicBezTo>
                  <a:lnTo>
                    <a:pt x="12700" y="521462"/>
                  </a:lnTo>
                  <a:lnTo>
                    <a:pt x="25400" y="521462"/>
                  </a:lnTo>
                  <a:lnTo>
                    <a:pt x="12700" y="521462"/>
                  </a:lnTo>
                  <a:lnTo>
                    <a:pt x="0" y="521462"/>
                  </a:lnTo>
                  <a:moveTo>
                    <a:pt x="25400" y="521462"/>
                  </a:moveTo>
                  <a:cubicBezTo>
                    <a:pt x="25400" y="528447"/>
                    <a:pt x="19685" y="534162"/>
                    <a:pt x="12700" y="534162"/>
                  </a:cubicBezTo>
                  <a:cubicBezTo>
                    <a:pt x="5715" y="534162"/>
                    <a:pt x="0" y="528447"/>
                    <a:pt x="0" y="521462"/>
                  </a:cubicBezTo>
                  <a:cubicBezTo>
                    <a:pt x="0" y="514477"/>
                    <a:pt x="5715" y="508762"/>
                    <a:pt x="12700" y="508762"/>
                  </a:cubicBezTo>
                  <a:cubicBezTo>
                    <a:pt x="19685" y="508762"/>
                    <a:pt x="25400" y="514477"/>
                    <a:pt x="25400" y="521462"/>
                  </a:cubicBezTo>
                  <a:cubicBezTo>
                    <a:pt x="25400" y="788289"/>
                    <a:pt x="543941" y="1017651"/>
                    <a:pt x="1207262" y="1017651"/>
                  </a:cubicBezTo>
                  <a:cubicBezTo>
                    <a:pt x="1870583" y="1017651"/>
                    <a:pt x="2389124" y="788289"/>
                    <a:pt x="2389124" y="521589"/>
                  </a:cubicBezTo>
                  <a:cubicBezTo>
                    <a:pt x="2389124" y="254889"/>
                    <a:pt x="1870710" y="25400"/>
                    <a:pt x="1207262" y="25400"/>
                  </a:cubicBezTo>
                  <a:lnTo>
                    <a:pt x="1207262" y="12700"/>
                  </a:lnTo>
                  <a:lnTo>
                    <a:pt x="1207262" y="25400"/>
                  </a:lnTo>
                  <a:cubicBezTo>
                    <a:pt x="543941" y="25400"/>
                    <a:pt x="25400" y="254762"/>
                    <a:pt x="25400" y="521462"/>
                  </a:cubicBezTo>
                  <a:close/>
                </a:path>
              </a:pathLst>
            </a:custGeom>
            <a:solidFill>
              <a:srgbClr val="70AD47"/>
            </a:solidFill>
          </p:spPr>
        </p:sp>
        <p:sp>
          <p:nvSpPr>
            <p:cNvPr name="TextBox 26" id="26"/>
            <p:cNvSpPr txBox="true"/>
            <p:nvPr/>
          </p:nvSpPr>
          <p:spPr>
            <a:xfrm>
              <a:off x="0" y="-38100"/>
              <a:ext cx="2414644" cy="1081140"/>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User_name</a:t>
              </a:r>
            </a:p>
          </p:txBody>
        </p:sp>
      </p:grpSp>
      <p:sp>
        <p:nvSpPr>
          <p:cNvPr name="AutoShape 27" id="27"/>
          <p:cNvSpPr/>
          <p:nvPr/>
        </p:nvSpPr>
        <p:spPr>
          <a:xfrm rot="-5343288">
            <a:off x="8847918" y="1345789"/>
            <a:ext cx="577418" cy="0"/>
          </a:xfrm>
          <a:prstGeom prst="line">
            <a:avLst/>
          </a:prstGeom>
          <a:ln cap="rnd" w="9525">
            <a:solidFill>
              <a:srgbClr val="000000"/>
            </a:solidFill>
            <a:prstDash val="solid"/>
            <a:headEnd type="none" len="sm" w="sm"/>
            <a:tailEnd type="triangle" len="med" w="lg"/>
          </a:ln>
        </p:spPr>
      </p:sp>
      <p:sp>
        <p:nvSpPr>
          <p:cNvPr name="AutoShape 28" id="28"/>
          <p:cNvSpPr/>
          <p:nvPr/>
        </p:nvSpPr>
        <p:spPr>
          <a:xfrm rot="50407">
            <a:off x="3903498" y="2016841"/>
            <a:ext cx="1152650" cy="0"/>
          </a:xfrm>
          <a:prstGeom prst="line">
            <a:avLst/>
          </a:prstGeom>
          <a:ln cap="rnd" w="9525">
            <a:solidFill>
              <a:srgbClr val="000000"/>
            </a:solidFill>
            <a:prstDash val="solid"/>
            <a:headEnd type="none" len="sm" w="sm"/>
            <a:tailEnd type="none" len="sm" w="sm"/>
          </a:ln>
        </p:spPr>
      </p:sp>
      <p:grpSp>
        <p:nvGrpSpPr>
          <p:cNvPr name="Group 29" id="29"/>
          <p:cNvGrpSpPr/>
          <p:nvPr/>
        </p:nvGrpSpPr>
        <p:grpSpPr>
          <a:xfrm rot="0">
            <a:off x="5056549" y="1417380"/>
            <a:ext cx="1523384" cy="1191546"/>
            <a:chOff x="0" y="0"/>
            <a:chExt cx="2031178" cy="1588728"/>
          </a:xfrm>
        </p:grpSpPr>
        <p:sp>
          <p:nvSpPr>
            <p:cNvPr name="Freeform 30" id="30"/>
            <p:cNvSpPr/>
            <p:nvPr/>
          </p:nvSpPr>
          <p:spPr>
            <a:xfrm flipH="false" flipV="false" rot="0">
              <a:off x="12700" y="12700"/>
              <a:ext cx="2005838" cy="1563370"/>
            </a:xfrm>
            <a:custGeom>
              <a:avLst/>
              <a:gdLst/>
              <a:ahLst/>
              <a:cxnLst/>
              <a:rect r="r" b="b" t="t" l="l"/>
              <a:pathLst>
                <a:path h="1563370" w="2005838">
                  <a:moveTo>
                    <a:pt x="0" y="781685"/>
                  </a:moveTo>
                  <a:lnTo>
                    <a:pt x="1002919" y="0"/>
                  </a:lnTo>
                  <a:lnTo>
                    <a:pt x="2005838" y="781685"/>
                  </a:lnTo>
                  <a:lnTo>
                    <a:pt x="1002919" y="1563370"/>
                  </a:lnTo>
                  <a:close/>
                </a:path>
              </a:pathLst>
            </a:custGeom>
            <a:solidFill>
              <a:srgbClr val="FFFFFF"/>
            </a:solidFill>
          </p:spPr>
        </p:sp>
        <p:sp>
          <p:nvSpPr>
            <p:cNvPr name="Freeform 31" id="31"/>
            <p:cNvSpPr/>
            <p:nvPr/>
          </p:nvSpPr>
          <p:spPr>
            <a:xfrm flipH="false" flipV="false" rot="0">
              <a:off x="0" y="-889"/>
              <a:ext cx="2031238" cy="1590548"/>
            </a:xfrm>
            <a:custGeom>
              <a:avLst/>
              <a:gdLst/>
              <a:ahLst/>
              <a:cxnLst/>
              <a:rect r="r" b="b" t="t" l="l"/>
              <a:pathLst>
                <a:path h="1590548" w="2031238">
                  <a:moveTo>
                    <a:pt x="4953" y="785241"/>
                  </a:moveTo>
                  <a:lnTo>
                    <a:pt x="1007745" y="3556"/>
                  </a:lnTo>
                  <a:cubicBezTo>
                    <a:pt x="1012317" y="0"/>
                    <a:pt x="1018794" y="0"/>
                    <a:pt x="1023366" y="3556"/>
                  </a:cubicBezTo>
                  <a:lnTo>
                    <a:pt x="2026285" y="785241"/>
                  </a:lnTo>
                  <a:cubicBezTo>
                    <a:pt x="2029333" y="787654"/>
                    <a:pt x="2031238" y="791337"/>
                    <a:pt x="2031238" y="795274"/>
                  </a:cubicBezTo>
                  <a:cubicBezTo>
                    <a:pt x="2031238" y="799211"/>
                    <a:pt x="2029460" y="802894"/>
                    <a:pt x="2026285" y="805307"/>
                  </a:cubicBezTo>
                  <a:lnTo>
                    <a:pt x="1023366" y="1586992"/>
                  </a:lnTo>
                  <a:cubicBezTo>
                    <a:pt x="1018794" y="1590548"/>
                    <a:pt x="1012317" y="1590548"/>
                    <a:pt x="1007745" y="1586992"/>
                  </a:cubicBezTo>
                  <a:lnTo>
                    <a:pt x="4953" y="805307"/>
                  </a:lnTo>
                  <a:cubicBezTo>
                    <a:pt x="1905" y="802894"/>
                    <a:pt x="0" y="799211"/>
                    <a:pt x="0" y="795274"/>
                  </a:cubicBezTo>
                  <a:cubicBezTo>
                    <a:pt x="0" y="791337"/>
                    <a:pt x="1778" y="787654"/>
                    <a:pt x="4953" y="785241"/>
                  </a:cubicBezTo>
                  <a:moveTo>
                    <a:pt x="20574" y="805307"/>
                  </a:moveTo>
                  <a:lnTo>
                    <a:pt x="12700" y="795274"/>
                  </a:lnTo>
                  <a:lnTo>
                    <a:pt x="20447" y="785241"/>
                  </a:lnTo>
                  <a:lnTo>
                    <a:pt x="1023366" y="1566926"/>
                  </a:lnTo>
                  <a:lnTo>
                    <a:pt x="1015619" y="1576959"/>
                  </a:lnTo>
                  <a:lnTo>
                    <a:pt x="1007872" y="1566926"/>
                  </a:lnTo>
                  <a:lnTo>
                    <a:pt x="2010791" y="785241"/>
                  </a:lnTo>
                  <a:lnTo>
                    <a:pt x="2018538" y="795274"/>
                  </a:lnTo>
                  <a:lnTo>
                    <a:pt x="2010791" y="805307"/>
                  </a:lnTo>
                  <a:lnTo>
                    <a:pt x="1007745" y="23622"/>
                  </a:lnTo>
                  <a:lnTo>
                    <a:pt x="1015619" y="13589"/>
                  </a:lnTo>
                  <a:lnTo>
                    <a:pt x="1023366" y="23622"/>
                  </a:lnTo>
                  <a:lnTo>
                    <a:pt x="20447" y="805307"/>
                  </a:lnTo>
                  <a:close/>
                </a:path>
              </a:pathLst>
            </a:custGeom>
            <a:solidFill>
              <a:srgbClr val="70AD47"/>
            </a:solidFill>
          </p:spPr>
        </p:sp>
        <p:sp>
          <p:nvSpPr>
            <p:cNvPr name="TextBox 32" id="32"/>
            <p:cNvSpPr txBox="true"/>
            <p:nvPr/>
          </p:nvSpPr>
          <p:spPr>
            <a:xfrm>
              <a:off x="0" y="-38100"/>
              <a:ext cx="2031178" cy="1626828"/>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leads to</a:t>
              </a:r>
            </a:p>
          </p:txBody>
        </p:sp>
      </p:grpSp>
      <p:sp>
        <p:nvSpPr>
          <p:cNvPr name="AutoShape 33" id="33"/>
          <p:cNvSpPr/>
          <p:nvPr/>
        </p:nvSpPr>
        <p:spPr>
          <a:xfrm>
            <a:off x="6565612" y="2013153"/>
            <a:ext cx="673269" cy="9525"/>
          </a:xfrm>
          <a:prstGeom prst="line">
            <a:avLst/>
          </a:prstGeom>
          <a:ln cap="rnd" w="9525">
            <a:solidFill>
              <a:srgbClr val="000000"/>
            </a:solidFill>
            <a:prstDash val="solid"/>
            <a:headEnd type="none" len="sm" w="sm"/>
            <a:tailEnd type="triangle" len="med" w="lg"/>
          </a:ln>
        </p:spPr>
      </p:sp>
      <p:grpSp>
        <p:nvGrpSpPr>
          <p:cNvPr name="Group 34" id="34"/>
          <p:cNvGrpSpPr/>
          <p:nvPr/>
        </p:nvGrpSpPr>
        <p:grpSpPr>
          <a:xfrm rot="0">
            <a:off x="7224560" y="1620171"/>
            <a:ext cx="1987965" cy="903953"/>
            <a:chOff x="0" y="0"/>
            <a:chExt cx="2650620" cy="1205270"/>
          </a:xfrm>
        </p:grpSpPr>
        <p:sp>
          <p:nvSpPr>
            <p:cNvPr name="Freeform 35" id="35"/>
            <p:cNvSpPr/>
            <p:nvPr/>
          </p:nvSpPr>
          <p:spPr>
            <a:xfrm flipH="false" flipV="false" rot="0">
              <a:off x="12700" y="12700"/>
              <a:ext cx="2625217" cy="1179830"/>
            </a:xfrm>
            <a:custGeom>
              <a:avLst/>
              <a:gdLst/>
              <a:ahLst/>
              <a:cxnLst/>
              <a:rect r="r" b="b" t="t" l="l"/>
              <a:pathLst>
                <a:path h="1179830" w="2625217">
                  <a:moveTo>
                    <a:pt x="0" y="0"/>
                  </a:moveTo>
                  <a:lnTo>
                    <a:pt x="2625217" y="0"/>
                  </a:lnTo>
                  <a:lnTo>
                    <a:pt x="2625217" y="1179830"/>
                  </a:lnTo>
                  <a:lnTo>
                    <a:pt x="0" y="1179830"/>
                  </a:lnTo>
                  <a:close/>
                </a:path>
              </a:pathLst>
            </a:custGeom>
            <a:solidFill>
              <a:srgbClr val="FFFFFF"/>
            </a:solidFill>
          </p:spPr>
        </p:sp>
        <p:sp>
          <p:nvSpPr>
            <p:cNvPr name="Freeform 36" id="36"/>
            <p:cNvSpPr/>
            <p:nvPr/>
          </p:nvSpPr>
          <p:spPr>
            <a:xfrm flipH="false" flipV="false" rot="0">
              <a:off x="0" y="0"/>
              <a:ext cx="2650617" cy="1205230"/>
            </a:xfrm>
            <a:custGeom>
              <a:avLst/>
              <a:gdLst/>
              <a:ahLst/>
              <a:cxnLst/>
              <a:rect r="r" b="b" t="t" l="l"/>
              <a:pathLst>
                <a:path h="1205230" w="2650617">
                  <a:moveTo>
                    <a:pt x="12700" y="0"/>
                  </a:moveTo>
                  <a:lnTo>
                    <a:pt x="2637917" y="0"/>
                  </a:lnTo>
                  <a:cubicBezTo>
                    <a:pt x="2644902" y="0"/>
                    <a:pt x="2650617" y="5715"/>
                    <a:pt x="2650617" y="12700"/>
                  </a:cubicBezTo>
                  <a:lnTo>
                    <a:pt x="2650617" y="1192530"/>
                  </a:lnTo>
                  <a:cubicBezTo>
                    <a:pt x="2650617" y="1199515"/>
                    <a:pt x="2644902" y="1205230"/>
                    <a:pt x="2637917" y="1205230"/>
                  </a:cubicBezTo>
                  <a:lnTo>
                    <a:pt x="12700" y="1205230"/>
                  </a:lnTo>
                  <a:cubicBezTo>
                    <a:pt x="5715" y="1205230"/>
                    <a:pt x="0" y="1199515"/>
                    <a:pt x="0" y="1192530"/>
                  </a:cubicBezTo>
                  <a:lnTo>
                    <a:pt x="0" y="12700"/>
                  </a:lnTo>
                  <a:cubicBezTo>
                    <a:pt x="0" y="5715"/>
                    <a:pt x="5715" y="0"/>
                    <a:pt x="12700" y="0"/>
                  </a:cubicBezTo>
                  <a:moveTo>
                    <a:pt x="12700" y="25400"/>
                  </a:moveTo>
                  <a:lnTo>
                    <a:pt x="12700" y="12700"/>
                  </a:lnTo>
                  <a:lnTo>
                    <a:pt x="25400" y="12700"/>
                  </a:lnTo>
                  <a:lnTo>
                    <a:pt x="25400" y="1192530"/>
                  </a:lnTo>
                  <a:lnTo>
                    <a:pt x="12700" y="1192530"/>
                  </a:lnTo>
                  <a:lnTo>
                    <a:pt x="12700" y="1179830"/>
                  </a:lnTo>
                  <a:lnTo>
                    <a:pt x="2637917" y="1179830"/>
                  </a:lnTo>
                  <a:lnTo>
                    <a:pt x="2637917" y="1192530"/>
                  </a:lnTo>
                  <a:lnTo>
                    <a:pt x="2625217" y="1192530"/>
                  </a:lnTo>
                  <a:lnTo>
                    <a:pt x="2625217" y="12700"/>
                  </a:lnTo>
                  <a:lnTo>
                    <a:pt x="2637917" y="12700"/>
                  </a:lnTo>
                  <a:lnTo>
                    <a:pt x="2637917" y="25400"/>
                  </a:lnTo>
                  <a:lnTo>
                    <a:pt x="12700" y="25400"/>
                  </a:lnTo>
                  <a:close/>
                </a:path>
              </a:pathLst>
            </a:custGeom>
            <a:solidFill>
              <a:srgbClr val="70AD47"/>
            </a:solidFill>
          </p:spPr>
        </p:sp>
        <p:sp>
          <p:nvSpPr>
            <p:cNvPr name="TextBox 37" id="37"/>
            <p:cNvSpPr txBox="true"/>
            <p:nvPr/>
          </p:nvSpPr>
          <p:spPr>
            <a:xfrm>
              <a:off x="0" y="-38100"/>
              <a:ext cx="2650620" cy="1243370"/>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Department details</a:t>
              </a:r>
            </a:p>
          </p:txBody>
        </p:sp>
      </p:grpSp>
      <p:sp>
        <p:nvSpPr>
          <p:cNvPr name="AutoShape 38" id="38"/>
          <p:cNvSpPr/>
          <p:nvPr/>
        </p:nvSpPr>
        <p:spPr>
          <a:xfrm rot="35115">
            <a:off x="2612472" y="591662"/>
            <a:ext cx="932510" cy="0"/>
          </a:xfrm>
          <a:prstGeom prst="line">
            <a:avLst/>
          </a:prstGeom>
          <a:ln cap="rnd" w="9525">
            <a:solidFill>
              <a:srgbClr val="000000"/>
            </a:solidFill>
            <a:prstDash val="solid"/>
            <a:headEnd type="none" len="sm" w="sm"/>
            <a:tailEnd type="none" len="sm" w="sm"/>
          </a:ln>
        </p:spPr>
      </p:sp>
      <p:sp>
        <p:nvSpPr>
          <p:cNvPr name="AutoShape 39" id="39"/>
          <p:cNvSpPr/>
          <p:nvPr/>
        </p:nvSpPr>
        <p:spPr>
          <a:xfrm rot="-5340635">
            <a:off x="7540840" y="1358694"/>
            <a:ext cx="551611" cy="0"/>
          </a:xfrm>
          <a:prstGeom prst="line">
            <a:avLst/>
          </a:prstGeom>
          <a:ln cap="rnd" w="9525">
            <a:solidFill>
              <a:srgbClr val="000000"/>
            </a:solidFill>
            <a:prstDash val="solid"/>
            <a:headEnd type="none" len="sm" w="sm"/>
            <a:tailEnd type="triangle" len="med" w="lg"/>
          </a:ln>
        </p:spPr>
      </p:sp>
      <p:sp>
        <p:nvSpPr>
          <p:cNvPr name="AutoShape 40" id="40"/>
          <p:cNvSpPr/>
          <p:nvPr/>
        </p:nvSpPr>
        <p:spPr>
          <a:xfrm rot="5344003">
            <a:off x="7303025" y="2824316"/>
            <a:ext cx="584790" cy="0"/>
          </a:xfrm>
          <a:prstGeom prst="line">
            <a:avLst/>
          </a:prstGeom>
          <a:ln cap="rnd" w="9525">
            <a:solidFill>
              <a:srgbClr val="000000"/>
            </a:solidFill>
            <a:prstDash val="solid"/>
            <a:headEnd type="none" len="sm" w="sm"/>
            <a:tailEnd type="triangle" len="med" w="lg"/>
          </a:ln>
        </p:spPr>
      </p:sp>
      <p:grpSp>
        <p:nvGrpSpPr>
          <p:cNvPr name="Group 41" id="41"/>
          <p:cNvGrpSpPr/>
          <p:nvPr/>
        </p:nvGrpSpPr>
        <p:grpSpPr>
          <a:xfrm rot="0">
            <a:off x="6818979" y="178518"/>
            <a:ext cx="1670868" cy="974000"/>
            <a:chOff x="0" y="0"/>
            <a:chExt cx="2227824" cy="1298666"/>
          </a:xfrm>
        </p:grpSpPr>
        <p:sp>
          <p:nvSpPr>
            <p:cNvPr name="Freeform 42" id="42"/>
            <p:cNvSpPr/>
            <p:nvPr/>
          </p:nvSpPr>
          <p:spPr>
            <a:xfrm flipH="false" flipV="false" rot="0">
              <a:off x="12700" y="12700"/>
              <a:ext cx="2202434" cy="1273302"/>
            </a:xfrm>
            <a:custGeom>
              <a:avLst/>
              <a:gdLst/>
              <a:ahLst/>
              <a:cxnLst/>
              <a:rect r="r" b="b" t="t" l="l"/>
              <a:pathLst>
                <a:path h="1273302" w="2202434">
                  <a:moveTo>
                    <a:pt x="0" y="636651"/>
                  </a:moveTo>
                  <a:cubicBezTo>
                    <a:pt x="0" y="284988"/>
                    <a:pt x="493014" y="0"/>
                    <a:pt x="1101217" y="0"/>
                  </a:cubicBezTo>
                  <a:cubicBezTo>
                    <a:pt x="1709420" y="0"/>
                    <a:pt x="2202434" y="284988"/>
                    <a:pt x="2202434" y="636651"/>
                  </a:cubicBezTo>
                  <a:cubicBezTo>
                    <a:pt x="2202434" y="988314"/>
                    <a:pt x="1709420" y="1273302"/>
                    <a:pt x="1101217" y="1273302"/>
                  </a:cubicBezTo>
                  <a:cubicBezTo>
                    <a:pt x="493014" y="1273302"/>
                    <a:pt x="0" y="988187"/>
                    <a:pt x="0" y="636651"/>
                  </a:cubicBezTo>
                  <a:close/>
                </a:path>
              </a:pathLst>
            </a:custGeom>
            <a:solidFill>
              <a:srgbClr val="FFFFFF"/>
            </a:solidFill>
          </p:spPr>
        </p:sp>
        <p:sp>
          <p:nvSpPr>
            <p:cNvPr name="Freeform 43" id="43"/>
            <p:cNvSpPr/>
            <p:nvPr/>
          </p:nvSpPr>
          <p:spPr>
            <a:xfrm flipH="false" flipV="false" rot="0">
              <a:off x="0" y="0"/>
              <a:ext cx="2227834" cy="1298702"/>
            </a:xfrm>
            <a:custGeom>
              <a:avLst/>
              <a:gdLst/>
              <a:ahLst/>
              <a:cxnLst/>
              <a:rect r="r" b="b" t="t" l="l"/>
              <a:pathLst>
                <a:path h="1298702" w="2227834">
                  <a:moveTo>
                    <a:pt x="0" y="649351"/>
                  </a:moveTo>
                  <a:cubicBezTo>
                    <a:pt x="0" y="285369"/>
                    <a:pt x="505714" y="0"/>
                    <a:pt x="1113917" y="0"/>
                  </a:cubicBezTo>
                  <a:cubicBezTo>
                    <a:pt x="1722120" y="0"/>
                    <a:pt x="2227834" y="285369"/>
                    <a:pt x="2227834" y="649351"/>
                  </a:cubicBezTo>
                  <a:lnTo>
                    <a:pt x="2215134" y="649351"/>
                  </a:lnTo>
                  <a:lnTo>
                    <a:pt x="2227834" y="649351"/>
                  </a:lnTo>
                  <a:cubicBezTo>
                    <a:pt x="2227834" y="1013333"/>
                    <a:pt x="1722120" y="1298702"/>
                    <a:pt x="1113917" y="1298702"/>
                  </a:cubicBezTo>
                  <a:lnTo>
                    <a:pt x="1113917" y="1286002"/>
                  </a:lnTo>
                  <a:lnTo>
                    <a:pt x="1113917" y="1298702"/>
                  </a:lnTo>
                  <a:cubicBezTo>
                    <a:pt x="505714" y="1298702"/>
                    <a:pt x="0" y="1013333"/>
                    <a:pt x="0" y="649351"/>
                  </a:cubicBezTo>
                  <a:lnTo>
                    <a:pt x="12700" y="649351"/>
                  </a:lnTo>
                  <a:lnTo>
                    <a:pt x="25400" y="649351"/>
                  </a:lnTo>
                  <a:lnTo>
                    <a:pt x="12700" y="649351"/>
                  </a:lnTo>
                  <a:lnTo>
                    <a:pt x="0" y="649351"/>
                  </a:lnTo>
                  <a:moveTo>
                    <a:pt x="25400" y="649351"/>
                  </a:moveTo>
                  <a:cubicBezTo>
                    <a:pt x="25400" y="656336"/>
                    <a:pt x="19685" y="662051"/>
                    <a:pt x="12700" y="662051"/>
                  </a:cubicBezTo>
                  <a:cubicBezTo>
                    <a:pt x="5715" y="662051"/>
                    <a:pt x="0" y="656336"/>
                    <a:pt x="0" y="649351"/>
                  </a:cubicBezTo>
                  <a:cubicBezTo>
                    <a:pt x="0" y="642366"/>
                    <a:pt x="5715" y="636651"/>
                    <a:pt x="12700" y="636651"/>
                  </a:cubicBezTo>
                  <a:cubicBezTo>
                    <a:pt x="19685" y="636651"/>
                    <a:pt x="25400" y="642366"/>
                    <a:pt x="25400" y="649351"/>
                  </a:cubicBezTo>
                  <a:cubicBezTo>
                    <a:pt x="25400" y="988568"/>
                    <a:pt x="505714" y="1273302"/>
                    <a:pt x="1113917" y="1273302"/>
                  </a:cubicBezTo>
                  <a:cubicBezTo>
                    <a:pt x="1722120" y="1273302"/>
                    <a:pt x="2202434" y="988568"/>
                    <a:pt x="2202434" y="649351"/>
                  </a:cubicBezTo>
                  <a:cubicBezTo>
                    <a:pt x="2202434" y="310134"/>
                    <a:pt x="1722120" y="25400"/>
                    <a:pt x="1113917" y="25400"/>
                  </a:cubicBezTo>
                  <a:lnTo>
                    <a:pt x="1113917" y="12700"/>
                  </a:lnTo>
                  <a:lnTo>
                    <a:pt x="1113917" y="25400"/>
                  </a:lnTo>
                  <a:cubicBezTo>
                    <a:pt x="505714" y="25400"/>
                    <a:pt x="25400" y="310134"/>
                    <a:pt x="25400" y="649351"/>
                  </a:cubicBezTo>
                  <a:close/>
                </a:path>
              </a:pathLst>
            </a:custGeom>
            <a:solidFill>
              <a:srgbClr val="70AD47"/>
            </a:solidFill>
          </p:spPr>
        </p:sp>
        <p:sp>
          <p:nvSpPr>
            <p:cNvPr name="TextBox 44" id="44"/>
            <p:cNvSpPr txBox="true"/>
            <p:nvPr/>
          </p:nvSpPr>
          <p:spPr>
            <a:xfrm>
              <a:off x="0" y="-38100"/>
              <a:ext cx="2227824" cy="1336766"/>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Dept_id</a:t>
              </a:r>
            </a:p>
          </p:txBody>
        </p:sp>
      </p:grpSp>
      <p:grpSp>
        <p:nvGrpSpPr>
          <p:cNvPr name="Group 45" id="45"/>
          <p:cNvGrpSpPr/>
          <p:nvPr/>
        </p:nvGrpSpPr>
        <p:grpSpPr>
          <a:xfrm rot="0">
            <a:off x="8625656" y="340749"/>
            <a:ext cx="1479133" cy="778590"/>
            <a:chOff x="0" y="0"/>
            <a:chExt cx="1972178" cy="1038120"/>
          </a:xfrm>
        </p:grpSpPr>
        <p:sp>
          <p:nvSpPr>
            <p:cNvPr name="Freeform 46" id="46"/>
            <p:cNvSpPr/>
            <p:nvPr/>
          </p:nvSpPr>
          <p:spPr>
            <a:xfrm flipH="false" flipV="false" rot="0">
              <a:off x="12700" y="12700"/>
              <a:ext cx="1946656" cy="1012698"/>
            </a:xfrm>
            <a:custGeom>
              <a:avLst/>
              <a:gdLst/>
              <a:ahLst/>
              <a:cxnLst/>
              <a:rect r="r" b="b" t="t" l="l"/>
              <a:pathLst>
                <a:path h="1012698" w="1946656">
                  <a:moveTo>
                    <a:pt x="0" y="506349"/>
                  </a:moveTo>
                  <a:cubicBezTo>
                    <a:pt x="0" y="226695"/>
                    <a:pt x="435864" y="0"/>
                    <a:pt x="973328" y="0"/>
                  </a:cubicBezTo>
                  <a:cubicBezTo>
                    <a:pt x="1510792" y="0"/>
                    <a:pt x="1946656" y="226695"/>
                    <a:pt x="1946656" y="506349"/>
                  </a:cubicBezTo>
                  <a:cubicBezTo>
                    <a:pt x="1946656" y="786003"/>
                    <a:pt x="1510792" y="1012698"/>
                    <a:pt x="973328" y="1012698"/>
                  </a:cubicBezTo>
                  <a:cubicBezTo>
                    <a:pt x="435864" y="1012698"/>
                    <a:pt x="0" y="786003"/>
                    <a:pt x="0" y="506349"/>
                  </a:cubicBezTo>
                  <a:close/>
                </a:path>
              </a:pathLst>
            </a:custGeom>
            <a:solidFill>
              <a:srgbClr val="FFFFFF"/>
            </a:solidFill>
          </p:spPr>
        </p:sp>
        <p:sp>
          <p:nvSpPr>
            <p:cNvPr name="Freeform 47" id="47"/>
            <p:cNvSpPr/>
            <p:nvPr/>
          </p:nvSpPr>
          <p:spPr>
            <a:xfrm flipH="false" flipV="false" rot="0">
              <a:off x="0" y="0"/>
              <a:ext cx="1972056" cy="1038098"/>
            </a:xfrm>
            <a:custGeom>
              <a:avLst/>
              <a:gdLst/>
              <a:ahLst/>
              <a:cxnLst/>
              <a:rect r="r" b="b" t="t" l="l"/>
              <a:pathLst>
                <a:path h="1038098" w="1972056">
                  <a:moveTo>
                    <a:pt x="0" y="519049"/>
                  </a:moveTo>
                  <a:cubicBezTo>
                    <a:pt x="0" y="226314"/>
                    <a:pt x="449834" y="0"/>
                    <a:pt x="986028" y="0"/>
                  </a:cubicBezTo>
                  <a:lnTo>
                    <a:pt x="986028" y="12700"/>
                  </a:lnTo>
                  <a:lnTo>
                    <a:pt x="986028" y="25400"/>
                  </a:lnTo>
                  <a:lnTo>
                    <a:pt x="986028" y="12700"/>
                  </a:lnTo>
                  <a:lnTo>
                    <a:pt x="986028" y="0"/>
                  </a:lnTo>
                  <a:cubicBezTo>
                    <a:pt x="1522349" y="0"/>
                    <a:pt x="1972056" y="226314"/>
                    <a:pt x="1972056" y="519049"/>
                  </a:cubicBezTo>
                  <a:lnTo>
                    <a:pt x="1959356" y="519049"/>
                  </a:lnTo>
                  <a:lnTo>
                    <a:pt x="1972056" y="519049"/>
                  </a:lnTo>
                  <a:cubicBezTo>
                    <a:pt x="1972056" y="811784"/>
                    <a:pt x="1522222" y="1038098"/>
                    <a:pt x="986028" y="1038098"/>
                  </a:cubicBezTo>
                  <a:lnTo>
                    <a:pt x="986028" y="1025398"/>
                  </a:lnTo>
                  <a:lnTo>
                    <a:pt x="986028" y="1038098"/>
                  </a:lnTo>
                  <a:cubicBezTo>
                    <a:pt x="449834" y="1038098"/>
                    <a:pt x="0" y="811784"/>
                    <a:pt x="0" y="519049"/>
                  </a:cubicBezTo>
                  <a:lnTo>
                    <a:pt x="12700" y="519049"/>
                  </a:lnTo>
                  <a:lnTo>
                    <a:pt x="25400" y="519049"/>
                  </a:lnTo>
                  <a:lnTo>
                    <a:pt x="12700" y="519049"/>
                  </a:lnTo>
                  <a:lnTo>
                    <a:pt x="0" y="519049"/>
                  </a:lnTo>
                  <a:moveTo>
                    <a:pt x="25400" y="519049"/>
                  </a:moveTo>
                  <a:cubicBezTo>
                    <a:pt x="25400" y="526034"/>
                    <a:pt x="19685" y="531749"/>
                    <a:pt x="12700" y="531749"/>
                  </a:cubicBezTo>
                  <a:cubicBezTo>
                    <a:pt x="5715" y="531749"/>
                    <a:pt x="0" y="526034"/>
                    <a:pt x="0" y="519049"/>
                  </a:cubicBezTo>
                  <a:cubicBezTo>
                    <a:pt x="0" y="512064"/>
                    <a:pt x="5715" y="506349"/>
                    <a:pt x="12700" y="506349"/>
                  </a:cubicBezTo>
                  <a:cubicBezTo>
                    <a:pt x="19685" y="506349"/>
                    <a:pt x="25400" y="512064"/>
                    <a:pt x="25400" y="519049"/>
                  </a:cubicBezTo>
                  <a:cubicBezTo>
                    <a:pt x="25400" y="785622"/>
                    <a:pt x="447167" y="1012698"/>
                    <a:pt x="986028" y="1012698"/>
                  </a:cubicBezTo>
                  <a:cubicBezTo>
                    <a:pt x="1524889" y="1012698"/>
                    <a:pt x="1946656" y="785622"/>
                    <a:pt x="1946656" y="519049"/>
                  </a:cubicBezTo>
                  <a:cubicBezTo>
                    <a:pt x="1946656" y="252476"/>
                    <a:pt x="1525016" y="25400"/>
                    <a:pt x="986028" y="25400"/>
                  </a:cubicBezTo>
                  <a:cubicBezTo>
                    <a:pt x="979043" y="25400"/>
                    <a:pt x="973328" y="19685"/>
                    <a:pt x="973328" y="12700"/>
                  </a:cubicBezTo>
                  <a:cubicBezTo>
                    <a:pt x="973328" y="5715"/>
                    <a:pt x="979043" y="0"/>
                    <a:pt x="986028" y="0"/>
                  </a:cubicBezTo>
                  <a:cubicBezTo>
                    <a:pt x="993013" y="0"/>
                    <a:pt x="998728" y="5715"/>
                    <a:pt x="998728" y="12700"/>
                  </a:cubicBezTo>
                  <a:cubicBezTo>
                    <a:pt x="998728" y="19685"/>
                    <a:pt x="993013" y="25400"/>
                    <a:pt x="986028" y="25400"/>
                  </a:cubicBezTo>
                  <a:cubicBezTo>
                    <a:pt x="447167" y="25400"/>
                    <a:pt x="25400" y="252476"/>
                    <a:pt x="25400" y="519049"/>
                  </a:cubicBezTo>
                  <a:close/>
                </a:path>
              </a:pathLst>
            </a:custGeom>
            <a:solidFill>
              <a:srgbClr val="70AD47"/>
            </a:solidFill>
          </p:spPr>
        </p:sp>
        <p:sp>
          <p:nvSpPr>
            <p:cNvPr name="TextBox 48" id="48"/>
            <p:cNvSpPr txBox="true"/>
            <p:nvPr/>
          </p:nvSpPr>
          <p:spPr>
            <a:xfrm>
              <a:off x="0" y="-38100"/>
              <a:ext cx="1972178" cy="1076220"/>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department</a:t>
              </a:r>
            </a:p>
          </p:txBody>
        </p:sp>
      </p:grpSp>
      <p:grpSp>
        <p:nvGrpSpPr>
          <p:cNvPr name="Group 49" id="49"/>
          <p:cNvGrpSpPr/>
          <p:nvPr/>
        </p:nvGrpSpPr>
        <p:grpSpPr>
          <a:xfrm rot="0">
            <a:off x="6616190" y="3106070"/>
            <a:ext cx="1873652" cy="1003502"/>
            <a:chOff x="0" y="0"/>
            <a:chExt cx="2498202" cy="1338002"/>
          </a:xfrm>
        </p:grpSpPr>
        <p:sp>
          <p:nvSpPr>
            <p:cNvPr name="Freeform 50" id="50"/>
            <p:cNvSpPr/>
            <p:nvPr/>
          </p:nvSpPr>
          <p:spPr>
            <a:xfrm flipH="false" flipV="false" rot="0">
              <a:off x="12700" y="12700"/>
              <a:ext cx="2472690" cy="1312672"/>
            </a:xfrm>
            <a:custGeom>
              <a:avLst/>
              <a:gdLst/>
              <a:ahLst/>
              <a:cxnLst/>
              <a:rect r="r" b="b" t="t" l="l"/>
              <a:pathLst>
                <a:path h="1312672" w="2472690">
                  <a:moveTo>
                    <a:pt x="0" y="656336"/>
                  </a:moveTo>
                  <a:cubicBezTo>
                    <a:pt x="0" y="293878"/>
                    <a:pt x="553593" y="0"/>
                    <a:pt x="1236345" y="0"/>
                  </a:cubicBezTo>
                  <a:cubicBezTo>
                    <a:pt x="1919097" y="0"/>
                    <a:pt x="2472690" y="293878"/>
                    <a:pt x="2472690" y="656336"/>
                  </a:cubicBezTo>
                  <a:cubicBezTo>
                    <a:pt x="2472690" y="1018794"/>
                    <a:pt x="1919097" y="1312672"/>
                    <a:pt x="1236345" y="1312672"/>
                  </a:cubicBezTo>
                  <a:cubicBezTo>
                    <a:pt x="553593" y="1312672"/>
                    <a:pt x="0" y="1018794"/>
                    <a:pt x="0" y="656336"/>
                  </a:cubicBezTo>
                  <a:close/>
                </a:path>
              </a:pathLst>
            </a:custGeom>
            <a:solidFill>
              <a:srgbClr val="FFFFFF"/>
            </a:solidFill>
          </p:spPr>
        </p:sp>
        <p:sp>
          <p:nvSpPr>
            <p:cNvPr name="Freeform 51" id="51"/>
            <p:cNvSpPr/>
            <p:nvPr/>
          </p:nvSpPr>
          <p:spPr>
            <a:xfrm flipH="false" flipV="false" rot="0">
              <a:off x="0" y="0"/>
              <a:ext cx="2498090" cy="1338072"/>
            </a:xfrm>
            <a:custGeom>
              <a:avLst/>
              <a:gdLst/>
              <a:ahLst/>
              <a:cxnLst/>
              <a:rect r="r" b="b" t="t" l="l"/>
              <a:pathLst>
                <a:path h="1338072" w="2498090">
                  <a:moveTo>
                    <a:pt x="0" y="669036"/>
                  </a:moveTo>
                  <a:cubicBezTo>
                    <a:pt x="0" y="293497"/>
                    <a:pt x="567309" y="0"/>
                    <a:pt x="1249045" y="0"/>
                  </a:cubicBezTo>
                  <a:cubicBezTo>
                    <a:pt x="1930781" y="0"/>
                    <a:pt x="2498090" y="293497"/>
                    <a:pt x="2498090" y="669036"/>
                  </a:cubicBezTo>
                  <a:lnTo>
                    <a:pt x="2485390" y="669036"/>
                  </a:lnTo>
                  <a:lnTo>
                    <a:pt x="2498090" y="669036"/>
                  </a:lnTo>
                  <a:cubicBezTo>
                    <a:pt x="2498090" y="1044448"/>
                    <a:pt x="1930781" y="1338072"/>
                    <a:pt x="1249045" y="1338072"/>
                  </a:cubicBezTo>
                  <a:lnTo>
                    <a:pt x="1249045" y="1325372"/>
                  </a:lnTo>
                  <a:lnTo>
                    <a:pt x="1249045" y="1338072"/>
                  </a:lnTo>
                  <a:cubicBezTo>
                    <a:pt x="567309" y="1337945"/>
                    <a:pt x="0" y="1044448"/>
                    <a:pt x="0" y="669036"/>
                  </a:cubicBezTo>
                  <a:lnTo>
                    <a:pt x="12700" y="669036"/>
                  </a:lnTo>
                  <a:lnTo>
                    <a:pt x="25400" y="669036"/>
                  </a:lnTo>
                  <a:lnTo>
                    <a:pt x="12700" y="669036"/>
                  </a:lnTo>
                  <a:lnTo>
                    <a:pt x="0" y="669036"/>
                  </a:lnTo>
                  <a:moveTo>
                    <a:pt x="25400" y="669036"/>
                  </a:moveTo>
                  <a:cubicBezTo>
                    <a:pt x="25400" y="676021"/>
                    <a:pt x="19685" y="681736"/>
                    <a:pt x="12700" y="681736"/>
                  </a:cubicBezTo>
                  <a:cubicBezTo>
                    <a:pt x="5715" y="681736"/>
                    <a:pt x="0" y="676021"/>
                    <a:pt x="0" y="669036"/>
                  </a:cubicBezTo>
                  <a:cubicBezTo>
                    <a:pt x="0" y="662051"/>
                    <a:pt x="5715" y="656336"/>
                    <a:pt x="12700" y="656336"/>
                  </a:cubicBezTo>
                  <a:cubicBezTo>
                    <a:pt x="19685" y="656336"/>
                    <a:pt x="25400" y="662051"/>
                    <a:pt x="25400" y="669036"/>
                  </a:cubicBezTo>
                  <a:cubicBezTo>
                    <a:pt x="25400" y="1018540"/>
                    <a:pt x="565150" y="1312672"/>
                    <a:pt x="1249045" y="1312672"/>
                  </a:cubicBezTo>
                  <a:cubicBezTo>
                    <a:pt x="1932940" y="1312672"/>
                    <a:pt x="2472690" y="1018540"/>
                    <a:pt x="2472690" y="669036"/>
                  </a:cubicBezTo>
                  <a:cubicBezTo>
                    <a:pt x="2472690" y="319532"/>
                    <a:pt x="1932940" y="25400"/>
                    <a:pt x="1249045" y="25400"/>
                  </a:cubicBezTo>
                  <a:lnTo>
                    <a:pt x="1249045" y="12700"/>
                  </a:lnTo>
                  <a:lnTo>
                    <a:pt x="1249045" y="25400"/>
                  </a:lnTo>
                  <a:cubicBezTo>
                    <a:pt x="565150" y="25400"/>
                    <a:pt x="25400" y="319532"/>
                    <a:pt x="25400" y="669036"/>
                  </a:cubicBezTo>
                  <a:close/>
                </a:path>
              </a:pathLst>
            </a:custGeom>
            <a:solidFill>
              <a:srgbClr val="70AD47"/>
            </a:solidFill>
          </p:spPr>
        </p:sp>
        <p:sp>
          <p:nvSpPr>
            <p:cNvPr name="TextBox 52" id="52"/>
            <p:cNvSpPr txBox="true"/>
            <p:nvPr/>
          </p:nvSpPr>
          <p:spPr>
            <a:xfrm>
              <a:off x="0" y="-38100"/>
              <a:ext cx="2498202" cy="1376102"/>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Department_status</a:t>
              </a:r>
            </a:p>
          </p:txBody>
        </p:sp>
      </p:grpSp>
      <p:sp>
        <p:nvSpPr>
          <p:cNvPr name="AutoShape 53" id="53"/>
          <p:cNvSpPr/>
          <p:nvPr/>
        </p:nvSpPr>
        <p:spPr>
          <a:xfrm>
            <a:off x="9198208" y="2072147"/>
            <a:ext cx="791241" cy="9525"/>
          </a:xfrm>
          <a:prstGeom prst="line">
            <a:avLst/>
          </a:prstGeom>
          <a:ln cap="rnd" w="9525">
            <a:solidFill>
              <a:srgbClr val="000000"/>
            </a:solidFill>
            <a:prstDash val="solid"/>
            <a:headEnd type="none" len="sm" w="sm"/>
            <a:tailEnd type="none" len="sm" w="sm"/>
          </a:ln>
        </p:spPr>
      </p:sp>
      <p:grpSp>
        <p:nvGrpSpPr>
          <p:cNvPr name="Group 54" id="54"/>
          <p:cNvGrpSpPr/>
          <p:nvPr/>
        </p:nvGrpSpPr>
        <p:grpSpPr>
          <a:xfrm rot="0">
            <a:off x="9975134" y="1362075"/>
            <a:ext cx="1523385" cy="1434894"/>
            <a:chOff x="0" y="0"/>
            <a:chExt cx="2031180" cy="1913192"/>
          </a:xfrm>
        </p:grpSpPr>
        <p:sp>
          <p:nvSpPr>
            <p:cNvPr name="Freeform 55" id="55"/>
            <p:cNvSpPr/>
            <p:nvPr/>
          </p:nvSpPr>
          <p:spPr>
            <a:xfrm flipH="false" flipV="false" rot="0">
              <a:off x="12700" y="12700"/>
              <a:ext cx="2005838" cy="1887728"/>
            </a:xfrm>
            <a:custGeom>
              <a:avLst/>
              <a:gdLst/>
              <a:ahLst/>
              <a:cxnLst/>
              <a:rect r="r" b="b" t="t" l="l"/>
              <a:pathLst>
                <a:path h="1887728" w="2005838">
                  <a:moveTo>
                    <a:pt x="0" y="943864"/>
                  </a:moveTo>
                  <a:lnTo>
                    <a:pt x="1002919" y="0"/>
                  </a:lnTo>
                  <a:lnTo>
                    <a:pt x="2005838" y="943864"/>
                  </a:lnTo>
                  <a:lnTo>
                    <a:pt x="1002919" y="1887728"/>
                  </a:lnTo>
                  <a:close/>
                </a:path>
              </a:pathLst>
            </a:custGeom>
            <a:solidFill>
              <a:srgbClr val="FFFFFF"/>
            </a:solidFill>
          </p:spPr>
        </p:sp>
        <p:sp>
          <p:nvSpPr>
            <p:cNvPr name="Freeform 56" id="56"/>
            <p:cNvSpPr/>
            <p:nvPr/>
          </p:nvSpPr>
          <p:spPr>
            <a:xfrm flipH="false" flipV="false" rot="0">
              <a:off x="0" y="-1143"/>
              <a:ext cx="2031111" cy="1915414"/>
            </a:xfrm>
            <a:custGeom>
              <a:avLst/>
              <a:gdLst/>
              <a:ahLst/>
              <a:cxnLst/>
              <a:rect r="r" b="b" t="t" l="l"/>
              <a:pathLst>
                <a:path h="1915414" w="2031111">
                  <a:moveTo>
                    <a:pt x="3937" y="948436"/>
                  </a:moveTo>
                  <a:lnTo>
                    <a:pt x="1006856" y="4572"/>
                  </a:lnTo>
                  <a:cubicBezTo>
                    <a:pt x="1011809" y="0"/>
                    <a:pt x="1019429" y="0"/>
                    <a:pt x="1024255" y="4572"/>
                  </a:cubicBezTo>
                  <a:lnTo>
                    <a:pt x="2027174" y="948436"/>
                  </a:lnTo>
                  <a:cubicBezTo>
                    <a:pt x="2029714" y="950849"/>
                    <a:pt x="2031111" y="954151"/>
                    <a:pt x="2031111" y="957707"/>
                  </a:cubicBezTo>
                  <a:cubicBezTo>
                    <a:pt x="2031111" y="961263"/>
                    <a:pt x="2029714" y="964565"/>
                    <a:pt x="2027174" y="966978"/>
                  </a:cubicBezTo>
                  <a:lnTo>
                    <a:pt x="1024255" y="1910842"/>
                  </a:lnTo>
                  <a:cubicBezTo>
                    <a:pt x="1019302" y="1915414"/>
                    <a:pt x="1011682" y="1915414"/>
                    <a:pt x="1006856" y="1910842"/>
                  </a:cubicBezTo>
                  <a:lnTo>
                    <a:pt x="3937" y="966978"/>
                  </a:lnTo>
                  <a:cubicBezTo>
                    <a:pt x="1397" y="964565"/>
                    <a:pt x="0" y="961263"/>
                    <a:pt x="0" y="957707"/>
                  </a:cubicBezTo>
                  <a:cubicBezTo>
                    <a:pt x="0" y="954151"/>
                    <a:pt x="1397" y="950849"/>
                    <a:pt x="3937" y="948436"/>
                  </a:cubicBezTo>
                  <a:moveTo>
                    <a:pt x="21336" y="966978"/>
                  </a:moveTo>
                  <a:lnTo>
                    <a:pt x="12700" y="957707"/>
                  </a:lnTo>
                  <a:lnTo>
                    <a:pt x="21463" y="948436"/>
                  </a:lnTo>
                  <a:lnTo>
                    <a:pt x="1024382" y="1892300"/>
                  </a:lnTo>
                  <a:lnTo>
                    <a:pt x="1015619" y="1901571"/>
                  </a:lnTo>
                  <a:lnTo>
                    <a:pt x="1006856" y="1892300"/>
                  </a:lnTo>
                  <a:lnTo>
                    <a:pt x="2009775" y="948436"/>
                  </a:lnTo>
                  <a:lnTo>
                    <a:pt x="2018538" y="957707"/>
                  </a:lnTo>
                  <a:lnTo>
                    <a:pt x="2009775" y="966978"/>
                  </a:lnTo>
                  <a:lnTo>
                    <a:pt x="1006856" y="23114"/>
                  </a:lnTo>
                  <a:lnTo>
                    <a:pt x="1015619" y="13843"/>
                  </a:lnTo>
                  <a:lnTo>
                    <a:pt x="1024382" y="23114"/>
                  </a:lnTo>
                  <a:lnTo>
                    <a:pt x="21463" y="966978"/>
                  </a:lnTo>
                  <a:close/>
                </a:path>
              </a:pathLst>
            </a:custGeom>
            <a:solidFill>
              <a:srgbClr val="70AD47"/>
            </a:solidFill>
          </p:spPr>
        </p:sp>
        <p:sp>
          <p:nvSpPr>
            <p:cNvPr name="TextBox 57" id="57"/>
            <p:cNvSpPr txBox="true"/>
            <p:nvPr/>
          </p:nvSpPr>
          <p:spPr>
            <a:xfrm>
              <a:off x="0" y="-38100"/>
              <a:ext cx="2031180" cy="1951292"/>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has</a:t>
              </a:r>
            </a:p>
          </p:txBody>
        </p:sp>
      </p:grpSp>
      <p:sp>
        <p:nvSpPr>
          <p:cNvPr name="AutoShape 58" id="58"/>
          <p:cNvSpPr/>
          <p:nvPr/>
        </p:nvSpPr>
        <p:spPr>
          <a:xfrm>
            <a:off x="11484158" y="2075834"/>
            <a:ext cx="983064" cy="9525"/>
          </a:xfrm>
          <a:prstGeom prst="line">
            <a:avLst/>
          </a:prstGeom>
          <a:ln cap="rnd" w="9525">
            <a:solidFill>
              <a:srgbClr val="000000"/>
            </a:solidFill>
            <a:prstDash val="solid"/>
            <a:headEnd type="none" len="sm" w="sm"/>
            <a:tailEnd type="triangle" len="med" w="lg"/>
          </a:ln>
        </p:spPr>
      </p:sp>
      <p:grpSp>
        <p:nvGrpSpPr>
          <p:cNvPr name="Group 59" id="59"/>
          <p:cNvGrpSpPr/>
          <p:nvPr/>
        </p:nvGrpSpPr>
        <p:grpSpPr>
          <a:xfrm rot="0">
            <a:off x="12452862" y="1620171"/>
            <a:ext cx="2408289" cy="903953"/>
            <a:chOff x="0" y="0"/>
            <a:chExt cx="3211052" cy="1205270"/>
          </a:xfrm>
        </p:grpSpPr>
        <p:sp>
          <p:nvSpPr>
            <p:cNvPr name="Freeform 60" id="60"/>
            <p:cNvSpPr/>
            <p:nvPr/>
          </p:nvSpPr>
          <p:spPr>
            <a:xfrm flipH="false" flipV="false" rot="0">
              <a:off x="12700" y="12700"/>
              <a:ext cx="3185668" cy="1179830"/>
            </a:xfrm>
            <a:custGeom>
              <a:avLst/>
              <a:gdLst/>
              <a:ahLst/>
              <a:cxnLst/>
              <a:rect r="r" b="b" t="t" l="l"/>
              <a:pathLst>
                <a:path h="1179830" w="3185668">
                  <a:moveTo>
                    <a:pt x="0" y="0"/>
                  </a:moveTo>
                  <a:lnTo>
                    <a:pt x="3185668" y="0"/>
                  </a:lnTo>
                  <a:lnTo>
                    <a:pt x="3185668" y="1179830"/>
                  </a:lnTo>
                  <a:lnTo>
                    <a:pt x="0" y="1179830"/>
                  </a:lnTo>
                  <a:close/>
                </a:path>
              </a:pathLst>
            </a:custGeom>
            <a:solidFill>
              <a:srgbClr val="FFFFFF"/>
            </a:solidFill>
          </p:spPr>
        </p:sp>
        <p:sp>
          <p:nvSpPr>
            <p:cNvPr name="Freeform 61" id="61"/>
            <p:cNvSpPr/>
            <p:nvPr/>
          </p:nvSpPr>
          <p:spPr>
            <a:xfrm flipH="false" flipV="false" rot="0">
              <a:off x="0" y="0"/>
              <a:ext cx="3211068" cy="1205230"/>
            </a:xfrm>
            <a:custGeom>
              <a:avLst/>
              <a:gdLst/>
              <a:ahLst/>
              <a:cxnLst/>
              <a:rect r="r" b="b" t="t" l="l"/>
              <a:pathLst>
                <a:path h="1205230" w="3211068">
                  <a:moveTo>
                    <a:pt x="12700" y="0"/>
                  </a:moveTo>
                  <a:lnTo>
                    <a:pt x="3198368" y="0"/>
                  </a:lnTo>
                  <a:cubicBezTo>
                    <a:pt x="3205353" y="0"/>
                    <a:pt x="3211068" y="5715"/>
                    <a:pt x="3211068" y="12700"/>
                  </a:cubicBezTo>
                  <a:lnTo>
                    <a:pt x="3211068" y="1192530"/>
                  </a:lnTo>
                  <a:cubicBezTo>
                    <a:pt x="3211068" y="1199515"/>
                    <a:pt x="3205353" y="1205230"/>
                    <a:pt x="3198368" y="1205230"/>
                  </a:cubicBezTo>
                  <a:lnTo>
                    <a:pt x="12700" y="1205230"/>
                  </a:lnTo>
                  <a:cubicBezTo>
                    <a:pt x="5715" y="1205230"/>
                    <a:pt x="0" y="1199515"/>
                    <a:pt x="0" y="1192530"/>
                  </a:cubicBezTo>
                  <a:lnTo>
                    <a:pt x="0" y="12700"/>
                  </a:lnTo>
                  <a:cubicBezTo>
                    <a:pt x="0" y="5715"/>
                    <a:pt x="5715" y="0"/>
                    <a:pt x="12700" y="0"/>
                  </a:cubicBezTo>
                  <a:moveTo>
                    <a:pt x="12700" y="25400"/>
                  </a:moveTo>
                  <a:lnTo>
                    <a:pt x="12700" y="12700"/>
                  </a:lnTo>
                  <a:lnTo>
                    <a:pt x="25400" y="12700"/>
                  </a:lnTo>
                  <a:lnTo>
                    <a:pt x="25400" y="1192530"/>
                  </a:lnTo>
                  <a:lnTo>
                    <a:pt x="12700" y="1192530"/>
                  </a:lnTo>
                  <a:lnTo>
                    <a:pt x="12700" y="1179830"/>
                  </a:lnTo>
                  <a:lnTo>
                    <a:pt x="3198368" y="1179830"/>
                  </a:lnTo>
                  <a:lnTo>
                    <a:pt x="3198368" y="1192530"/>
                  </a:lnTo>
                  <a:lnTo>
                    <a:pt x="3185668" y="1192530"/>
                  </a:lnTo>
                  <a:lnTo>
                    <a:pt x="3185668" y="12700"/>
                  </a:lnTo>
                  <a:lnTo>
                    <a:pt x="3198368" y="12700"/>
                  </a:lnTo>
                  <a:lnTo>
                    <a:pt x="3198368" y="25400"/>
                  </a:lnTo>
                  <a:lnTo>
                    <a:pt x="12700" y="25400"/>
                  </a:lnTo>
                  <a:close/>
                </a:path>
              </a:pathLst>
            </a:custGeom>
            <a:solidFill>
              <a:srgbClr val="70AD47"/>
            </a:solidFill>
          </p:spPr>
        </p:sp>
        <p:sp>
          <p:nvSpPr>
            <p:cNvPr name="TextBox 62" id="62"/>
            <p:cNvSpPr txBox="true"/>
            <p:nvPr/>
          </p:nvSpPr>
          <p:spPr>
            <a:xfrm>
              <a:off x="0" y="-38100"/>
              <a:ext cx="3211052" cy="1243370"/>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User_Details</a:t>
              </a:r>
            </a:p>
          </p:txBody>
        </p:sp>
      </p:grpSp>
      <p:sp>
        <p:nvSpPr>
          <p:cNvPr name="AutoShape 63" id="63"/>
          <p:cNvSpPr/>
          <p:nvPr/>
        </p:nvSpPr>
        <p:spPr>
          <a:xfrm rot="-5349134">
            <a:off x="12509210" y="1312606"/>
            <a:ext cx="643776" cy="0"/>
          </a:xfrm>
          <a:prstGeom prst="line">
            <a:avLst/>
          </a:prstGeom>
          <a:ln cap="rnd" w="9525">
            <a:solidFill>
              <a:srgbClr val="000000"/>
            </a:solidFill>
            <a:prstDash val="solid"/>
            <a:headEnd type="none" len="sm" w="sm"/>
            <a:tailEnd type="triangle" len="med" w="lg"/>
          </a:ln>
        </p:spPr>
      </p:sp>
      <p:grpSp>
        <p:nvGrpSpPr>
          <p:cNvPr name="Group 64" id="64"/>
          <p:cNvGrpSpPr/>
          <p:nvPr/>
        </p:nvGrpSpPr>
        <p:grpSpPr>
          <a:xfrm rot="0">
            <a:off x="11995664" y="101088"/>
            <a:ext cx="1670868" cy="903952"/>
            <a:chOff x="0" y="0"/>
            <a:chExt cx="2227824" cy="1205270"/>
          </a:xfrm>
        </p:grpSpPr>
        <p:sp>
          <p:nvSpPr>
            <p:cNvPr name="Freeform 65" id="65"/>
            <p:cNvSpPr/>
            <p:nvPr/>
          </p:nvSpPr>
          <p:spPr>
            <a:xfrm flipH="false" flipV="false" rot="0">
              <a:off x="12700" y="12700"/>
              <a:ext cx="2202434" cy="1179830"/>
            </a:xfrm>
            <a:custGeom>
              <a:avLst/>
              <a:gdLst/>
              <a:ahLst/>
              <a:cxnLst/>
              <a:rect r="r" b="b" t="t" l="l"/>
              <a:pathLst>
                <a:path h="1179830" w="2202434">
                  <a:moveTo>
                    <a:pt x="0" y="589915"/>
                  </a:moveTo>
                  <a:cubicBezTo>
                    <a:pt x="0" y="264160"/>
                    <a:pt x="493014" y="0"/>
                    <a:pt x="1101217" y="0"/>
                  </a:cubicBezTo>
                  <a:cubicBezTo>
                    <a:pt x="1709420" y="0"/>
                    <a:pt x="2202434" y="264160"/>
                    <a:pt x="2202434" y="589915"/>
                  </a:cubicBezTo>
                  <a:cubicBezTo>
                    <a:pt x="2202434" y="915670"/>
                    <a:pt x="1709420" y="1179830"/>
                    <a:pt x="1101217" y="1179830"/>
                  </a:cubicBezTo>
                  <a:cubicBezTo>
                    <a:pt x="493014" y="1179830"/>
                    <a:pt x="0" y="915797"/>
                    <a:pt x="0" y="589915"/>
                  </a:cubicBezTo>
                  <a:close/>
                </a:path>
              </a:pathLst>
            </a:custGeom>
            <a:solidFill>
              <a:srgbClr val="FFFFFF"/>
            </a:solidFill>
          </p:spPr>
        </p:sp>
        <p:sp>
          <p:nvSpPr>
            <p:cNvPr name="Freeform 66" id="66"/>
            <p:cNvSpPr/>
            <p:nvPr/>
          </p:nvSpPr>
          <p:spPr>
            <a:xfrm flipH="false" flipV="false" rot="0">
              <a:off x="0" y="0"/>
              <a:ext cx="2227834" cy="1205230"/>
            </a:xfrm>
            <a:custGeom>
              <a:avLst/>
              <a:gdLst/>
              <a:ahLst/>
              <a:cxnLst/>
              <a:rect r="r" b="b" t="t" l="l"/>
              <a:pathLst>
                <a:path h="1205230" w="2227834">
                  <a:moveTo>
                    <a:pt x="0" y="602615"/>
                  </a:moveTo>
                  <a:cubicBezTo>
                    <a:pt x="0" y="263906"/>
                    <a:pt x="506730" y="0"/>
                    <a:pt x="1113917" y="0"/>
                  </a:cubicBezTo>
                  <a:cubicBezTo>
                    <a:pt x="1721104" y="0"/>
                    <a:pt x="2227834" y="263906"/>
                    <a:pt x="2227834" y="602615"/>
                  </a:cubicBezTo>
                  <a:lnTo>
                    <a:pt x="2215134" y="602615"/>
                  </a:lnTo>
                  <a:lnTo>
                    <a:pt x="2227834" y="602615"/>
                  </a:lnTo>
                  <a:cubicBezTo>
                    <a:pt x="2227834" y="941324"/>
                    <a:pt x="1721104" y="1205230"/>
                    <a:pt x="1113917" y="1205230"/>
                  </a:cubicBezTo>
                  <a:lnTo>
                    <a:pt x="1113917" y="1192530"/>
                  </a:lnTo>
                  <a:lnTo>
                    <a:pt x="1113917" y="1205230"/>
                  </a:lnTo>
                  <a:cubicBezTo>
                    <a:pt x="506730" y="1205230"/>
                    <a:pt x="0" y="941324"/>
                    <a:pt x="0" y="602615"/>
                  </a:cubicBezTo>
                  <a:lnTo>
                    <a:pt x="12700" y="602615"/>
                  </a:lnTo>
                  <a:lnTo>
                    <a:pt x="25400" y="602615"/>
                  </a:lnTo>
                  <a:lnTo>
                    <a:pt x="12700" y="602615"/>
                  </a:lnTo>
                  <a:lnTo>
                    <a:pt x="0" y="602615"/>
                  </a:lnTo>
                  <a:moveTo>
                    <a:pt x="25400" y="602615"/>
                  </a:moveTo>
                  <a:cubicBezTo>
                    <a:pt x="25400" y="609600"/>
                    <a:pt x="19685" y="615315"/>
                    <a:pt x="12700" y="615315"/>
                  </a:cubicBezTo>
                  <a:cubicBezTo>
                    <a:pt x="5715" y="615315"/>
                    <a:pt x="0" y="609600"/>
                    <a:pt x="0" y="602615"/>
                  </a:cubicBezTo>
                  <a:cubicBezTo>
                    <a:pt x="0" y="595630"/>
                    <a:pt x="5715" y="589915"/>
                    <a:pt x="12700" y="589915"/>
                  </a:cubicBezTo>
                  <a:cubicBezTo>
                    <a:pt x="19685" y="589915"/>
                    <a:pt x="25400" y="595630"/>
                    <a:pt x="25400" y="602615"/>
                  </a:cubicBezTo>
                  <a:cubicBezTo>
                    <a:pt x="25400" y="915543"/>
                    <a:pt x="504825" y="1179830"/>
                    <a:pt x="1113917" y="1179830"/>
                  </a:cubicBezTo>
                  <a:cubicBezTo>
                    <a:pt x="1723009" y="1179830"/>
                    <a:pt x="2202434" y="915543"/>
                    <a:pt x="2202434" y="602615"/>
                  </a:cubicBezTo>
                  <a:cubicBezTo>
                    <a:pt x="2202434" y="289687"/>
                    <a:pt x="1723009" y="25400"/>
                    <a:pt x="1113917" y="25400"/>
                  </a:cubicBezTo>
                  <a:lnTo>
                    <a:pt x="1113917" y="12700"/>
                  </a:lnTo>
                  <a:lnTo>
                    <a:pt x="1113917" y="25400"/>
                  </a:lnTo>
                  <a:cubicBezTo>
                    <a:pt x="504825" y="25400"/>
                    <a:pt x="25400" y="289687"/>
                    <a:pt x="25400" y="602615"/>
                  </a:cubicBezTo>
                  <a:close/>
                </a:path>
              </a:pathLst>
            </a:custGeom>
            <a:solidFill>
              <a:srgbClr val="70AD47"/>
            </a:solidFill>
          </p:spPr>
        </p:sp>
        <p:sp>
          <p:nvSpPr>
            <p:cNvPr name="TextBox 67" id="67"/>
            <p:cNvSpPr txBox="true"/>
            <p:nvPr/>
          </p:nvSpPr>
          <p:spPr>
            <a:xfrm>
              <a:off x="0" y="-38100"/>
              <a:ext cx="2227824" cy="1243370"/>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Dept_id</a:t>
              </a:r>
            </a:p>
          </p:txBody>
        </p:sp>
      </p:grpSp>
      <p:sp>
        <p:nvSpPr>
          <p:cNvPr name="AutoShape 68" id="68"/>
          <p:cNvSpPr/>
          <p:nvPr/>
        </p:nvSpPr>
        <p:spPr>
          <a:xfrm rot="-5349134">
            <a:off x="14234771" y="1312606"/>
            <a:ext cx="643776" cy="0"/>
          </a:xfrm>
          <a:prstGeom prst="line">
            <a:avLst/>
          </a:prstGeom>
          <a:ln cap="rnd" w="9525">
            <a:solidFill>
              <a:srgbClr val="000000"/>
            </a:solidFill>
            <a:prstDash val="solid"/>
            <a:headEnd type="none" len="sm" w="sm"/>
            <a:tailEnd type="triangle" len="med" w="lg"/>
          </a:ln>
        </p:spPr>
      </p:sp>
      <p:grpSp>
        <p:nvGrpSpPr>
          <p:cNvPr name="Group 69" id="69"/>
          <p:cNvGrpSpPr/>
          <p:nvPr/>
        </p:nvGrpSpPr>
        <p:grpSpPr>
          <a:xfrm rot="0">
            <a:off x="13828144" y="101088"/>
            <a:ext cx="1457027" cy="903952"/>
            <a:chOff x="0" y="0"/>
            <a:chExt cx="1942702" cy="1205270"/>
          </a:xfrm>
        </p:grpSpPr>
        <p:sp>
          <p:nvSpPr>
            <p:cNvPr name="Freeform 70" id="70"/>
            <p:cNvSpPr/>
            <p:nvPr/>
          </p:nvSpPr>
          <p:spPr>
            <a:xfrm flipH="false" flipV="false" rot="0">
              <a:off x="12700" y="12700"/>
              <a:ext cx="1917192" cy="1179830"/>
            </a:xfrm>
            <a:custGeom>
              <a:avLst/>
              <a:gdLst/>
              <a:ahLst/>
              <a:cxnLst/>
              <a:rect r="r" b="b" t="t" l="l"/>
              <a:pathLst>
                <a:path h="1179830" w="1917192">
                  <a:moveTo>
                    <a:pt x="0" y="589915"/>
                  </a:moveTo>
                  <a:cubicBezTo>
                    <a:pt x="0" y="264160"/>
                    <a:pt x="429260" y="0"/>
                    <a:pt x="958596" y="0"/>
                  </a:cubicBezTo>
                  <a:cubicBezTo>
                    <a:pt x="1487932" y="0"/>
                    <a:pt x="1917192" y="264160"/>
                    <a:pt x="1917192" y="589915"/>
                  </a:cubicBezTo>
                  <a:cubicBezTo>
                    <a:pt x="1917192" y="915670"/>
                    <a:pt x="1488059" y="1179830"/>
                    <a:pt x="958596" y="1179830"/>
                  </a:cubicBezTo>
                  <a:cubicBezTo>
                    <a:pt x="429133" y="1179830"/>
                    <a:pt x="0" y="915797"/>
                    <a:pt x="0" y="589915"/>
                  </a:cubicBezTo>
                  <a:close/>
                </a:path>
              </a:pathLst>
            </a:custGeom>
            <a:solidFill>
              <a:srgbClr val="FFFFFF"/>
            </a:solidFill>
          </p:spPr>
        </p:sp>
        <p:sp>
          <p:nvSpPr>
            <p:cNvPr name="Freeform 71" id="71"/>
            <p:cNvSpPr/>
            <p:nvPr/>
          </p:nvSpPr>
          <p:spPr>
            <a:xfrm flipH="false" flipV="false" rot="0">
              <a:off x="0" y="0"/>
              <a:ext cx="1942592" cy="1205230"/>
            </a:xfrm>
            <a:custGeom>
              <a:avLst/>
              <a:gdLst/>
              <a:ahLst/>
              <a:cxnLst/>
              <a:rect r="r" b="b" t="t" l="l"/>
              <a:pathLst>
                <a:path h="1205230" w="1942592">
                  <a:moveTo>
                    <a:pt x="0" y="602615"/>
                  </a:moveTo>
                  <a:cubicBezTo>
                    <a:pt x="0" y="264922"/>
                    <a:pt x="441071" y="0"/>
                    <a:pt x="971296" y="0"/>
                  </a:cubicBezTo>
                  <a:lnTo>
                    <a:pt x="971296" y="12700"/>
                  </a:lnTo>
                  <a:lnTo>
                    <a:pt x="971296" y="25400"/>
                  </a:lnTo>
                  <a:lnTo>
                    <a:pt x="971296" y="12700"/>
                  </a:lnTo>
                  <a:lnTo>
                    <a:pt x="971296" y="0"/>
                  </a:lnTo>
                  <a:cubicBezTo>
                    <a:pt x="1501521" y="0"/>
                    <a:pt x="1942592" y="264922"/>
                    <a:pt x="1942592" y="602615"/>
                  </a:cubicBezTo>
                  <a:cubicBezTo>
                    <a:pt x="1942592" y="940308"/>
                    <a:pt x="1501648" y="1205230"/>
                    <a:pt x="971296" y="1205230"/>
                  </a:cubicBezTo>
                  <a:lnTo>
                    <a:pt x="971296" y="1192530"/>
                  </a:lnTo>
                  <a:lnTo>
                    <a:pt x="971296" y="1205230"/>
                  </a:lnTo>
                  <a:cubicBezTo>
                    <a:pt x="441071" y="1205230"/>
                    <a:pt x="0" y="940308"/>
                    <a:pt x="0" y="602615"/>
                  </a:cubicBezTo>
                  <a:lnTo>
                    <a:pt x="12700" y="602615"/>
                  </a:lnTo>
                  <a:lnTo>
                    <a:pt x="25400" y="602615"/>
                  </a:lnTo>
                  <a:lnTo>
                    <a:pt x="12700" y="602615"/>
                  </a:lnTo>
                  <a:lnTo>
                    <a:pt x="0" y="602615"/>
                  </a:lnTo>
                  <a:moveTo>
                    <a:pt x="25400" y="602615"/>
                  </a:moveTo>
                  <a:cubicBezTo>
                    <a:pt x="25400" y="609600"/>
                    <a:pt x="19685" y="615315"/>
                    <a:pt x="12700" y="615315"/>
                  </a:cubicBezTo>
                  <a:cubicBezTo>
                    <a:pt x="5715" y="615315"/>
                    <a:pt x="0" y="609600"/>
                    <a:pt x="0" y="602615"/>
                  </a:cubicBezTo>
                  <a:cubicBezTo>
                    <a:pt x="0" y="595630"/>
                    <a:pt x="5715" y="589915"/>
                    <a:pt x="12700" y="589915"/>
                  </a:cubicBezTo>
                  <a:cubicBezTo>
                    <a:pt x="19685" y="589915"/>
                    <a:pt x="25400" y="595630"/>
                    <a:pt x="25400" y="602615"/>
                  </a:cubicBezTo>
                  <a:cubicBezTo>
                    <a:pt x="25400" y="916559"/>
                    <a:pt x="442722" y="1179830"/>
                    <a:pt x="971296" y="1179830"/>
                  </a:cubicBezTo>
                  <a:cubicBezTo>
                    <a:pt x="1499870" y="1179830"/>
                    <a:pt x="1917192" y="916559"/>
                    <a:pt x="1917192" y="602615"/>
                  </a:cubicBezTo>
                  <a:lnTo>
                    <a:pt x="1929892" y="602615"/>
                  </a:lnTo>
                  <a:lnTo>
                    <a:pt x="1917192" y="602615"/>
                  </a:lnTo>
                  <a:cubicBezTo>
                    <a:pt x="1917319" y="288671"/>
                    <a:pt x="1499997" y="25400"/>
                    <a:pt x="971296" y="25400"/>
                  </a:cubicBezTo>
                  <a:cubicBezTo>
                    <a:pt x="964311" y="25400"/>
                    <a:pt x="958596" y="19685"/>
                    <a:pt x="958596" y="12700"/>
                  </a:cubicBezTo>
                  <a:cubicBezTo>
                    <a:pt x="958596" y="5715"/>
                    <a:pt x="964311" y="0"/>
                    <a:pt x="971296" y="0"/>
                  </a:cubicBezTo>
                  <a:cubicBezTo>
                    <a:pt x="978281" y="0"/>
                    <a:pt x="983996" y="5715"/>
                    <a:pt x="983996" y="12700"/>
                  </a:cubicBezTo>
                  <a:cubicBezTo>
                    <a:pt x="983996" y="19685"/>
                    <a:pt x="978281" y="25400"/>
                    <a:pt x="971296" y="25400"/>
                  </a:cubicBezTo>
                  <a:cubicBezTo>
                    <a:pt x="442722" y="25400"/>
                    <a:pt x="25400" y="288671"/>
                    <a:pt x="25400" y="602615"/>
                  </a:cubicBezTo>
                  <a:close/>
                </a:path>
              </a:pathLst>
            </a:custGeom>
            <a:solidFill>
              <a:srgbClr val="70AD47"/>
            </a:solidFill>
          </p:spPr>
        </p:sp>
        <p:sp>
          <p:nvSpPr>
            <p:cNvPr name="TextBox 72" id="72"/>
            <p:cNvSpPr txBox="true"/>
            <p:nvPr/>
          </p:nvSpPr>
          <p:spPr>
            <a:xfrm>
              <a:off x="0" y="-38100"/>
              <a:ext cx="1942702" cy="1243370"/>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User_name</a:t>
              </a:r>
            </a:p>
          </p:txBody>
        </p:sp>
      </p:grpSp>
      <p:sp>
        <p:nvSpPr>
          <p:cNvPr name="AutoShape 73" id="73"/>
          <p:cNvSpPr/>
          <p:nvPr/>
        </p:nvSpPr>
        <p:spPr>
          <a:xfrm rot="5352405">
            <a:off x="12487089" y="2875935"/>
            <a:ext cx="688017" cy="0"/>
          </a:xfrm>
          <a:prstGeom prst="line">
            <a:avLst/>
          </a:prstGeom>
          <a:ln cap="rnd" w="9525">
            <a:solidFill>
              <a:srgbClr val="000000"/>
            </a:solidFill>
            <a:prstDash val="solid"/>
            <a:headEnd type="none" len="sm" w="sm"/>
            <a:tailEnd type="triangle" len="med" w="lg"/>
          </a:ln>
        </p:spPr>
      </p:sp>
      <p:grpSp>
        <p:nvGrpSpPr>
          <p:cNvPr name="Group 74" id="74"/>
          <p:cNvGrpSpPr/>
          <p:nvPr/>
        </p:nvGrpSpPr>
        <p:grpSpPr>
          <a:xfrm rot="0">
            <a:off x="11995664" y="3192710"/>
            <a:ext cx="1523385" cy="889202"/>
            <a:chOff x="0" y="0"/>
            <a:chExt cx="2031180" cy="1185602"/>
          </a:xfrm>
        </p:grpSpPr>
        <p:sp>
          <p:nvSpPr>
            <p:cNvPr name="Freeform 75" id="75"/>
            <p:cNvSpPr/>
            <p:nvPr/>
          </p:nvSpPr>
          <p:spPr>
            <a:xfrm flipH="false" flipV="false" rot="0">
              <a:off x="12700" y="12700"/>
              <a:ext cx="2005838" cy="1160272"/>
            </a:xfrm>
            <a:custGeom>
              <a:avLst/>
              <a:gdLst/>
              <a:ahLst/>
              <a:cxnLst/>
              <a:rect r="r" b="b" t="t" l="l"/>
              <a:pathLst>
                <a:path h="1160272" w="2005838">
                  <a:moveTo>
                    <a:pt x="0" y="580136"/>
                  </a:moveTo>
                  <a:cubicBezTo>
                    <a:pt x="0" y="259715"/>
                    <a:pt x="449072" y="0"/>
                    <a:pt x="1002919" y="0"/>
                  </a:cubicBezTo>
                  <a:cubicBezTo>
                    <a:pt x="1556766" y="0"/>
                    <a:pt x="2005838" y="259715"/>
                    <a:pt x="2005838" y="580136"/>
                  </a:cubicBezTo>
                  <a:cubicBezTo>
                    <a:pt x="2005838" y="900557"/>
                    <a:pt x="1556766" y="1160272"/>
                    <a:pt x="1002919" y="1160272"/>
                  </a:cubicBezTo>
                  <a:cubicBezTo>
                    <a:pt x="449072" y="1160272"/>
                    <a:pt x="0" y="900430"/>
                    <a:pt x="0" y="580136"/>
                  </a:cubicBezTo>
                  <a:close/>
                </a:path>
              </a:pathLst>
            </a:custGeom>
            <a:solidFill>
              <a:srgbClr val="FFFFFF"/>
            </a:solidFill>
          </p:spPr>
        </p:sp>
        <p:sp>
          <p:nvSpPr>
            <p:cNvPr name="Freeform 76" id="76"/>
            <p:cNvSpPr/>
            <p:nvPr/>
          </p:nvSpPr>
          <p:spPr>
            <a:xfrm flipH="false" flipV="false" rot="0">
              <a:off x="0" y="0"/>
              <a:ext cx="2031238" cy="1185545"/>
            </a:xfrm>
            <a:custGeom>
              <a:avLst/>
              <a:gdLst/>
              <a:ahLst/>
              <a:cxnLst/>
              <a:rect r="r" b="b" t="t" l="l"/>
              <a:pathLst>
                <a:path h="1185545" w="2031238">
                  <a:moveTo>
                    <a:pt x="0" y="592836"/>
                  </a:moveTo>
                  <a:cubicBezTo>
                    <a:pt x="0" y="260096"/>
                    <a:pt x="461645" y="0"/>
                    <a:pt x="1015619" y="0"/>
                  </a:cubicBezTo>
                  <a:lnTo>
                    <a:pt x="1015619" y="12700"/>
                  </a:lnTo>
                  <a:lnTo>
                    <a:pt x="1015619" y="25400"/>
                  </a:lnTo>
                  <a:lnTo>
                    <a:pt x="1015619" y="12700"/>
                  </a:lnTo>
                  <a:lnTo>
                    <a:pt x="1015619" y="0"/>
                  </a:lnTo>
                  <a:cubicBezTo>
                    <a:pt x="1569466" y="0"/>
                    <a:pt x="2031238" y="260096"/>
                    <a:pt x="2031238" y="592836"/>
                  </a:cubicBezTo>
                  <a:cubicBezTo>
                    <a:pt x="2031238" y="925576"/>
                    <a:pt x="1569466" y="1185545"/>
                    <a:pt x="1015619" y="1185545"/>
                  </a:cubicBezTo>
                  <a:lnTo>
                    <a:pt x="1015619" y="1172845"/>
                  </a:lnTo>
                  <a:lnTo>
                    <a:pt x="1015619" y="1185545"/>
                  </a:lnTo>
                  <a:cubicBezTo>
                    <a:pt x="461645" y="1185545"/>
                    <a:pt x="0" y="925576"/>
                    <a:pt x="0" y="592836"/>
                  </a:cubicBezTo>
                  <a:lnTo>
                    <a:pt x="12700" y="592836"/>
                  </a:lnTo>
                  <a:lnTo>
                    <a:pt x="25400" y="592836"/>
                  </a:lnTo>
                  <a:lnTo>
                    <a:pt x="12700" y="592836"/>
                  </a:lnTo>
                  <a:lnTo>
                    <a:pt x="0" y="592836"/>
                  </a:lnTo>
                  <a:moveTo>
                    <a:pt x="25400" y="592836"/>
                  </a:moveTo>
                  <a:cubicBezTo>
                    <a:pt x="25400" y="599821"/>
                    <a:pt x="19685" y="605536"/>
                    <a:pt x="12700" y="605536"/>
                  </a:cubicBezTo>
                  <a:cubicBezTo>
                    <a:pt x="5715" y="605536"/>
                    <a:pt x="0" y="599821"/>
                    <a:pt x="0" y="592836"/>
                  </a:cubicBezTo>
                  <a:cubicBezTo>
                    <a:pt x="0" y="585851"/>
                    <a:pt x="5715" y="580136"/>
                    <a:pt x="12700" y="580136"/>
                  </a:cubicBezTo>
                  <a:cubicBezTo>
                    <a:pt x="19685" y="580136"/>
                    <a:pt x="25400" y="585851"/>
                    <a:pt x="25400" y="592836"/>
                  </a:cubicBezTo>
                  <a:cubicBezTo>
                    <a:pt x="25400" y="900811"/>
                    <a:pt x="461772" y="1160145"/>
                    <a:pt x="1015619" y="1160145"/>
                  </a:cubicBezTo>
                  <a:cubicBezTo>
                    <a:pt x="1569466" y="1160145"/>
                    <a:pt x="2005838" y="900684"/>
                    <a:pt x="2005838" y="592709"/>
                  </a:cubicBezTo>
                  <a:lnTo>
                    <a:pt x="2018538" y="592709"/>
                  </a:lnTo>
                  <a:lnTo>
                    <a:pt x="2005838" y="592709"/>
                  </a:lnTo>
                  <a:cubicBezTo>
                    <a:pt x="2005838" y="284861"/>
                    <a:pt x="1569466" y="25400"/>
                    <a:pt x="1015619" y="25400"/>
                  </a:cubicBezTo>
                  <a:cubicBezTo>
                    <a:pt x="1008634" y="25400"/>
                    <a:pt x="1002919" y="19685"/>
                    <a:pt x="1002919" y="12700"/>
                  </a:cubicBezTo>
                  <a:cubicBezTo>
                    <a:pt x="1002919" y="5715"/>
                    <a:pt x="1008634" y="0"/>
                    <a:pt x="1015619" y="0"/>
                  </a:cubicBezTo>
                  <a:cubicBezTo>
                    <a:pt x="1022604" y="0"/>
                    <a:pt x="1028319" y="5715"/>
                    <a:pt x="1028319" y="12700"/>
                  </a:cubicBezTo>
                  <a:cubicBezTo>
                    <a:pt x="1028319" y="19685"/>
                    <a:pt x="1022604" y="25400"/>
                    <a:pt x="1015619" y="25400"/>
                  </a:cubicBezTo>
                  <a:cubicBezTo>
                    <a:pt x="461772" y="25400"/>
                    <a:pt x="25400" y="284861"/>
                    <a:pt x="25400" y="592836"/>
                  </a:cubicBezTo>
                  <a:close/>
                </a:path>
              </a:pathLst>
            </a:custGeom>
            <a:solidFill>
              <a:srgbClr val="70AD47"/>
            </a:solidFill>
          </p:spPr>
        </p:sp>
        <p:sp>
          <p:nvSpPr>
            <p:cNvPr name="TextBox 77" id="77"/>
            <p:cNvSpPr txBox="true"/>
            <p:nvPr/>
          </p:nvSpPr>
          <p:spPr>
            <a:xfrm>
              <a:off x="0" y="-38100"/>
              <a:ext cx="2031180" cy="1223702"/>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staus</a:t>
              </a:r>
            </a:p>
          </p:txBody>
        </p:sp>
      </p:grpSp>
      <p:sp>
        <p:nvSpPr>
          <p:cNvPr name="AutoShape 78" id="78"/>
          <p:cNvSpPr/>
          <p:nvPr/>
        </p:nvSpPr>
        <p:spPr>
          <a:xfrm rot="5353888">
            <a:off x="14172090" y="2879620"/>
            <a:ext cx="710138" cy="0"/>
          </a:xfrm>
          <a:prstGeom prst="line">
            <a:avLst/>
          </a:prstGeom>
          <a:ln cap="rnd" w="9525">
            <a:solidFill>
              <a:srgbClr val="000000"/>
            </a:solidFill>
            <a:prstDash val="solid"/>
            <a:headEnd type="none" len="sm" w="sm"/>
            <a:tailEnd type="triangle" len="med" w="lg"/>
          </a:ln>
        </p:spPr>
      </p:sp>
      <p:grpSp>
        <p:nvGrpSpPr>
          <p:cNvPr name="Group 79" id="79"/>
          <p:cNvGrpSpPr/>
          <p:nvPr/>
        </p:nvGrpSpPr>
        <p:grpSpPr>
          <a:xfrm rot="0">
            <a:off x="13927700" y="3192708"/>
            <a:ext cx="1523385" cy="889202"/>
            <a:chOff x="0" y="0"/>
            <a:chExt cx="2031180" cy="1185602"/>
          </a:xfrm>
        </p:grpSpPr>
        <p:sp>
          <p:nvSpPr>
            <p:cNvPr name="Freeform 80" id="80"/>
            <p:cNvSpPr/>
            <p:nvPr/>
          </p:nvSpPr>
          <p:spPr>
            <a:xfrm flipH="false" flipV="false" rot="0">
              <a:off x="12700" y="12700"/>
              <a:ext cx="2005838" cy="1160272"/>
            </a:xfrm>
            <a:custGeom>
              <a:avLst/>
              <a:gdLst/>
              <a:ahLst/>
              <a:cxnLst/>
              <a:rect r="r" b="b" t="t" l="l"/>
              <a:pathLst>
                <a:path h="1160272" w="2005838">
                  <a:moveTo>
                    <a:pt x="0" y="580136"/>
                  </a:moveTo>
                  <a:cubicBezTo>
                    <a:pt x="0" y="259715"/>
                    <a:pt x="449072" y="0"/>
                    <a:pt x="1002919" y="0"/>
                  </a:cubicBezTo>
                  <a:cubicBezTo>
                    <a:pt x="1556766" y="0"/>
                    <a:pt x="2005838" y="259715"/>
                    <a:pt x="2005838" y="580136"/>
                  </a:cubicBezTo>
                  <a:cubicBezTo>
                    <a:pt x="2005838" y="900557"/>
                    <a:pt x="1556766" y="1160272"/>
                    <a:pt x="1002919" y="1160272"/>
                  </a:cubicBezTo>
                  <a:cubicBezTo>
                    <a:pt x="449072" y="1160272"/>
                    <a:pt x="0" y="900430"/>
                    <a:pt x="0" y="580136"/>
                  </a:cubicBezTo>
                  <a:close/>
                </a:path>
              </a:pathLst>
            </a:custGeom>
            <a:solidFill>
              <a:srgbClr val="FFFFFF"/>
            </a:solidFill>
          </p:spPr>
        </p:sp>
        <p:sp>
          <p:nvSpPr>
            <p:cNvPr name="Freeform 81" id="81"/>
            <p:cNvSpPr/>
            <p:nvPr/>
          </p:nvSpPr>
          <p:spPr>
            <a:xfrm flipH="false" flipV="false" rot="0">
              <a:off x="0" y="0"/>
              <a:ext cx="2031238" cy="1185545"/>
            </a:xfrm>
            <a:custGeom>
              <a:avLst/>
              <a:gdLst/>
              <a:ahLst/>
              <a:cxnLst/>
              <a:rect r="r" b="b" t="t" l="l"/>
              <a:pathLst>
                <a:path h="1185545" w="2031238">
                  <a:moveTo>
                    <a:pt x="0" y="592836"/>
                  </a:moveTo>
                  <a:cubicBezTo>
                    <a:pt x="0" y="260096"/>
                    <a:pt x="461645" y="0"/>
                    <a:pt x="1015619" y="0"/>
                  </a:cubicBezTo>
                  <a:lnTo>
                    <a:pt x="1015619" y="12700"/>
                  </a:lnTo>
                  <a:lnTo>
                    <a:pt x="1015619" y="25400"/>
                  </a:lnTo>
                  <a:lnTo>
                    <a:pt x="1015619" y="12700"/>
                  </a:lnTo>
                  <a:lnTo>
                    <a:pt x="1015619" y="0"/>
                  </a:lnTo>
                  <a:cubicBezTo>
                    <a:pt x="1569466" y="0"/>
                    <a:pt x="2031238" y="260096"/>
                    <a:pt x="2031238" y="592836"/>
                  </a:cubicBezTo>
                  <a:cubicBezTo>
                    <a:pt x="2031238" y="925576"/>
                    <a:pt x="1569466" y="1185545"/>
                    <a:pt x="1015619" y="1185545"/>
                  </a:cubicBezTo>
                  <a:lnTo>
                    <a:pt x="1015619" y="1172845"/>
                  </a:lnTo>
                  <a:lnTo>
                    <a:pt x="1015619" y="1185545"/>
                  </a:lnTo>
                  <a:cubicBezTo>
                    <a:pt x="461645" y="1185545"/>
                    <a:pt x="0" y="925576"/>
                    <a:pt x="0" y="592836"/>
                  </a:cubicBezTo>
                  <a:lnTo>
                    <a:pt x="12700" y="592836"/>
                  </a:lnTo>
                  <a:lnTo>
                    <a:pt x="25400" y="592836"/>
                  </a:lnTo>
                  <a:lnTo>
                    <a:pt x="12700" y="592836"/>
                  </a:lnTo>
                  <a:lnTo>
                    <a:pt x="0" y="592836"/>
                  </a:lnTo>
                  <a:moveTo>
                    <a:pt x="25400" y="592836"/>
                  </a:moveTo>
                  <a:cubicBezTo>
                    <a:pt x="25400" y="599821"/>
                    <a:pt x="19685" y="605536"/>
                    <a:pt x="12700" y="605536"/>
                  </a:cubicBezTo>
                  <a:cubicBezTo>
                    <a:pt x="5715" y="605536"/>
                    <a:pt x="0" y="599821"/>
                    <a:pt x="0" y="592836"/>
                  </a:cubicBezTo>
                  <a:cubicBezTo>
                    <a:pt x="0" y="585851"/>
                    <a:pt x="5715" y="580136"/>
                    <a:pt x="12700" y="580136"/>
                  </a:cubicBezTo>
                  <a:cubicBezTo>
                    <a:pt x="19685" y="580136"/>
                    <a:pt x="25400" y="585851"/>
                    <a:pt x="25400" y="592836"/>
                  </a:cubicBezTo>
                  <a:cubicBezTo>
                    <a:pt x="25400" y="900811"/>
                    <a:pt x="461772" y="1160145"/>
                    <a:pt x="1015619" y="1160145"/>
                  </a:cubicBezTo>
                  <a:cubicBezTo>
                    <a:pt x="1569466" y="1160145"/>
                    <a:pt x="2005838" y="900684"/>
                    <a:pt x="2005838" y="592709"/>
                  </a:cubicBezTo>
                  <a:lnTo>
                    <a:pt x="2018538" y="592709"/>
                  </a:lnTo>
                  <a:lnTo>
                    <a:pt x="2005838" y="592709"/>
                  </a:lnTo>
                  <a:cubicBezTo>
                    <a:pt x="2005838" y="284861"/>
                    <a:pt x="1569466" y="25400"/>
                    <a:pt x="1015619" y="25400"/>
                  </a:cubicBezTo>
                  <a:cubicBezTo>
                    <a:pt x="1008634" y="25400"/>
                    <a:pt x="1002919" y="19685"/>
                    <a:pt x="1002919" y="12700"/>
                  </a:cubicBezTo>
                  <a:cubicBezTo>
                    <a:pt x="1002919" y="5715"/>
                    <a:pt x="1008634" y="0"/>
                    <a:pt x="1015619" y="0"/>
                  </a:cubicBezTo>
                  <a:cubicBezTo>
                    <a:pt x="1022604" y="0"/>
                    <a:pt x="1028319" y="5715"/>
                    <a:pt x="1028319" y="12700"/>
                  </a:cubicBezTo>
                  <a:cubicBezTo>
                    <a:pt x="1028319" y="19685"/>
                    <a:pt x="1022604" y="25400"/>
                    <a:pt x="1015619" y="25400"/>
                  </a:cubicBezTo>
                  <a:cubicBezTo>
                    <a:pt x="461772" y="25400"/>
                    <a:pt x="25400" y="284861"/>
                    <a:pt x="25400" y="592836"/>
                  </a:cubicBezTo>
                  <a:close/>
                </a:path>
              </a:pathLst>
            </a:custGeom>
            <a:solidFill>
              <a:srgbClr val="70AD47"/>
            </a:solidFill>
          </p:spPr>
        </p:sp>
        <p:sp>
          <p:nvSpPr>
            <p:cNvPr name="TextBox 82" id="82"/>
            <p:cNvSpPr txBox="true"/>
            <p:nvPr/>
          </p:nvSpPr>
          <p:spPr>
            <a:xfrm>
              <a:off x="0" y="-38100"/>
              <a:ext cx="2031180" cy="1223702"/>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Email_id</a:t>
              </a:r>
            </a:p>
          </p:txBody>
        </p:sp>
      </p:grpSp>
      <p:sp>
        <p:nvSpPr>
          <p:cNvPr name="AutoShape 83" id="83"/>
          <p:cNvSpPr/>
          <p:nvPr/>
        </p:nvSpPr>
        <p:spPr>
          <a:xfrm rot="-1790625">
            <a:off x="14780744" y="1386344"/>
            <a:ext cx="997171" cy="0"/>
          </a:xfrm>
          <a:prstGeom prst="line">
            <a:avLst/>
          </a:prstGeom>
          <a:ln cap="rnd" w="9525">
            <a:solidFill>
              <a:srgbClr val="000000"/>
            </a:solidFill>
            <a:prstDash val="solid"/>
            <a:headEnd type="none" len="sm" w="sm"/>
            <a:tailEnd type="triangle" len="med" w="lg"/>
          </a:ln>
        </p:spPr>
      </p:sp>
      <p:grpSp>
        <p:nvGrpSpPr>
          <p:cNvPr name="Group 84" id="84"/>
          <p:cNvGrpSpPr/>
          <p:nvPr/>
        </p:nvGrpSpPr>
        <p:grpSpPr>
          <a:xfrm rot="0">
            <a:off x="15697508" y="589628"/>
            <a:ext cx="1678246" cy="885514"/>
            <a:chOff x="0" y="0"/>
            <a:chExt cx="2237662" cy="1180686"/>
          </a:xfrm>
        </p:grpSpPr>
        <p:sp>
          <p:nvSpPr>
            <p:cNvPr name="Freeform 85" id="85"/>
            <p:cNvSpPr/>
            <p:nvPr/>
          </p:nvSpPr>
          <p:spPr>
            <a:xfrm flipH="false" flipV="false" rot="0">
              <a:off x="12700" y="12700"/>
              <a:ext cx="2212340" cy="1155319"/>
            </a:xfrm>
            <a:custGeom>
              <a:avLst/>
              <a:gdLst/>
              <a:ahLst/>
              <a:cxnLst/>
              <a:rect r="r" b="b" t="t" l="l"/>
              <a:pathLst>
                <a:path h="1155319" w="2212340">
                  <a:moveTo>
                    <a:pt x="0" y="577596"/>
                  </a:moveTo>
                  <a:cubicBezTo>
                    <a:pt x="0" y="258572"/>
                    <a:pt x="495173" y="0"/>
                    <a:pt x="1106170" y="0"/>
                  </a:cubicBezTo>
                  <a:cubicBezTo>
                    <a:pt x="1717167" y="0"/>
                    <a:pt x="2212340" y="258572"/>
                    <a:pt x="2212340" y="577596"/>
                  </a:cubicBezTo>
                  <a:cubicBezTo>
                    <a:pt x="2212340" y="896620"/>
                    <a:pt x="1717040" y="1155319"/>
                    <a:pt x="1106170" y="1155319"/>
                  </a:cubicBezTo>
                  <a:cubicBezTo>
                    <a:pt x="495300" y="1155319"/>
                    <a:pt x="0" y="896620"/>
                    <a:pt x="0" y="577596"/>
                  </a:cubicBezTo>
                  <a:close/>
                </a:path>
              </a:pathLst>
            </a:custGeom>
            <a:solidFill>
              <a:srgbClr val="FFFFFF"/>
            </a:solidFill>
          </p:spPr>
        </p:sp>
        <p:sp>
          <p:nvSpPr>
            <p:cNvPr name="Freeform 86" id="86"/>
            <p:cNvSpPr/>
            <p:nvPr/>
          </p:nvSpPr>
          <p:spPr>
            <a:xfrm flipH="false" flipV="false" rot="0">
              <a:off x="0" y="0"/>
              <a:ext cx="2237740" cy="1180719"/>
            </a:xfrm>
            <a:custGeom>
              <a:avLst/>
              <a:gdLst/>
              <a:ahLst/>
              <a:cxnLst/>
              <a:rect r="r" b="b" t="t" l="l"/>
              <a:pathLst>
                <a:path h="1180719" w="2237740">
                  <a:moveTo>
                    <a:pt x="0" y="590296"/>
                  </a:moveTo>
                  <a:cubicBezTo>
                    <a:pt x="0" y="258191"/>
                    <a:pt x="509143" y="0"/>
                    <a:pt x="1118870" y="0"/>
                  </a:cubicBezTo>
                  <a:cubicBezTo>
                    <a:pt x="1728597" y="0"/>
                    <a:pt x="2237740" y="258191"/>
                    <a:pt x="2237740" y="590296"/>
                  </a:cubicBezTo>
                  <a:lnTo>
                    <a:pt x="2225040" y="590296"/>
                  </a:lnTo>
                  <a:lnTo>
                    <a:pt x="2237740" y="590296"/>
                  </a:lnTo>
                  <a:cubicBezTo>
                    <a:pt x="2237740" y="922401"/>
                    <a:pt x="1728597" y="1180592"/>
                    <a:pt x="1118870" y="1180592"/>
                  </a:cubicBezTo>
                  <a:lnTo>
                    <a:pt x="1118870" y="1167892"/>
                  </a:lnTo>
                  <a:lnTo>
                    <a:pt x="1118870" y="1180592"/>
                  </a:lnTo>
                  <a:cubicBezTo>
                    <a:pt x="509143" y="1180719"/>
                    <a:pt x="0" y="922401"/>
                    <a:pt x="0" y="590296"/>
                  </a:cubicBezTo>
                  <a:lnTo>
                    <a:pt x="12700" y="590296"/>
                  </a:lnTo>
                  <a:lnTo>
                    <a:pt x="25400" y="590296"/>
                  </a:lnTo>
                  <a:lnTo>
                    <a:pt x="12700" y="590296"/>
                  </a:lnTo>
                  <a:lnTo>
                    <a:pt x="0" y="590296"/>
                  </a:lnTo>
                  <a:moveTo>
                    <a:pt x="25400" y="590296"/>
                  </a:moveTo>
                  <a:cubicBezTo>
                    <a:pt x="25400" y="597281"/>
                    <a:pt x="19685" y="602996"/>
                    <a:pt x="12700" y="602996"/>
                  </a:cubicBezTo>
                  <a:cubicBezTo>
                    <a:pt x="5715" y="602996"/>
                    <a:pt x="0" y="597281"/>
                    <a:pt x="0" y="590296"/>
                  </a:cubicBezTo>
                  <a:cubicBezTo>
                    <a:pt x="0" y="583311"/>
                    <a:pt x="5715" y="577596"/>
                    <a:pt x="12700" y="577596"/>
                  </a:cubicBezTo>
                  <a:cubicBezTo>
                    <a:pt x="19685" y="577596"/>
                    <a:pt x="25400" y="583311"/>
                    <a:pt x="25400" y="590296"/>
                  </a:cubicBezTo>
                  <a:cubicBezTo>
                    <a:pt x="25400" y="896239"/>
                    <a:pt x="506730" y="1155319"/>
                    <a:pt x="1118870" y="1155319"/>
                  </a:cubicBezTo>
                  <a:cubicBezTo>
                    <a:pt x="1731010" y="1155319"/>
                    <a:pt x="2212340" y="896366"/>
                    <a:pt x="2212340" y="590423"/>
                  </a:cubicBezTo>
                  <a:cubicBezTo>
                    <a:pt x="2212340" y="284480"/>
                    <a:pt x="1731010" y="25400"/>
                    <a:pt x="1118870" y="25400"/>
                  </a:cubicBezTo>
                  <a:lnTo>
                    <a:pt x="1118870" y="12700"/>
                  </a:lnTo>
                  <a:lnTo>
                    <a:pt x="1118870" y="25400"/>
                  </a:lnTo>
                  <a:cubicBezTo>
                    <a:pt x="506730" y="25400"/>
                    <a:pt x="25400" y="284353"/>
                    <a:pt x="25400" y="590296"/>
                  </a:cubicBezTo>
                  <a:close/>
                </a:path>
              </a:pathLst>
            </a:custGeom>
            <a:solidFill>
              <a:srgbClr val="70AD47"/>
            </a:solidFill>
          </p:spPr>
        </p:sp>
        <p:sp>
          <p:nvSpPr>
            <p:cNvPr name="TextBox 87" id="87"/>
            <p:cNvSpPr txBox="true"/>
            <p:nvPr/>
          </p:nvSpPr>
          <p:spPr>
            <a:xfrm>
              <a:off x="0" y="-38100"/>
              <a:ext cx="2237662" cy="1218786"/>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User_ip</a:t>
              </a:r>
            </a:p>
          </p:txBody>
        </p:sp>
      </p:grpSp>
      <p:sp>
        <p:nvSpPr>
          <p:cNvPr name="AutoShape 88" id="88"/>
          <p:cNvSpPr/>
          <p:nvPr/>
        </p:nvSpPr>
        <p:spPr>
          <a:xfrm rot="-8983744">
            <a:off x="11549855" y="1386344"/>
            <a:ext cx="984406" cy="0"/>
          </a:xfrm>
          <a:prstGeom prst="line">
            <a:avLst/>
          </a:prstGeom>
          <a:ln cap="rnd" w="9525">
            <a:solidFill>
              <a:srgbClr val="000000"/>
            </a:solidFill>
            <a:prstDash val="solid"/>
            <a:headEnd type="none" len="sm" w="sm"/>
            <a:tailEnd type="triangle" len="med" w="lg"/>
          </a:ln>
        </p:spPr>
      </p:sp>
      <p:grpSp>
        <p:nvGrpSpPr>
          <p:cNvPr name="Group 89" id="89"/>
          <p:cNvGrpSpPr/>
          <p:nvPr/>
        </p:nvGrpSpPr>
        <p:grpSpPr>
          <a:xfrm rot="0">
            <a:off x="10306976" y="233824"/>
            <a:ext cx="1479134" cy="1088306"/>
            <a:chOff x="0" y="0"/>
            <a:chExt cx="1972178" cy="1451074"/>
          </a:xfrm>
        </p:grpSpPr>
        <p:sp>
          <p:nvSpPr>
            <p:cNvPr name="Freeform 90" id="90"/>
            <p:cNvSpPr/>
            <p:nvPr/>
          </p:nvSpPr>
          <p:spPr>
            <a:xfrm flipH="false" flipV="false" rot="0">
              <a:off x="12700" y="12700"/>
              <a:ext cx="1946656" cy="1425702"/>
            </a:xfrm>
            <a:custGeom>
              <a:avLst/>
              <a:gdLst/>
              <a:ahLst/>
              <a:cxnLst/>
              <a:rect r="r" b="b" t="t" l="l"/>
              <a:pathLst>
                <a:path h="1425702" w="1946656">
                  <a:moveTo>
                    <a:pt x="0" y="712851"/>
                  </a:moveTo>
                  <a:cubicBezTo>
                    <a:pt x="0" y="319151"/>
                    <a:pt x="435864" y="0"/>
                    <a:pt x="973328" y="0"/>
                  </a:cubicBezTo>
                  <a:cubicBezTo>
                    <a:pt x="1510792" y="0"/>
                    <a:pt x="1946656" y="319151"/>
                    <a:pt x="1946656" y="712851"/>
                  </a:cubicBezTo>
                  <a:cubicBezTo>
                    <a:pt x="1946656" y="1106551"/>
                    <a:pt x="1510792" y="1425702"/>
                    <a:pt x="973328" y="1425702"/>
                  </a:cubicBezTo>
                  <a:cubicBezTo>
                    <a:pt x="435864" y="1425702"/>
                    <a:pt x="0" y="1106551"/>
                    <a:pt x="0" y="712851"/>
                  </a:cubicBezTo>
                  <a:close/>
                </a:path>
              </a:pathLst>
            </a:custGeom>
            <a:solidFill>
              <a:srgbClr val="FFFFFF"/>
            </a:solidFill>
          </p:spPr>
        </p:sp>
        <p:sp>
          <p:nvSpPr>
            <p:cNvPr name="Freeform 91" id="91"/>
            <p:cNvSpPr/>
            <p:nvPr/>
          </p:nvSpPr>
          <p:spPr>
            <a:xfrm flipH="false" flipV="false" rot="0">
              <a:off x="0" y="0"/>
              <a:ext cx="1972056" cy="1451102"/>
            </a:xfrm>
            <a:custGeom>
              <a:avLst/>
              <a:gdLst/>
              <a:ahLst/>
              <a:cxnLst/>
              <a:rect r="r" b="b" t="t" l="l"/>
              <a:pathLst>
                <a:path h="1451102" w="1972056">
                  <a:moveTo>
                    <a:pt x="0" y="725551"/>
                  </a:moveTo>
                  <a:cubicBezTo>
                    <a:pt x="0" y="321437"/>
                    <a:pt x="445389" y="0"/>
                    <a:pt x="986028" y="0"/>
                  </a:cubicBezTo>
                  <a:lnTo>
                    <a:pt x="986028" y="12700"/>
                  </a:lnTo>
                  <a:lnTo>
                    <a:pt x="986028" y="25400"/>
                  </a:lnTo>
                  <a:lnTo>
                    <a:pt x="986028" y="12700"/>
                  </a:lnTo>
                  <a:lnTo>
                    <a:pt x="986028" y="0"/>
                  </a:lnTo>
                  <a:cubicBezTo>
                    <a:pt x="1526667" y="0"/>
                    <a:pt x="1972056" y="321437"/>
                    <a:pt x="1972056" y="725551"/>
                  </a:cubicBezTo>
                  <a:lnTo>
                    <a:pt x="1959356" y="725551"/>
                  </a:lnTo>
                  <a:lnTo>
                    <a:pt x="1972056" y="725551"/>
                  </a:lnTo>
                  <a:cubicBezTo>
                    <a:pt x="1972056" y="1129665"/>
                    <a:pt x="1526667" y="1451102"/>
                    <a:pt x="986028" y="1451102"/>
                  </a:cubicBezTo>
                  <a:lnTo>
                    <a:pt x="986028" y="1438402"/>
                  </a:lnTo>
                  <a:lnTo>
                    <a:pt x="986028" y="1451102"/>
                  </a:lnTo>
                  <a:cubicBezTo>
                    <a:pt x="445389" y="1451102"/>
                    <a:pt x="0" y="1129665"/>
                    <a:pt x="0" y="725551"/>
                  </a:cubicBezTo>
                  <a:lnTo>
                    <a:pt x="12700" y="725551"/>
                  </a:lnTo>
                  <a:lnTo>
                    <a:pt x="25400" y="725551"/>
                  </a:lnTo>
                  <a:lnTo>
                    <a:pt x="12700" y="725551"/>
                  </a:lnTo>
                  <a:lnTo>
                    <a:pt x="0" y="725551"/>
                  </a:lnTo>
                  <a:moveTo>
                    <a:pt x="25400" y="725551"/>
                  </a:moveTo>
                  <a:cubicBezTo>
                    <a:pt x="25400" y="732536"/>
                    <a:pt x="19685" y="738251"/>
                    <a:pt x="12700" y="738251"/>
                  </a:cubicBezTo>
                  <a:cubicBezTo>
                    <a:pt x="5715" y="738251"/>
                    <a:pt x="0" y="732536"/>
                    <a:pt x="0" y="725551"/>
                  </a:cubicBezTo>
                  <a:cubicBezTo>
                    <a:pt x="0" y="718566"/>
                    <a:pt x="5715" y="712851"/>
                    <a:pt x="12700" y="712851"/>
                  </a:cubicBezTo>
                  <a:cubicBezTo>
                    <a:pt x="19685" y="712851"/>
                    <a:pt x="25400" y="718566"/>
                    <a:pt x="25400" y="725551"/>
                  </a:cubicBezTo>
                  <a:cubicBezTo>
                    <a:pt x="25400" y="1108837"/>
                    <a:pt x="451612" y="1425702"/>
                    <a:pt x="986028" y="1425702"/>
                  </a:cubicBezTo>
                  <a:cubicBezTo>
                    <a:pt x="1520444" y="1425702"/>
                    <a:pt x="1946656" y="1108837"/>
                    <a:pt x="1946656" y="725551"/>
                  </a:cubicBezTo>
                  <a:cubicBezTo>
                    <a:pt x="1946656" y="342265"/>
                    <a:pt x="1520571" y="25400"/>
                    <a:pt x="986028" y="25400"/>
                  </a:cubicBezTo>
                  <a:cubicBezTo>
                    <a:pt x="979043" y="25400"/>
                    <a:pt x="973328" y="19685"/>
                    <a:pt x="973328" y="12700"/>
                  </a:cubicBezTo>
                  <a:cubicBezTo>
                    <a:pt x="973328" y="5715"/>
                    <a:pt x="979043" y="0"/>
                    <a:pt x="986028" y="0"/>
                  </a:cubicBezTo>
                  <a:cubicBezTo>
                    <a:pt x="993013" y="0"/>
                    <a:pt x="998728" y="5715"/>
                    <a:pt x="998728" y="12700"/>
                  </a:cubicBezTo>
                  <a:cubicBezTo>
                    <a:pt x="998728" y="19685"/>
                    <a:pt x="993013" y="25400"/>
                    <a:pt x="986028" y="25400"/>
                  </a:cubicBezTo>
                  <a:cubicBezTo>
                    <a:pt x="451612" y="25400"/>
                    <a:pt x="25400" y="342265"/>
                    <a:pt x="25400" y="725551"/>
                  </a:cubicBezTo>
                  <a:close/>
                </a:path>
              </a:pathLst>
            </a:custGeom>
            <a:solidFill>
              <a:srgbClr val="70AD47"/>
            </a:solidFill>
          </p:spPr>
        </p:sp>
        <p:sp>
          <p:nvSpPr>
            <p:cNvPr name="TextBox 92" id="92"/>
            <p:cNvSpPr txBox="true"/>
            <p:nvPr/>
          </p:nvSpPr>
          <p:spPr>
            <a:xfrm>
              <a:off x="0" y="-38100"/>
              <a:ext cx="1972178" cy="1489174"/>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User_id</a:t>
              </a:r>
            </a:p>
          </p:txBody>
        </p:sp>
      </p:grpSp>
      <p:sp>
        <p:nvSpPr>
          <p:cNvPr name="AutoShape 93" id="93"/>
          <p:cNvSpPr/>
          <p:nvPr/>
        </p:nvSpPr>
        <p:spPr>
          <a:xfrm rot="1882574">
            <a:off x="14728723" y="2835118"/>
            <a:ext cx="1615785" cy="0"/>
          </a:xfrm>
          <a:prstGeom prst="line">
            <a:avLst/>
          </a:prstGeom>
          <a:ln cap="rnd" w="9525">
            <a:solidFill>
              <a:srgbClr val="000000"/>
            </a:solidFill>
            <a:prstDash val="solid"/>
            <a:headEnd type="none" len="sm" w="sm"/>
            <a:tailEnd type="triangle" len="med" w="lg"/>
          </a:ln>
        </p:spPr>
      </p:sp>
      <p:grpSp>
        <p:nvGrpSpPr>
          <p:cNvPr name="Group 94" id="94"/>
          <p:cNvGrpSpPr/>
          <p:nvPr/>
        </p:nvGrpSpPr>
        <p:grpSpPr>
          <a:xfrm rot="0">
            <a:off x="15977734" y="3100534"/>
            <a:ext cx="1619260" cy="981375"/>
            <a:chOff x="0" y="0"/>
            <a:chExt cx="2159014" cy="1308500"/>
          </a:xfrm>
        </p:grpSpPr>
        <p:sp>
          <p:nvSpPr>
            <p:cNvPr name="Freeform 95" id="95"/>
            <p:cNvSpPr/>
            <p:nvPr/>
          </p:nvSpPr>
          <p:spPr>
            <a:xfrm flipH="false" flipV="false" rot="0">
              <a:off x="12700" y="12700"/>
              <a:ext cx="2133600" cy="1283208"/>
            </a:xfrm>
            <a:custGeom>
              <a:avLst/>
              <a:gdLst/>
              <a:ahLst/>
              <a:cxnLst/>
              <a:rect r="r" b="b" t="t" l="l"/>
              <a:pathLst>
                <a:path h="1283208" w="2133600">
                  <a:moveTo>
                    <a:pt x="0" y="641604"/>
                  </a:moveTo>
                  <a:cubicBezTo>
                    <a:pt x="0" y="287274"/>
                    <a:pt x="477647" y="0"/>
                    <a:pt x="1066800" y="0"/>
                  </a:cubicBezTo>
                  <a:cubicBezTo>
                    <a:pt x="1655953" y="0"/>
                    <a:pt x="2133600" y="287274"/>
                    <a:pt x="2133600" y="641604"/>
                  </a:cubicBezTo>
                  <a:cubicBezTo>
                    <a:pt x="2133600" y="995934"/>
                    <a:pt x="1655953" y="1283208"/>
                    <a:pt x="1066800" y="1283208"/>
                  </a:cubicBezTo>
                  <a:cubicBezTo>
                    <a:pt x="477647" y="1283208"/>
                    <a:pt x="0" y="995807"/>
                    <a:pt x="0" y="641604"/>
                  </a:cubicBezTo>
                  <a:close/>
                </a:path>
              </a:pathLst>
            </a:custGeom>
            <a:solidFill>
              <a:srgbClr val="FFFFFF"/>
            </a:solidFill>
          </p:spPr>
        </p:sp>
        <p:sp>
          <p:nvSpPr>
            <p:cNvPr name="Freeform 96" id="96"/>
            <p:cNvSpPr/>
            <p:nvPr/>
          </p:nvSpPr>
          <p:spPr>
            <a:xfrm flipH="false" flipV="false" rot="0">
              <a:off x="0" y="0"/>
              <a:ext cx="2159000" cy="1308608"/>
            </a:xfrm>
            <a:custGeom>
              <a:avLst/>
              <a:gdLst/>
              <a:ahLst/>
              <a:cxnLst/>
              <a:rect r="r" b="b" t="t" l="l"/>
              <a:pathLst>
                <a:path h="1308608" w="2159000">
                  <a:moveTo>
                    <a:pt x="0" y="654304"/>
                  </a:moveTo>
                  <a:cubicBezTo>
                    <a:pt x="0" y="287782"/>
                    <a:pt x="489839" y="0"/>
                    <a:pt x="1079500" y="0"/>
                  </a:cubicBezTo>
                  <a:cubicBezTo>
                    <a:pt x="1669161" y="0"/>
                    <a:pt x="2159000" y="287782"/>
                    <a:pt x="2159000" y="654304"/>
                  </a:cubicBezTo>
                  <a:lnTo>
                    <a:pt x="2146300" y="654304"/>
                  </a:lnTo>
                  <a:lnTo>
                    <a:pt x="2159000" y="654304"/>
                  </a:lnTo>
                  <a:cubicBezTo>
                    <a:pt x="2159000" y="1020699"/>
                    <a:pt x="1669161" y="1308608"/>
                    <a:pt x="1079500" y="1308608"/>
                  </a:cubicBezTo>
                  <a:lnTo>
                    <a:pt x="1079500" y="1295908"/>
                  </a:lnTo>
                  <a:lnTo>
                    <a:pt x="1079500" y="1308608"/>
                  </a:lnTo>
                  <a:cubicBezTo>
                    <a:pt x="489839" y="1308608"/>
                    <a:pt x="0" y="1020826"/>
                    <a:pt x="0" y="654304"/>
                  </a:cubicBezTo>
                  <a:lnTo>
                    <a:pt x="12700" y="654304"/>
                  </a:lnTo>
                  <a:lnTo>
                    <a:pt x="25400" y="654304"/>
                  </a:lnTo>
                  <a:lnTo>
                    <a:pt x="12700" y="654304"/>
                  </a:lnTo>
                  <a:lnTo>
                    <a:pt x="0" y="654304"/>
                  </a:lnTo>
                  <a:moveTo>
                    <a:pt x="25400" y="654304"/>
                  </a:moveTo>
                  <a:cubicBezTo>
                    <a:pt x="25400" y="661289"/>
                    <a:pt x="19685" y="667004"/>
                    <a:pt x="12700" y="667004"/>
                  </a:cubicBezTo>
                  <a:cubicBezTo>
                    <a:pt x="5715" y="667004"/>
                    <a:pt x="0" y="661289"/>
                    <a:pt x="0" y="654304"/>
                  </a:cubicBezTo>
                  <a:cubicBezTo>
                    <a:pt x="0" y="647319"/>
                    <a:pt x="5715" y="641604"/>
                    <a:pt x="12700" y="641604"/>
                  </a:cubicBezTo>
                  <a:cubicBezTo>
                    <a:pt x="19685" y="641604"/>
                    <a:pt x="25400" y="647319"/>
                    <a:pt x="25400" y="654304"/>
                  </a:cubicBezTo>
                  <a:cubicBezTo>
                    <a:pt x="25400" y="996569"/>
                    <a:pt x="490855" y="1283208"/>
                    <a:pt x="1079500" y="1283208"/>
                  </a:cubicBezTo>
                  <a:cubicBezTo>
                    <a:pt x="1668145" y="1283208"/>
                    <a:pt x="2133600" y="996569"/>
                    <a:pt x="2133600" y="654304"/>
                  </a:cubicBezTo>
                  <a:cubicBezTo>
                    <a:pt x="2133600" y="312039"/>
                    <a:pt x="1668145" y="25400"/>
                    <a:pt x="1079500" y="25400"/>
                  </a:cubicBezTo>
                  <a:lnTo>
                    <a:pt x="1079500" y="12700"/>
                  </a:lnTo>
                  <a:lnTo>
                    <a:pt x="1079500" y="25400"/>
                  </a:lnTo>
                  <a:cubicBezTo>
                    <a:pt x="490855" y="25400"/>
                    <a:pt x="25400" y="312039"/>
                    <a:pt x="25400" y="654304"/>
                  </a:cubicBezTo>
                  <a:close/>
                </a:path>
              </a:pathLst>
            </a:custGeom>
            <a:solidFill>
              <a:srgbClr val="70AD47"/>
            </a:solidFill>
          </p:spPr>
        </p:sp>
        <p:sp>
          <p:nvSpPr>
            <p:cNvPr name="TextBox 97" id="97"/>
            <p:cNvSpPr txBox="true"/>
            <p:nvPr/>
          </p:nvSpPr>
          <p:spPr>
            <a:xfrm>
              <a:off x="0" y="-38100"/>
              <a:ext cx="2159014" cy="1346600"/>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moblie</a:t>
              </a:r>
            </a:p>
          </p:txBody>
        </p:sp>
      </p:grpSp>
      <p:sp>
        <p:nvSpPr>
          <p:cNvPr name="AutoShape 98" id="98"/>
          <p:cNvSpPr/>
          <p:nvPr/>
        </p:nvSpPr>
        <p:spPr>
          <a:xfrm>
            <a:off x="14846837" y="2072147"/>
            <a:ext cx="864984" cy="9525"/>
          </a:xfrm>
          <a:prstGeom prst="line">
            <a:avLst/>
          </a:prstGeom>
          <a:ln cap="rnd" w="9525">
            <a:solidFill>
              <a:srgbClr val="000000"/>
            </a:solidFill>
            <a:prstDash val="solid"/>
            <a:headEnd type="none" len="sm" w="sm"/>
            <a:tailEnd type="triangle" len="med" w="lg"/>
          </a:ln>
        </p:spPr>
      </p:sp>
      <p:grpSp>
        <p:nvGrpSpPr>
          <p:cNvPr name="Group 99" id="99"/>
          <p:cNvGrpSpPr/>
          <p:nvPr/>
        </p:nvGrpSpPr>
        <p:grpSpPr>
          <a:xfrm rot="0">
            <a:off x="15697508" y="1620170"/>
            <a:ext cx="1678242" cy="903953"/>
            <a:chOff x="0" y="0"/>
            <a:chExt cx="2237656" cy="1205270"/>
          </a:xfrm>
        </p:grpSpPr>
        <p:sp>
          <p:nvSpPr>
            <p:cNvPr name="Freeform 100" id="100"/>
            <p:cNvSpPr/>
            <p:nvPr/>
          </p:nvSpPr>
          <p:spPr>
            <a:xfrm flipH="false" flipV="false" rot="0">
              <a:off x="12700" y="12700"/>
              <a:ext cx="2212340" cy="1179830"/>
            </a:xfrm>
            <a:custGeom>
              <a:avLst/>
              <a:gdLst/>
              <a:ahLst/>
              <a:cxnLst/>
              <a:rect r="r" b="b" t="t" l="l"/>
              <a:pathLst>
                <a:path h="1179830" w="2212340">
                  <a:moveTo>
                    <a:pt x="0" y="589915"/>
                  </a:moveTo>
                  <a:cubicBezTo>
                    <a:pt x="0" y="264160"/>
                    <a:pt x="495173" y="0"/>
                    <a:pt x="1106170" y="0"/>
                  </a:cubicBezTo>
                  <a:cubicBezTo>
                    <a:pt x="1717167" y="0"/>
                    <a:pt x="2212340" y="264160"/>
                    <a:pt x="2212340" y="589915"/>
                  </a:cubicBezTo>
                  <a:cubicBezTo>
                    <a:pt x="2212340" y="915670"/>
                    <a:pt x="1717040" y="1179830"/>
                    <a:pt x="1106170" y="1179830"/>
                  </a:cubicBezTo>
                  <a:cubicBezTo>
                    <a:pt x="495300" y="1179830"/>
                    <a:pt x="0" y="915797"/>
                    <a:pt x="0" y="589915"/>
                  </a:cubicBezTo>
                  <a:close/>
                </a:path>
              </a:pathLst>
            </a:custGeom>
            <a:solidFill>
              <a:srgbClr val="FFFFFF"/>
            </a:solidFill>
          </p:spPr>
        </p:sp>
        <p:sp>
          <p:nvSpPr>
            <p:cNvPr name="Freeform 101" id="101"/>
            <p:cNvSpPr/>
            <p:nvPr/>
          </p:nvSpPr>
          <p:spPr>
            <a:xfrm flipH="false" flipV="false" rot="0">
              <a:off x="0" y="0"/>
              <a:ext cx="2237740" cy="1205230"/>
            </a:xfrm>
            <a:custGeom>
              <a:avLst/>
              <a:gdLst/>
              <a:ahLst/>
              <a:cxnLst/>
              <a:rect r="r" b="b" t="t" l="l"/>
              <a:pathLst>
                <a:path h="1205230" w="2237740">
                  <a:moveTo>
                    <a:pt x="0" y="602615"/>
                  </a:moveTo>
                  <a:cubicBezTo>
                    <a:pt x="0" y="263906"/>
                    <a:pt x="508889" y="0"/>
                    <a:pt x="1118870" y="0"/>
                  </a:cubicBezTo>
                  <a:cubicBezTo>
                    <a:pt x="1728851" y="0"/>
                    <a:pt x="2237740" y="263906"/>
                    <a:pt x="2237740" y="602615"/>
                  </a:cubicBezTo>
                  <a:lnTo>
                    <a:pt x="2225040" y="602615"/>
                  </a:lnTo>
                  <a:lnTo>
                    <a:pt x="2237740" y="602615"/>
                  </a:lnTo>
                  <a:cubicBezTo>
                    <a:pt x="2237740" y="941324"/>
                    <a:pt x="1728851" y="1205230"/>
                    <a:pt x="1118870" y="1205230"/>
                  </a:cubicBezTo>
                  <a:lnTo>
                    <a:pt x="1118870" y="1192530"/>
                  </a:lnTo>
                  <a:lnTo>
                    <a:pt x="1118870" y="1205230"/>
                  </a:lnTo>
                  <a:cubicBezTo>
                    <a:pt x="508889" y="1205230"/>
                    <a:pt x="0" y="941451"/>
                    <a:pt x="0" y="602615"/>
                  </a:cubicBezTo>
                  <a:lnTo>
                    <a:pt x="12700" y="602615"/>
                  </a:lnTo>
                  <a:lnTo>
                    <a:pt x="25400" y="602615"/>
                  </a:lnTo>
                  <a:lnTo>
                    <a:pt x="12700" y="602615"/>
                  </a:lnTo>
                  <a:lnTo>
                    <a:pt x="0" y="602615"/>
                  </a:lnTo>
                  <a:moveTo>
                    <a:pt x="25400" y="602615"/>
                  </a:moveTo>
                  <a:cubicBezTo>
                    <a:pt x="25400" y="609600"/>
                    <a:pt x="19685" y="615315"/>
                    <a:pt x="12700" y="615315"/>
                  </a:cubicBezTo>
                  <a:cubicBezTo>
                    <a:pt x="5715" y="615315"/>
                    <a:pt x="0" y="609600"/>
                    <a:pt x="0" y="602615"/>
                  </a:cubicBezTo>
                  <a:cubicBezTo>
                    <a:pt x="0" y="595630"/>
                    <a:pt x="5715" y="589915"/>
                    <a:pt x="12700" y="589915"/>
                  </a:cubicBezTo>
                  <a:cubicBezTo>
                    <a:pt x="19685" y="589915"/>
                    <a:pt x="25400" y="595630"/>
                    <a:pt x="25400" y="602615"/>
                  </a:cubicBezTo>
                  <a:cubicBezTo>
                    <a:pt x="25400" y="915543"/>
                    <a:pt x="506984" y="1179830"/>
                    <a:pt x="1118870" y="1179830"/>
                  </a:cubicBezTo>
                  <a:cubicBezTo>
                    <a:pt x="1730756" y="1179830"/>
                    <a:pt x="2212340" y="915416"/>
                    <a:pt x="2212340" y="602615"/>
                  </a:cubicBezTo>
                  <a:cubicBezTo>
                    <a:pt x="2212340" y="289814"/>
                    <a:pt x="1730756" y="25400"/>
                    <a:pt x="1118870" y="25400"/>
                  </a:cubicBezTo>
                  <a:lnTo>
                    <a:pt x="1118870" y="12700"/>
                  </a:lnTo>
                  <a:lnTo>
                    <a:pt x="1118870" y="25400"/>
                  </a:lnTo>
                  <a:cubicBezTo>
                    <a:pt x="506984" y="25400"/>
                    <a:pt x="25400" y="289814"/>
                    <a:pt x="25400" y="602615"/>
                  </a:cubicBezTo>
                  <a:close/>
                </a:path>
              </a:pathLst>
            </a:custGeom>
            <a:solidFill>
              <a:srgbClr val="70AD47"/>
            </a:solidFill>
          </p:spPr>
        </p:sp>
        <p:sp>
          <p:nvSpPr>
            <p:cNvPr name="TextBox 102" id="102"/>
            <p:cNvSpPr txBox="true"/>
            <p:nvPr/>
          </p:nvSpPr>
          <p:spPr>
            <a:xfrm>
              <a:off x="0" y="-38100"/>
              <a:ext cx="2237656" cy="1243370"/>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System_name</a:t>
              </a:r>
            </a:p>
          </p:txBody>
        </p:sp>
      </p:grpSp>
      <p:sp>
        <p:nvSpPr>
          <p:cNvPr name="AutoShape 103" id="103"/>
          <p:cNvSpPr/>
          <p:nvPr/>
        </p:nvSpPr>
        <p:spPr>
          <a:xfrm rot="42986">
            <a:off x="10732034" y="995516"/>
            <a:ext cx="761752" cy="0"/>
          </a:xfrm>
          <a:prstGeom prst="line">
            <a:avLst/>
          </a:prstGeom>
          <a:ln cap="rnd" w="9525">
            <a:solidFill>
              <a:srgbClr val="000000"/>
            </a:solidFill>
            <a:prstDash val="solid"/>
            <a:headEnd type="none" len="sm" w="sm"/>
            <a:tailEnd type="none" len="sm" w="sm"/>
          </a:ln>
        </p:spPr>
      </p:sp>
      <p:grpSp>
        <p:nvGrpSpPr>
          <p:cNvPr name="Group 104" id="104"/>
          <p:cNvGrpSpPr/>
          <p:nvPr/>
        </p:nvGrpSpPr>
        <p:grpSpPr>
          <a:xfrm rot="0">
            <a:off x="12725708" y="4343082"/>
            <a:ext cx="1810977" cy="1324283"/>
            <a:chOff x="0" y="0"/>
            <a:chExt cx="2414636" cy="1765710"/>
          </a:xfrm>
        </p:grpSpPr>
        <p:sp>
          <p:nvSpPr>
            <p:cNvPr name="Freeform 105" id="105"/>
            <p:cNvSpPr/>
            <p:nvPr/>
          </p:nvSpPr>
          <p:spPr>
            <a:xfrm flipH="false" flipV="false" rot="0">
              <a:off x="12700" y="12700"/>
              <a:ext cx="2389124" cy="1740408"/>
            </a:xfrm>
            <a:custGeom>
              <a:avLst/>
              <a:gdLst/>
              <a:ahLst/>
              <a:cxnLst/>
              <a:rect r="r" b="b" t="t" l="l"/>
              <a:pathLst>
                <a:path h="1740408" w="2389124">
                  <a:moveTo>
                    <a:pt x="0" y="870204"/>
                  </a:moveTo>
                  <a:lnTo>
                    <a:pt x="1194562" y="0"/>
                  </a:lnTo>
                  <a:lnTo>
                    <a:pt x="2389124" y="870204"/>
                  </a:lnTo>
                  <a:lnTo>
                    <a:pt x="1194562" y="1740408"/>
                  </a:lnTo>
                  <a:close/>
                </a:path>
              </a:pathLst>
            </a:custGeom>
            <a:solidFill>
              <a:srgbClr val="FFFFFF"/>
            </a:solidFill>
          </p:spPr>
        </p:sp>
        <p:sp>
          <p:nvSpPr>
            <p:cNvPr name="Freeform 106" id="106"/>
            <p:cNvSpPr/>
            <p:nvPr/>
          </p:nvSpPr>
          <p:spPr>
            <a:xfrm flipH="false" flipV="false" rot="0">
              <a:off x="0" y="-889"/>
              <a:ext cx="2414651" cy="1767459"/>
            </a:xfrm>
            <a:custGeom>
              <a:avLst/>
              <a:gdLst/>
              <a:ahLst/>
              <a:cxnLst/>
              <a:rect r="r" b="b" t="t" l="l"/>
              <a:pathLst>
                <a:path h="1767459" w="2414651">
                  <a:moveTo>
                    <a:pt x="5207" y="873506"/>
                  </a:moveTo>
                  <a:lnTo>
                    <a:pt x="1199896" y="3302"/>
                  </a:lnTo>
                  <a:cubicBezTo>
                    <a:pt x="1204341" y="0"/>
                    <a:pt x="1210437" y="0"/>
                    <a:pt x="1214882" y="3302"/>
                  </a:cubicBezTo>
                  <a:lnTo>
                    <a:pt x="2409444" y="873506"/>
                  </a:lnTo>
                  <a:cubicBezTo>
                    <a:pt x="2412746" y="875919"/>
                    <a:pt x="2414651" y="879729"/>
                    <a:pt x="2414651" y="883793"/>
                  </a:cubicBezTo>
                  <a:cubicBezTo>
                    <a:pt x="2414651" y="887857"/>
                    <a:pt x="2412746" y="891667"/>
                    <a:pt x="2409444" y="894080"/>
                  </a:cubicBezTo>
                  <a:lnTo>
                    <a:pt x="1214755" y="1764157"/>
                  </a:lnTo>
                  <a:cubicBezTo>
                    <a:pt x="1210310" y="1767459"/>
                    <a:pt x="1204214" y="1767459"/>
                    <a:pt x="1199769" y="1764157"/>
                  </a:cubicBezTo>
                  <a:lnTo>
                    <a:pt x="5207" y="893953"/>
                  </a:lnTo>
                  <a:cubicBezTo>
                    <a:pt x="1905" y="891540"/>
                    <a:pt x="0" y="887730"/>
                    <a:pt x="0" y="883666"/>
                  </a:cubicBezTo>
                  <a:cubicBezTo>
                    <a:pt x="0" y="879602"/>
                    <a:pt x="1905" y="875792"/>
                    <a:pt x="5207" y="873379"/>
                  </a:cubicBezTo>
                  <a:moveTo>
                    <a:pt x="20193" y="893953"/>
                  </a:moveTo>
                  <a:lnTo>
                    <a:pt x="12700" y="883793"/>
                  </a:lnTo>
                  <a:lnTo>
                    <a:pt x="20193" y="873506"/>
                  </a:lnTo>
                  <a:lnTo>
                    <a:pt x="1214755" y="1743710"/>
                  </a:lnTo>
                  <a:lnTo>
                    <a:pt x="1207262" y="1753997"/>
                  </a:lnTo>
                  <a:lnTo>
                    <a:pt x="1199769" y="1743710"/>
                  </a:lnTo>
                  <a:lnTo>
                    <a:pt x="2394331" y="873506"/>
                  </a:lnTo>
                  <a:lnTo>
                    <a:pt x="2401824" y="883793"/>
                  </a:lnTo>
                  <a:lnTo>
                    <a:pt x="2394331" y="894080"/>
                  </a:lnTo>
                  <a:lnTo>
                    <a:pt x="1199896" y="23876"/>
                  </a:lnTo>
                  <a:lnTo>
                    <a:pt x="1207262" y="13589"/>
                  </a:lnTo>
                  <a:lnTo>
                    <a:pt x="1214755" y="23876"/>
                  </a:lnTo>
                  <a:lnTo>
                    <a:pt x="20193" y="893953"/>
                  </a:lnTo>
                  <a:close/>
                </a:path>
              </a:pathLst>
            </a:custGeom>
            <a:solidFill>
              <a:srgbClr val="70AD47"/>
            </a:solidFill>
          </p:spPr>
        </p:sp>
        <p:sp>
          <p:nvSpPr>
            <p:cNvPr name="TextBox 107" id="107"/>
            <p:cNvSpPr txBox="true"/>
            <p:nvPr/>
          </p:nvSpPr>
          <p:spPr>
            <a:xfrm>
              <a:off x="0" y="-38100"/>
              <a:ext cx="2414636" cy="1803810"/>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Submits to</a:t>
              </a:r>
            </a:p>
          </p:txBody>
        </p:sp>
      </p:grpSp>
      <p:sp>
        <p:nvSpPr>
          <p:cNvPr name="AutoShape 108" id="108"/>
          <p:cNvSpPr/>
          <p:nvPr/>
        </p:nvSpPr>
        <p:spPr>
          <a:xfrm>
            <a:off x="13326360" y="5970326"/>
            <a:ext cx="635482" cy="9525"/>
          </a:xfrm>
          <a:prstGeom prst="line">
            <a:avLst/>
          </a:prstGeom>
          <a:ln cap="rnd" w="9525">
            <a:solidFill>
              <a:srgbClr val="000000"/>
            </a:solidFill>
            <a:prstDash val="solid"/>
            <a:headEnd type="none" len="sm" w="sm"/>
            <a:tailEnd type="triangle" len="med" w="lg"/>
          </a:ln>
        </p:spPr>
      </p:sp>
      <p:grpSp>
        <p:nvGrpSpPr>
          <p:cNvPr name="Group 109" id="109"/>
          <p:cNvGrpSpPr/>
          <p:nvPr/>
        </p:nvGrpSpPr>
        <p:grpSpPr>
          <a:xfrm rot="0">
            <a:off x="12452862" y="6262248"/>
            <a:ext cx="2408289" cy="1032980"/>
            <a:chOff x="0" y="0"/>
            <a:chExt cx="3211052" cy="1377306"/>
          </a:xfrm>
        </p:grpSpPr>
        <p:sp>
          <p:nvSpPr>
            <p:cNvPr name="Freeform 110" id="110"/>
            <p:cNvSpPr/>
            <p:nvPr/>
          </p:nvSpPr>
          <p:spPr>
            <a:xfrm flipH="false" flipV="false" rot="0">
              <a:off x="12700" y="12700"/>
              <a:ext cx="3185668" cy="1351915"/>
            </a:xfrm>
            <a:custGeom>
              <a:avLst/>
              <a:gdLst/>
              <a:ahLst/>
              <a:cxnLst/>
              <a:rect r="r" b="b" t="t" l="l"/>
              <a:pathLst>
                <a:path h="1351915" w="3185668">
                  <a:moveTo>
                    <a:pt x="0" y="0"/>
                  </a:moveTo>
                  <a:lnTo>
                    <a:pt x="3185668" y="0"/>
                  </a:lnTo>
                  <a:lnTo>
                    <a:pt x="3185668" y="1351915"/>
                  </a:lnTo>
                  <a:lnTo>
                    <a:pt x="0" y="1351915"/>
                  </a:lnTo>
                  <a:close/>
                </a:path>
              </a:pathLst>
            </a:custGeom>
            <a:solidFill>
              <a:srgbClr val="FFFFFF"/>
            </a:solidFill>
          </p:spPr>
        </p:sp>
        <p:sp>
          <p:nvSpPr>
            <p:cNvPr name="Freeform 111" id="111"/>
            <p:cNvSpPr/>
            <p:nvPr/>
          </p:nvSpPr>
          <p:spPr>
            <a:xfrm flipH="false" flipV="false" rot="0">
              <a:off x="0" y="0"/>
              <a:ext cx="3211068" cy="1377315"/>
            </a:xfrm>
            <a:custGeom>
              <a:avLst/>
              <a:gdLst/>
              <a:ahLst/>
              <a:cxnLst/>
              <a:rect r="r" b="b" t="t" l="l"/>
              <a:pathLst>
                <a:path h="1377315" w="3211068">
                  <a:moveTo>
                    <a:pt x="12700" y="0"/>
                  </a:moveTo>
                  <a:lnTo>
                    <a:pt x="3198368" y="0"/>
                  </a:lnTo>
                  <a:cubicBezTo>
                    <a:pt x="3205353" y="0"/>
                    <a:pt x="3211068" y="5715"/>
                    <a:pt x="3211068" y="12700"/>
                  </a:cubicBezTo>
                  <a:lnTo>
                    <a:pt x="3211068" y="1364615"/>
                  </a:lnTo>
                  <a:cubicBezTo>
                    <a:pt x="3211068" y="1371600"/>
                    <a:pt x="3205353" y="1377315"/>
                    <a:pt x="3198368" y="1377315"/>
                  </a:cubicBezTo>
                  <a:lnTo>
                    <a:pt x="12700" y="1377315"/>
                  </a:lnTo>
                  <a:cubicBezTo>
                    <a:pt x="5715" y="1377315"/>
                    <a:pt x="0" y="1371600"/>
                    <a:pt x="0" y="1364615"/>
                  </a:cubicBezTo>
                  <a:lnTo>
                    <a:pt x="0" y="12700"/>
                  </a:lnTo>
                  <a:cubicBezTo>
                    <a:pt x="0" y="5715"/>
                    <a:pt x="5715" y="0"/>
                    <a:pt x="12700" y="0"/>
                  </a:cubicBezTo>
                  <a:moveTo>
                    <a:pt x="12700" y="25400"/>
                  </a:moveTo>
                  <a:lnTo>
                    <a:pt x="12700" y="12700"/>
                  </a:lnTo>
                  <a:lnTo>
                    <a:pt x="25400" y="12700"/>
                  </a:lnTo>
                  <a:lnTo>
                    <a:pt x="25400" y="1364615"/>
                  </a:lnTo>
                  <a:lnTo>
                    <a:pt x="12700" y="1364615"/>
                  </a:lnTo>
                  <a:lnTo>
                    <a:pt x="12700" y="1351915"/>
                  </a:lnTo>
                  <a:lnTo>
                    <a:pt x="3198368" y="1351915"/>
                  </a:lnTo>
                  <a:lnTo>
                    <a:pt x="3198368" y="1364615"/>
                  </a:lnTo>
                  <a:lnTo>
                    <a:pt x="3185668" y="1364615"/>
                  </a:lnTo>
                  <a:lnTo>
                    <a:pt x="3185668" y="12700"/>
                  </a:lnTo>
                  <a:lnTo>
                    <a:pt x="3198368" y="12700"/>
                  </a:lnTo>
                  <a:lnTo>
                    <a:pt x="3198368" y="25400"/>
                  </a:lnTo>
                  <a:lnTo>
                    <a:pt x="12700" y="25400"/>
                  </a:lnTo>
                  <a:close/>
                </a:path>
              </a:pathLst>
            </a:custGeom>
            <a:solidFill>
              <a:srgbClr val="70AD47"/>
            </a:solidFill>
          </p:spPr>
        </p:sp>
        <p:sp>
          <p:nvSpPr>
            <p:cNvPr name="TextBox 112" id="112"/>
            <p:cNvSpPr txBox="true"/>
            <p:nvPr/>
          </p:nvSpPr>
          <p:spPr>
            <a:xfrm>
              <a:off x="0" y="-38100"/>
              <a:ext cx="3211052" cy="1415406"/>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Complain Type</a:t>
              </a:r>
            </a:p>
          </p:txBody>
        </p:sp>
      </p:grpSp>
      <p:sp>
        <p:nvSpPr>
          <p:cNvPr name="AutoShape 113" id="113"/>
          <p:cNvSpPr/>
          <p:nvPr/>
        </p:nvSpPr>
        <p:spPr>
          <a:xfrm rot="-2521258">
            <a:off x="14397126" y="5884606"/>
            <a:ext cx="1203966" cy="0"/>
          </a:xfrm>
          <a:prstGeom prst="line">
            <a:avLst/>
          </a:prstGeom>
          <a:ln cap="rnd" w="9525">
            <a:solidFill>
              <a:srgbClr val="000000"/>
            </a:solidFill>
            <a:prstDash val="solid"/>
            <a:headEnd type="none" len="sm" w="sm"/>
            <a:tailEnd type="triangle" len="med" w="lg"/>
          </a:ln>
        </p:spPr>
      </p:sp>
      <p:grpSp>
        <p:nvGrpSpPr>
          <p:cNvPr name="Group 114" id="114"/>
          <p:cNvGrpSpPr/>
          <p:nvPr/>
        </p:nvGrpSpPr>
        <p:grpSpPr>
          <a:xfrm rot="0">
            <a:off x="15432033" y="4865116"/>
            <a:ext cx="1810975" cy="981374"/>
            <a:chOff x="0" y="0"/>
            <a:chExt cx="2414634" cy="1308498"/>
          </a:xfrm>
        </p:grpSpPr>
        <p:sp>
          <p:nvSpPr>
            <p:cNvPr name="Freeform 115" id="115"/>
            <p:cNvSpPr/>
            <p:nvPr/>
          </p:nvSpPr>
          <p:spPr>
            <a:xfrm flipH="false" flipV="false" rot="0">
              <a:off x="12700" y="12700"/>
              <a:ext cx="2389124" cy="1283208"/>
            </a:xfrm>
            <a:custGeom>
              <a:avLst/>
              <a:gdLst/>
              <a:ahLst/>
              <a:cxnLst/>
              <a:rect r="r" b="b" t="t" l="l"/>
              <a:pathLst>
                <a:path h="1283208" w="2389124">
                  <a:moveTo>
                    <a:pt x="0" y="641604"/>
                  </a:moveTo>
                  <a:cubicBezTo>
                    <a:pt x="0" y="287274"/>
                    <a:pt x="534797" y="0"/>
                    <a:pt x="1194562" y="0"/>
                  </a:cubicBezTo>
                  <a:cubicBezTo>
                    <a:pt x="1854327" y="0"/>
                    <a:pt x="2389124" y="287274"/>
                    <a:pt x="2389124" y="641604"/>
                  </a:cubicBezTo>
                  <a:cubicBezTo>
                    <a:pt x="2389124" y="995934"/>
                    <a:pt x="1854327" y="1283208"/>
                    <a:pt x="1194562" y="1283208"/>
                  </a:cubicBezTo>
                  <a:cubicBezTo>
                    <a:pt x="534797" y="1283208"/>
                    <a:pt x="0" y="995807"/>
                    <a:pt x="0" y="641604"/>
                  </a:cubicBezTo>
                  <a:close/>
                </a:path>
              </a:pathLst>
            </a:custGeom>
            <a:solidFill>
              <a:srgbClr val="FFFFFF"/>
            </a:solidFill>
          </p:spPr>
        </p:sp>
        <p:sp>
          <p:nvSpPr>
            <p:cNvPr name="Freeform 116" id="116"/>
            <p:cNvSpPr/>
            <p:nvPr/>
          </p:nvSpPr>
          <p:spPr>
            <a:xfrm flipH="false" flipV="false" rot="0">
              <a:off x="0" y="0"/>
              <a:ext cx="2414524" cy="1308608"/>
            </a:xfrm>
            <a:custGeom>
              <a:avLst/>
              <a:gdLst/>
              <a:ahLst/>
              <a:cxnLst/>
              <a:rect r="r" b="b" t="t" l="l"/>
              <a:pathLst>
                <a:path h="1308608" w="2414524">
                  <a:moveTo>
                    <a:pt x="0" y="654304"/>
                  </a:moveTo>
                  <a:cubicBezTo>
                    <a:pt x="0" y="287020"/>
                    <a:pt x="548513" y="0"/>
                    <a:pt x="1207262" y="0"/>
                  </a:cubicBezTo>
                  <a:cubicBezTo>
                    <a:pt x="1866011" y="0"/>
                    <a:pt x="2414524" y="287020"/>
                    <a:pt x="2414524" y="654304"/>
                  </a:cubicBezTo>
                  <a:lnTo>
                    <a:pt x="2401824" y="654304"/>
                  </a:lnTo>
                  <a:lnTo>
                    <a:pt x="2414524" y="654304"/>
                  </a:lnTo>
                  <a:cubicBezTo>
                    <a:pt x="2414524" y="1021588"/>
                    <a:pt x="1866011" y="1308608"/>
                    <a:pt x="1207262" y="1308608"/>
                  </a:cubicBezTo>
                  <a:lnTo>
                    <a:pt x="1207262" y="1295908"/>
                  </a:lnTo>
                  <a:lnTo>
                    <a:pt x="1207262" y="1308608"/>
                  </a:lnTo>
                  <a:cubicBezTo>
                    <a:pt x="548513" y="1308481"/>
                    <a:pt x="0" y="1021461"/>
                    <a:pt x="0" y="654304"/>
                  </a:cubicBezTo>
                  <a:lnTo>
                    <a:pt x="12700" y="654304"/>
                  </a:lnTo>
                  <a:lnTo>
                    <a:pt x="25400" y="654304"/>
                  </a:lnTo>
                  <a:lnTo>
                    <a:pt x="12700" y="654304"/>
                  </a:lnTo>
                  <a:lnTo>
                    <a:pt x="0" y="654304"/>
                  </a:lnTo>
                  <a:moveTo>
                    <a:pt x="25400" y="654304"/>
                  </a:moveTo>
                  <a:cubicBezTo>
                    <a:pt x="25400" y="661289"/>
                    <a:pt x="19685" y="667004"/>
                    <a:pt x="12700" y="667004"/>
                  </a:cubicBezTo>
                  <a:cubicBezTo>
                    <a:pt x="5715" y="667004"/>
                    <a:pt x="0" y="661289"/>
                    <a:pt x="0" y="654304"/>
                  </a:cubicBezTo>
                  <a:cubicBezTo>
                    <a:pt x="0" y="647319"/>
                    <a:pt x="5715" y="641604"/>
                    <a:pt x="12700" y="641604"/>
                  </a:cubicBezTo>
                  <a:cubicBezTo>
                    <a:pt x="19685" y="641604"/>
                    <a:pt x="25400" y="647319"/>
                    <a:pt x="25400" y="654304"/>
                  </a:cubicBezTo>
                  <a:cubicBezTo>
                    <a:pt x="25400" y="995680"/>
                    <a:pt x="546608" y="1283208"/>
                    <a:pt x="1207262" y="1283208"/>
                  </a:cubicBezTo>
                  <a:cubicBezTo>
                    <a:pt x="1867916" y="1283208"/>
                    <a:pt x="2389124" y="995807"/>
                    <a:pt x="2389124" y="654304"/>
                  </a:cubicBezTo>
                  <a:cubicBezTo>
                    <a:pt x="2389124" y="312801"/>
                    <a:pt x="1868043" y="25400"/>
                    <a:pt x="1207262" y="25400"/>
                  </a:cubicBezTo>
                  <a:lnTo>
                    <a:pt x="1207262" y="12700"/>
                  </a:lnTo>
                  <a:lnTo>
                    <a:pt x="1207262" y="25400"/>
                  </a:lnTo>
                  <a:cubicBezTo>
                    <a:pt x="546608" y="25400"/>
                    <a:pt x="25400" y="312801"/>
                    <a:pt x="25400" y="654304"/>
                  </a:cubicBezTo>
                  <a:close/>
                </a:path>
              </a:pathLst>
            </a:custGeom>
            <a:solidFill>
              <a:srgbClr val="70AD47"/>
            </a:solidFill>
          </p:spPr>
        </p:sp>
        <p:sp>
          <p:nvSpPr>
            <p:cNvPr name="TextBox 117" id="117"/>
            <p:cNvSpPr txBox="true"/>
            <p:nvPr/>
          </p:nvSpPr>
          <p:spPr>
            <a:xfrm>
              <a:off x="0" y="-38100"/>
              <a:ext cx="2414634" cy="1346598"/>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Complain_id</a:t>
              </a:r>
            </a:p>
          </p:txBody>
        </p:sp>
      </p:grpSp>
      <p:sp>
        <p:nvSpPr>
          <p:cNvPr name="AutoShape 118" id="118"/>
          <p:cNvSpPr/>
          <p:nvPr/>
        </p:nvSpPr>
        <p:spPr>
          <a:xfrm>
            <a:off x="12720166" y="3433603"/>
            <a:ext cx="1847871" cy="9525"/>
          </a:xfrm>
          <a:prstGeom prst="line">
            <a:avLst/>
          </a:prstGeom>
          <a:ln cap="rnd" w="9525">
            <a:solidFill>
              <a:srgbClr val="000000"/>
            </a:solidFill>
            <a:prstDash val="solid"/>
            <a:headEnd type="none" len="sm" w="sm"/>
            <a:tailEnd type="none" len="sm" w="sm"/>
          </a:ln>
        </p:spPr>
      </p:sp>
      <p:sp>
        <p:nvSpPr>
          <p:cNvPr name="AutoShape 119" id="119"/>
          <p:cNvSpPr/>
          <p:nvPr/>
        </p:nvSpPr>
        <p:spPr>
          <a:xfrm>
            <a:off x="14846798" y="6781498"/>
            <a:ext cx="865062" cy="9525"/>
          </a:xfrm>
          <a:prstGeom prst="line">
            <a:avLst/>
          </a:prstGeom>
          <a:ln cap="rnd" w="9525">
            <a:solidFill>
              <a:srgbClr val="000000"/>
            </a:solidFill>
            <a:prstDash val="solid"/>
            <a:headEnd type="none" len="sm" w="sm"/>
            <a:tailEnd type="triangle" len="med" w="lg"/>
          </a:ln>
        </p:spPr>
      </p:sp>
      <p:grpSp>
        <p:nvGrpSpPr>
          <p:cNvPr name="Group 120" id="120"/>
          <p:cNvGrpSpPr/>
          <p:nvPr/>
        </p:nvGrpSpPr>
        <p:grpSpPr>
          <a:xfrm rot="0">
            <a:off x="15697508" y="6273288"/>
            <a:ext cx="1619261" cy="981374"/>
            <a:chOff x="0" y="0"/>
            <a:chExt cx="2159014" cy="1308498"/>
          </a:xfrm>
        </p:grpSpPr>
        <p:sp>
          <p:nvSpPr>
            <p:cNvPr name="Freeform 121" id="121"/>
            <p:cNvSpPr/>
            <p:nvPr/>
          </p:nvSpPr>
          <p:spPr>
            <a:xfrm flipH="false" flipV="false" rot="0">
              <a:off x="12700" y="12700"/>
              <a:ext cx="2133600" cy="1283208"/>
            </a:xfrm>
            <a:custGeom>
              <a:avLst/>
              <a:gdLst/>
              <a:ahLst/>
              <a:cxnLst/>
              <a:rect r="r" b="b" t="t" l="l"/>
              <a:pathLst>
                <a:path h="1283208" w="2133600">
                  <a:moveTo>
                    <a:pt x="0" y="641604"/>
                  </a:moveTo>
                  <a:cubicBezTo>
                    <a:pt x="0" y="287274"/>
                    <a:pt x="477647" y="0"/>
                    <a:pt x="1066800" y="0"/>
                  </a:cubicBezTo>
                  <a:cubicBezTo>
                    <a:pt x="1655953" y="0"/>
                    <a:pt x="2133600" y="287274"/>
                    <a:pt x="2133600" y="641604"/>
                  </a:cubicBezTo>
                  <a:cubicBezTo>
                    <a:pt x="2133600" y="995934"/>
                    <a:pt x="1655953" y="1283208"/>
                    <a:pt x="1066800" y="1283208"/>
                  </a:cubicBezTo>
                  <a:cubicBezTo>
                    <a:pt x="477647" y="1283208"/>
                    <a:pt x="0" y="995807"/>
                    <a:pt x="0" y="641604"/>
                  </a:cubicBezTo>
                  <a:close/>
                </a:path>
              </a:pathLst>
            </a:custGeom>
            <a:solidFill>
              <a:srgbClr val="FFFFFF"/>
            </a:solidFill>
          </p:spPr>
        </p:sp>
        <p:sp>
          <p:nvSpPr>
            <p:cNvPr name="Freeform 122" id="122"/>
            <p:cNvSpPr/>
            <p:nvPr/>
          </p:nvSpPr>
          <p:spPr>
            <a:xfrm flipH="false" flipV="false" rot="0">
              <a:off x="0" y="0"/>
              <a:ext cx="2159000" cy="1308608"/>
            </a:xfrm>
            <a:custGeom>
              <a:avLst/>
              <a:gdLst/>
              <a:ahLst/>
              <a:cxnLst/>
              <a:rect r="r" b="b" t="t" l="l"/>
              <a:pathLst>
                <a:path h="1308608" w="2159000">
                  <a:moveTo>
                    <a:pt x="0" y="654304"/>
                  </a:moveTo>
                  <a:cubicBezTo>
                    <a:pt x="0" y="287782"/>
                    <a:pt x="489839" y="0"/>
                    <a:pt x="1079500" y="0"/>
                  </a:cubicBezTo>
                  <a:cubicBezTo>
                    <a:pt x="1669161" y="0"/>
                    <a:pt x="2159000" y="287782"/>
                    <a:pt x="2159000" y="654304"/>
                  </a:cubicBezTo>
                  <a:lnTo>
                    <a:pt x="2146300" y="654304"/>
                  </a:lnTo>
                  <a:lnTo>
                    <a:pt x="2159000" y="654304"/>
                  </a:lnTo>
                  <a:cubicBezTo>
                    <a:pt x="2159000" y="1020699"/>
                    <a:pt x="1669161" y="1308608"/>
                    <a:pt x="1079500" y="1308608"/>
                  </a:cubicBezTo>
                  <a:lnTo>
                    <a:pt x="1079500" y="1295908"/>
                  </a:lnTo>
                  <a:lnTo>
                    <a:pt x="1079500" y="1308608"/>
                  </a:lnTo>
                  <a:cubicBezTo>
                    <a:pt x="489839" y="1308608"/>
                    <a:pt x="0" y="1020826"/>
                    <a:pt x="0" y="654304"/>
                  </a:cubicBezTo>
                  <a:lnTo>
                    <a:pt x="12700" y="654304"/>
                  </a:lnTo>
                  <a:lnTo>
                    <a:pt x="25400" y="654304"/>
                  </a:lnTo>
                  <a:lnTo>
                    <a:pt x="12700" y="654304"/>
                  </a:lnTo>
                  <a:lnTo>
                    <a:pt x="0" y="654304"/>
                  </a:lnTo>
                  <a:moveTo>
                    <a:pt x="25400" y="654304"/>
                  </a:moveTo>
                  <a:cubicBezTo>
                    <a:pt x="25400" y="661289"/>
                    <a:pt x="19685" y="667004"/>
                    <a:pt x="12700" y="667004"/>
                  </a:cubicBezTo>
                  <a:cubicBezTo>
                    <a:pt x="5715" y="667004"/>
                    <a:pt x="0" y="661289"/>
                    <a:pt x="0" y="654304"/>
                  </a:cubicBezTo>
                  <a:cubicBezTo>
                    <a:pt x="0" y="647319"/>
                    <a:pt x="5715" y="641604"/>
                    <a:pt x="12700" y="641604"/>
                  </a:cubicBezTo>
                  <a:cubicBezTo>
                    <a:pt x="19685" y="641604"/>
                    <a:pt x="25400" y="647319"/>
                    <a:pt x="25400" y="654304"/>
                  </a:cubicBezTo>
                  <a:cubicBezTo>
                    <a:pt x="25400" y="996569"/>
                    <a:pt x="490855" y="1283208"/>
                    <a:pt x="1079500" y="1283208"/>
                  </a:cubicBezTo>
                  <a:cubicBezTo>
                    <a:pt x="1668145" y="1283208"/>
                    <a:pt x="2133600" y="996569"/>
                    <a:pt x="2133600" y="654304"/>
                  </a:cubicBezTo>
                  <a:cubicBezTo>
                    <a:pt x="2133600" y="312039"/>
                    <a:pt x="1668145" y="25400"/>
                    <a:pt x="1079500" y="25400"/>
                  </a:cubicBezTo>
                  <a:lnTo>
                    <a:pt x="1079500" y="12700"/>
                  </a:lnTo>
                  <a:lnTo>
                    <a:pt x="1079500" y="25400"/>
                  </a:lnTo>
                  <a:cubicBezTo>
                    <a:pt x="490855" y="25400"/>
                    <a:pt x="25400" y="312039"/>
                    <a:pt x="25400" y="654304"/>
                  </a:cubicBezTo>
                  <a:close/>
                </a:path>
              </a:pathLst>
            </a:custGeom>
            <a:solidFill>
              <a:srgbClr val="70AD47"/>
            </a:solidFill>
          </p:spPr>
        </p:sp>
        <p:sp>
          <p:nvSpPr>
            <p:cNvPr name="TextBox 123" id="123"/>
            <p:cNvSpPr txBox="true"/>
            <p:nvPr/>
          </p:nvSpPr>
          <p:spPr>
            <a:xfrm>
              <a:off x="0" y="-38100"/>
              <a:ext cx="2159014" cy="1346598"/>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complain type</a:t>
              </a:r>
            </a:p>
          </p:txBody>
        </p:sp>
      </p:grpSp>
      <p:sp>
        <p:nvSpPr>
          <p:cNvPr name="AutoShape 124" id="124"/>
          <p:cNvSpPr/>
          <p:nvPr/>
        </p:nvSpPr>
        <p:spPr>
          <a:xfrm rot="2514843">
            <a:off x="14698173" y="7669161"/>
            <a:ext cx="1162312" cy="0"/>
          </a:xfrm>
          <a:prstGeom prst="line">
            <a:avLst/>
          </a:prstGeom>
          <a:ln cap="rnd" w="9525">
            <a:solidFill>
              <a:srgbClr val="000000"/>
            </a:solidFill>
            <a:prstDash val="solid"/>
            <a:headEnd type="none" len="sm" w="sm"/>
            <a:tailEnd type="triangle" len="med" w="lg"/>
          </a:ln>
        </p:spPr>
      </p:sp>
      <p:grpSp>
        <p:nvGrpSpPr>
          <p:cNvPr name="Group 125" id="125"/>
          <p:cNvGrpSpPr/>
          <p:nvPr/>
        </p:nvGrpSpPr>
        <p:grpSpPr>
          <a:xfrm rot="0">
            <a:off x="15697506" y="7681460"/>
            <a:ext cx="1619261" cy="1077262"/>
            <a:chOff x="0" y="0"/>
            <a:chExt cx="2159014" cy="1436350"/>
          </a:xfrm>
        </p:grpSpPr>
        <p:sp>
          <p:nvSpPr>
            <p:cNvPr name="Freeform 126" id="126"/>
            <p:cNvSpPr/>
            <p:nvPr/>
          </p:nvSpPr>
          <p:spPr>
            <a:xfrm flipH="false" flipV="false" rot="0">
              <a:off x="12700" y="12700"/>
              <a:ext cx="2133600" cy="1410970"/>
            </a:xfrm>
            <a:custGeom>
              <a:avLst/>
              <a:gdLst/>
              <a:ahLst/>
              <a:cxnLst/>
              <a:rect r="r" b="b" t="t" l="l"/>
              <a:pathLst>
                <a:path h="1410970" w="2133600">
                  <a:moveTo>
                    <a:pt x="0" y="705485"/>
                  </a:moveTo>
                  <a:cubicBezTo>
                    <a:pt x="0" y="315849"/>
                    <a:pt x="477647" y="0"/>
                    <a:pt x="1066800" y="0"/>
                  </a:cubicBezTo>
                  <a:cubicBezTo>
                    <a:pt x="1655953" y="0"/>
                    <a:pt x="2133600" y="315849"/>
                    <a:pt x="2133600" y="705485"/>
                  </a:cubicBezTo>
                  <a:cubicBezTo>
                    <a:pt x="2133600" y="1095121"/>
                    <a:pt x="1655953" y="1410970"/>
                    <a:pt x="1066800" y="1410970"/>
                  </a:cubicBezTo>
                  <a:cubicBezTo>
                    <a:pt x="477647" y="1410970"/>
                    <a:pt x="0" y="1095121"/>
                    <a:pt x="0" y="705485"/>
                  </a:cubicBezTo>
                  <a:close/>
                </a:path>
              </a:pathLst>
            </a:custGeom>
            <a:solidFill>
              <a:srgbClr val="FFFFFF"/>
            </a:solidFill>
          </p:spPr>
        </p:sp>
        <p:sp>
          <p:nvSpPr>
            <p:cNvPr name="Freeform 127" id="127"/>
            <p:cNvSpPr/>
            <p:nvPr/>
          </p:nvSpPr>
          <p:spPr>
            <a:xfrm flipH="false" flipV="false" rot="0">
              <a:off x="0" y="0"/>
              <a:ext cx="2159000" cy="1436370"/>
            </a:xfrm>
            <a:custGeom>
              <a:avLst/>
              <a:gdLst/>
              <a:ahLst/>
              <a:cxnLst/>
              <a:rect r="r" b="b" t="t" l="l"/>
              <a:pathLst>
                <a:path h="1436370" w="2159000">
                  <a:moveTo>
                    <a:pt x="0" y="718185"/>
                  </a:moveTo>
                  <a:cubicBezTo>
                    <a:pt x="0" y="317246"/>
                    <a:pt x="488569" y="0"/>
                    <a:pt x="1079500" y="0"/>
                  </a:cubicBezTo>
                  <a:cubicBezTo>
                    <a:pt x="1670431" y="0"/>
                    <a:pt x="2159000" y="317246"/>
                    <a:pt x="2159000" y="718185"/>
                  </a:cubicBezTo>
                  <a:lnTo>
                    <a:pt x="2146300" y="718185"/>
                  </a:lnTo>
                  <a:lnTo>
                    <a:pt x="2159000" y="718185"/>
                  </a:lnTo>
                  <a:cubicBezTo>
                    <a:pt x="2159000" y="1119124"/>
                    <a:pt x="1670431" y="1436370"/>
                    <a:pt x="1079500" y="1436370"/>
                  </a:cubicBezTo>
                  <a:lnTo>
                    <a:pt x="1079500" y="1423670"/>
                  </a:lnTo>
                  <a:lnTo>
                    <a:pt x="1079500" y="1436370"/>
                  </a:lnTo>
                  <a:cubicBezTo>
                    <a:pt x="488569" y="1436370"/>
                    <a:pt x="0" y="1119124"/>
                    <a:pt x="0" y="718185"/>
                  </a:cubicBezTo>
                  <a:lnTo>
                    <a:pt x="12700" y="718185"/>
                  </a:lnTo>
                  <a:lnTo>
                    <a:pt x="25400" y="718185"/>
                  </a:lnTo>
                  <a:lnTo>
                    <a:pt x="12700" y="718185"/>
                  </a:lnTo>
                  <a:lnTo>
                    <a:pt x="0" y="718185"/>
                  </a:lnTo>
                  <a:moveTo>
                    <a:pt x="25400" y="718185"/>
                  </a:moveTo>
                  <a:cubicBezTo>
                    <a:pt x="25400" y="725170"/>
                    <a:pt x="19685" y="730885"/>
                    <a:pt x="12700" y="730885"/>
                  </a:cubicBezTo>
                  <a:cubicBezTo>
                    <a:pt x="5715" y="730885"/>
                    <a:pt x="0" y="725170"/>
                    <a:pt x="0" y="718185"/>
                  </a:cubicBezTo>
                  <a:cubicBezTo>
                    <a:pt x="0" y="711200"/>
                    <a:pt x="5715" y="705485"/>
                    <a:pt x="12700" y="705485"/>
                  </a:cubicBezTo>
                  <a:cubicBezTo>
                    <a:pt x="19685" y="705485"/>
                    <a:pt x="25400" y="711200"/>
                    <a:pt x="25400" y="718185"/>
                  </a:cubicBezTo>
                  <a:cubicBezTo>
                    <a:pt x="25400" y="1096518"/>
                    <a:pt x="492125" y="1410970"/>
                    <a:pt x="1079500" y="1410970"/>
                  </a:cubicBezTo>
                  <a:cubicBezTo>
                    <a:pt x="1666875" y="1410970"/>
                    <a:pt x="2133600" y="1096518"/>
                    <a:pt x="2133600" y="718185"/>
                  </a:cubicBezTo>
                  <a:cubicBezTo>
                    <a:pt x="2133600" y="339852"/>
                    <a:pt x="1667002" y="25400"/>
                    <a:pt x="1079500" y="25400"/>
                  </a:cubicBezTo>
                  <a:lnTo>
                    <a:pt x="1079500" y="12700"/>
                  </a:lnTo>
                  <a:lnTo>
                    <a:pt x="1079500" y="25400"/>
                  </a:lnTo>
                  <a:cubicBezTo>
                    <a:pt x="492125" y="25400"/>
                    <a:pt x="25400" y="339852"/>
                    <a:pt x="25400" y="718185"/>
                  </a:cubicBezTo>
                  <a:close/>
                </a:path>
              </a:pathLst>
            </a:custGeom>
            <a:solidFill>
              <a:srgbClr val="70AD47"/>
            </a:solidFill>
          </p:spPr>
        </p:sp>
        <p:sp>
          <p:nvSpPr>
            <p:cNvPr name="TextBox 128" id="128"/>
            <p:cNvSpPr txBox="true"/>
            <p:nvPr/>
          </p:nvSpPr>
          <p:spPr>
            <a:xfrm>
              <a:off x="0" y="-38100"/>
              <a:ext cx="2159014" cy="1474450"/>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status</a:t>
              </a:r>
            </a:p>
          </p:txBody>
        </p:sp>
      </p:grpSp>
      <p:sp>
        <p:nvSpPr>
          <p:cNvPr name="AutoShape 129" id="129"/>
          <p:cNvSpPr/>
          <p:nvPr/>
        </p:nvSpPr>
        <p:spPr>
          <a:xfrm>
            <a:off x="13320371" y="7617541"/>
            <a:ext cx="673270" cy="9525"/>
          </a:xfrm>
          <a:prstGeom prst="line">
            <a:avLst/>
          </a:prstGeom>
          <a:ln cap="rnd" w="9525">
            <a:solidFill>
              <a:srgbClr val="000000"/>
            </a:solidFill>
            <a:prstDash val="solid"/>
            <a:headEnd type="none" len="sm" w="sm"/>
            <a:tailEnd type="none" len="sm" w="sm"/>
          </a:ln>
        </p:spPr>
      </p:sp>
      <p:grpSp>
        <p:nvGrpSpPr>
          <p:cNvPr name="Group 130" id="130"/>
          <p:cNvGrpSpPr/>
          <p:nvPr/>
        </p:nvGrpSpPr>
        <p:grpSpPr>
          <a:xfrm rot="0">
            <a:off x="12895316" y="7972755"/>
            <a:ext cx="1597125" cy="785967"/>
            <a:chOff x="0" y="0"/>
            <a:chExt cx="2129500" cy="1047956"/>
          </a:xfrm>
        </p:grpSpPr>
        <p:sp>
          <p:nvSpPr>
            <p:cNvPr name="Freeform 131" id="131"/>
            <p:cNvSpPr/>
            <p:nvPr/>
          </p:nvSpPr>
          <p:spPr>
            <a:xfrm flipH="false" flipV="false" rot="0">
              <a:off x="12700" y="12700"/>
              <a:ext cx="2104136" cy="1022604"/>
            </a:xfrm>
            <a:custGeom>
              <a:avLst/>
              <a:gdLst/>
              <a:ahLst/>
              <a:cxnLst/>
              <a:rect r="r" b="b" t="t" l="l"/>
              <a:pathLst>
                <a:path h="1022604" w="2104136">
                  <a:moveTo>
                    <a:pt x="0" y="511302"/>
                  </a:moveTo>
                  <a:lnTo>
                    <a:pt x="1052068" y="0"/>
                  </a:lnTo>
                  <a:lnTo>
                    <a:pt x="2104136" y="511302"/>
                  </a:lnTo>
                  <a:lnTo>
                    <a:pt x="1052068" y="1022604"/>
                  </a:lnTo>
                  <a:close/>
                </a:path>
              </a:pathLst>
            </a:custGeom>
            <a:solidFill>
              <a:srgbClr val="FFFFFF"/>
            </a:solidFill>
          </p:spPr>
        </p:sp>
        <p:sp>
          <p:nvSpPr>
            <p:cNvPr name="Freeform 132" id="132"/>
            <p:cNvSpPr/>
            <p:nvPr/>
          </p:nvSpPr>
          <p:spPr>
            <a:xfrm flipH="false" flipV="false" rot="0">
              <a:off x="0" y="-381"/>
              <a:ext cx="2129409" cy="1048766"/>
            </a:xfrm>
            <a:custGeom>
              <a:avLst/>
              <a:gdLst/>
              <a:ahLst/>
              <a:cxnLst/>
              <a:rect r="r" b="b" t="t" l="l"/>
              <a:pathLst>
                <a:path h="1048766" w="2129409">
                  <a:moveTo>
                    <a:pt x="7112" y="512953"/>
                  </a:moveTo>
                  <a:lnTo>
                    <a:pt x="1059180" y="1651"/>
                  </a:lnTo>
                  <a:cubicBezTo>
                    <a:pt x="1062736" y="0"/>
                    <a:pt x="1066800" y="0"/>
                    <a:pt x="1070229" y="1651"/>
                  </a:cubicBezTo>
                  <a:lnTo>
                    <a:pt x="2122297" y="512953"/>
                  </a:lnTo>
                  <a:cubicBezTo>
                    <a:pt x="2126615" y="515112"/>
                    <a:pt x="2129409" y="519557"/>
                    <a:pt x="2129409" y="524383"/>
                  </a:cubicBezTo>
                  <a:cubicBezTo>
                    <a:pt x="2129409" y="529209"/>
                    <a:pt x="2126615" y="533654"/>
                    <a:pt x="2122297" y="535813"/>
                  </a:cubicBezTo>
                  <a:lnTo>
                    <a:pt x="1070356" y="1047115"/>
                  </a:lnTo>
                  <a:cubicBezTo>
                    <a:pt x="1066800" y="1048766"/>
                    <a:pt x="1062736" y="1048766"/>
                    <a:pt x="1059307" y="1047115"/>
                  </a:cubicBezTo>
                  <a:lnTo>
                    <a:pt x="7112" y="535813"/>
                  </a:lnTo>
                  <a:cubicBezTo>
                    <a:pt x="2794" y="533654"/>
                    <a:pt x="0" y="529209"/>
                    <a:pt x="0" y="524383"/>
                  </a:cubicBezTo>
                  <a:cubicBezTo>
                    <a:pt x="0" y="519557"/>
                    <a:pt x="2794" y="515112"/>
                    <a:pt x="7112" y="512953"/>
                  </a:cubicBezTo>
                  <a:moveTo>
                    <a:pt x="18161" y="535813"/>
                  </a:moveTo>
                  <a:lnTo>
                    <a:pt x="12700" y="524383"/>
                  </a:lnTo>
                  <a:lnTo>
                    <a:pt x="18288" y="512953"/>
                  </a:lnTo>
                  <a:lnTo>
                    <a:pt x="1070356" y="1024255"/>
                  </a:lnTo>
                  <a:lnTo>
                    <a:pt x="1064768" y="1035685"/>
                  </a:lnTo>
                  <a:lnTo>
                    <a:pt x="1059180" y="1024255"/>
                  </a:lnTo>
                  <a:lnTo>
                    <a:pt x="2111248" y="512953"/>
                  </a:lnTo>
                  <a:lnTo>
                    <a:pt x="2116836" y="524383"/>
                  </a:lnTo>
                  <a:lnTo>
                    <a:pt x="2111248" y="535813"/>
                  </a:lnTo>
                  <a:lnTo>
                    <a:pt x="1059180" y="24511"/>
                  </a:lnTo>
                  <a:lnTo>
                    <a:pt x="1064768" y="13081"/>
                  </a:lnTo>
                  <a:lnTo>
                    <a:pt x="1070356" y="24511"/>
                  </a:lnTo>
                  <a:lnTo>
                    <a:pt x="18288" y="535813"/>
                  </a:lnTo>
                  <a:close/>
                </a:path>
              </a:pathLst>
            </a:custGeom>
            <a:solidFill>
              <a:srgbClr val="70AD47"/>
            </a:solidFill>
          </p:spPr>
        </p:sp>
        <p:sp>
          <p:nvSpPr>
            <p:cNvPr name="TextBox 133" id="133"/>
            <p:cNvSpPr txBox="true"/>
            <p:nvPr/>
          </p:nvSpPr>
          <p:spPr>
            <a:xfrm>
              <a:off x="0" y="-38100"/>
              <a:ext cx="2129500" cy="1086056"/>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has</a:t>
              </a:r>
            </a:p>
          </p:txBody>
        </p:sp>
      </p:grpSp>
      <p:sp>
        <p:nvSpPr>
          <p:cNvPr name="AutoShape 134" id="134"/>
          <p:cNvSpPr/>
          <p:nvPr/>
        </p:nvSpPr>
        <p:spPr>
          <a:xfrm>
            <a:off x="13391214" y="9027715"/>
            <a:ext cx="568457" cy="9525"/>
          </a:xfrm>
          <a:prstGeom prst="line">
            <a:avLst/>
          </a:prstGeom>
          <a:ln cap="rnd" w="9525">
            <a:solidFill>
              <a:srgbClr val="000000"/>
            </a:solidFill>
            <a:prstDash val="solid"/>
            <a:headEnd type="none" len="sm" w="sm"/>
            <a:tailEnd type="triangle" len="med" w="lg"/>
          </a:ln>
        </p:spPr>
      </p:sp>
      <p:grpSp>
        <p:nvGrpSpPr>
          <p:cNvPr name="Group 135" id="135"/>
          <p:cNvGrpSpPr/>
          <p:nvPr/>
        </p:nvGrpSpPr>
        <p:grpSpPr>
          <a:xfrm rot="0">
            <a:off x="12821572" y="9296706"/>
            <a:ext cx="1943715" cy="785966"/>
            <a:chOff x="0" y="0"/>
            <a:chExt cx="2591620" cy="1047954"/>
          </a:xfrm>
        </p:grpSpPr>
        <p:sp>
          <p:nvSpPr>
            <p:cNvPr name="Freeform 136" id="136"/>
            <p:cNvSpPr/>
            <p:nvPr/>
          </p:nvSpPr>
          <p:spPr>
            <a:xfrm flipH="false" flipV="false" rot="0">
              <a:off x="12700" y="12700"/>
              <a:ext cx="2566162" cy="1022604"/>
            </a:xfrm>
            <a:custGeom>
              <a:avLst/>
              <a:gdLst/>
              <a:ahLst/>
              <a:cxnLst/>
              <a:rect r="r" b="b" t="t" l="l"/>
              <a:pathLst>
                <a:path h="1022604" w="2566162">
                  <a:moveTo>
                    <a:pt x="0" y="0"/>
                  </a:moveTo>
                  <a:lnTo>
                    <a:pt x="2566162" y="0"/>
                  </a:lnTo>
                  <a:lnTo>
                    <a:pt x="2566162" y="1022604"/>
                  </a:lnTo>
                  <a:lnTo>
                    <a:pt x="0" y="1022604"/>
                  </a:lnTo>
                  <a:close/>
                </a:path>
              </a:pathLst>
            </a:custGeom>
            <a:solidFill>
              <a:srgbClr val="FFFFFF"/>
            </a:solidFill>
          </p:spPr>
        </p:sp>
        <p:sp>
          <p:nvSpPr>
            <p:cNvPr name="Freeform 137" id="137"/>
            <p:cNvSpPr/>
            <p:nvPr/>
          </p:nvSpPr>
          <p:spPr>
            <a:xfrm flipH="false" flipV="false" rot="0">
              <a:off x="0" y="0"/>
              <a:ext cx="2591562" cy="1048004"/>
            </a:xfrm>
            <a:custGeom>
              <a:avLst/>
              <a:gdLst/>
              <a:ahLst/>
              <a:cxnLst/>
              <a:rect r="r" b="b" t="t" l="l"/>
              <a:pathLst>
                <a:path h="1048004" w="2591562">
                  <a:moveTo>
                    <a:pt x="12700" y="0"/>
                  </a:moveTo>
                  <a:lnTo>
                    <a:pt x="2578862" y="0"/>
                  </a:lnTo>
                  <a:cubicBezTo>
                    <a:pt x="2585847" y="0"/>
                    <a:pt x="2591562" y="5715"/>
                    <a:pt x="2591562" y="12700"/>
                  </a:cubicBezTo>
                  <a:lnTo>
                    <a:pt x="2591562" y="1035304"/>
                  </a:lnTo>
                  <a:cubicBezTo>
                    <a:pt x="2591562" y="1042289"/>
                    <a:pt x="2585847" y="1048004"/>
                    <a:pt x="2578862" y="1048004"/>
                  </a:cubicBezTo>
                  <a:lnTo>
                    <a:pt x="12700" y="1048004"/>
                  </a:lnTo>
                  <a:cubicBezTo>
                    <a:pt x="5715" y="1048004"/>
                    <a:pt x="0" y="1042289"/>
                    <a:pt x="0" y="1035304"/>
                  </a:cubicBezTo>
                  <a:lnTo>
                    <a:pt x="0" y="12700"/>
                  </a:lnTo>
                  <a:cubicBezTo>
                    <a:pt x="0" y="5715"/>
                    <a:pt x="5715" y="0"/>
                    <a:pt x="12700" y="0"/>
                  </a:cubicBezTo>
                  <a:moveTo>
                    <a:pt x="12700" y="25400"/>
                  </a:moveTo>
                  <a:lnTo>
                    <a:pt x="12700" y="12700"/>
                  </a:lnTo>
                  <a:lnTo>
                    <a:pt x="25400" y="12700"/>
                  </a:lnTo>
                  <a:lnTo>
                    <a:pt x="25400" y="1035304"/>
                  </a:lnTo>
                  <a:lnTo>
                    <a:pt x="12700" y="1035304"/>
                  </a:lnTo>
                  <a:lnTo>
                    <a:pt x="12700" y="1022604"/>
                  </a:lnTo>
                  <a:lnTo>
                    <a:pt x="2578862" y="1022604"/>
                  </a:lnTo>
                  <a:lnTo>
                    <a:pt x="2578862" y="1035304"/>
                  </a:lnTo>
                  <a:lnTo>
                    <a:pt x="2566162" y="1035304"/>
                  </a:lnTo>
                  <a:lnTo>
                    <a:pt x="2566162" y="12700"/>
                  </a:lnTo>
                  <a:lnTo>
                    <a:pt x="2578862" y="12700"/>
                  </a:lnTo>
                  <a:lnTo>
                    <a:pt x="2578862" y="25400"/>
                  </a:lnTo>
                  <a:lnTo>
                    <a:pt x="12700" y="25400"/>
                  </a:lnTo>
                  <a:close/>
                </a:path>
              </a:pathLst>
            </a:custGeom>
            <a:solidFill>
              <a:srgbClr val="70AD47"/>
            </a:solidFill>
          </p:spPr>
        </p:sp>
        <p:sp>
          <p:nvSpPr>
            <p:cNvPr name="TextBox 138" id="138"/>
            <p:cNvSpPr txBox="true"/>
            <p:nvPr/>
          </p:nvSpPr>
          <p:spPr>
            <a:xfrm>
              <a:off x="0" y="-38100"/>
              <a:ext cx="2591620" cy="1086054"/>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Complain_desc_type</a:t>
              </a:r>
            </a:p>
          </p:txBody>
        </p:sp>
      </p:grpSp>
      <p:sp>
        <p:nvSpPr>
          <p:cNvPr name="AutoShape 139" id="139"/>
          <p:cNvSpPr/>
          <p:nvPr/>
        </p:nvSpPr>
        <p:spPr>
          <a:xfrm rot="-10402442">
            <a:off x="11479687" y="9232490"/>
            <a:ext cx="1360718" cy="0"/>
          </a:xfrm>
          <a:prstGeom prst="line">
            <a:avLst/>
          </a:prstGeom>
          <a:ln cap="rnd" w="9525">
            <a:solidFill>
              <a:srgbClr val="000000"/>
            </a:solidFill>
            <a:prstDash val="solid"/>
            <a:headEnd type="none" len="sm" w="sm"/>
            <a:tailEnd type="triangle" len="med" w="lg"/>
          </a:ln>
        </p:spPr>
      </p:sp>
      <p:sp>
        <p:nvSpPr>
          <p:cNvPr name="AutoShape 140" id="140"/>
          <p:cNvSpPr/>
          <p:nvPr/>
        </p:nvSpPr>
        <p:spPr>
          <a:xfrm rot="10775774">
            <a:off x="11484214" y="10073147"/>
            <a:ext cx="1351663" cy="0"/>
          </a:xfrm>
          <a:prstGeom prst="line">
            <a:avLst/>
          </a:prstGeom>
          <a:ln cap="rnd" w="9525">
            <a:solidFill>
              <a:srgbClr val="000000"/>
            </a:solidFill>
            <a:prstDash val="solid"/>
            <a:headEnd type="none" len="sm" w="sm"/>
            <a:tailEnd type="triangle" len="med" w="lg"/>
          </a:ln>
        </p:spPr>
      </p:sp>
      <p:sp>
        <p:nvSpPr>
          <p:cNvPr name="AutoShape 141" id="141"/>
          <p:cNvSpPr/>
          <p:nvPr/>
        </p:nvSpPr>
        <p:spPr>
          <a:xfrm rot="34079">
            <a:off x="14750976" y="9306231"/>
            <a:ext cx="960841" cy="0"/>
          </a:xfrm>
          <a:prstGeom prst="line">
            <a:avLst/>
          </a:prstGeom>
          <a:ln cap="rnd" w="9525">
            <a:solidFill>
              <a:srgbClr val="000000"/>
            </a:solidFill>
            <a:prstDash val="solid"/>
            <a:headEnd type="none" len="sm" w="sm"/>
            <a:tailEnd type="triangle" len="med" w="lg"/>
          </a:ln>
        </p:spPr>
      </p:sp>
      <p:sp>
        <p:nvSpPr>
          <p:cNvPr name="AutoShape 142" id="142"/>
          <p:cNvSpPr/>
          <p:nvPr/>
        </p:nvSpPr>
        <p:spPr>
          <a:xfrm rot="29156">
            <a:off x="14750980" y="10073147"/>
            <a:ext cx="1123068" cy="0"/>
          </a:xfrm>
          <a:prstGeom prst="line">
            <a:avLst/>
          </a:prstGeom>
          <a:ln cap="rnd" w="9525">
            <a:solidFill>
              <a:srgbClr val="000000"/>
            </a:solidFill>
            <a:prstDash val="solid"/>
            <a:headEnd type="none" len="sm" w="sm"/>
            <a:tailEnd type="triangle" len="med" w="lg"/>
          </a:ln>
        </p:spPr>
      </p:sp>
      <p:grpSp>
        <p:nvGrpSpPr>
          <p:cNvPr name="Group 143" id="143"/>
          <p:cNvGrpSpPr/>
          <p:nvPr/>
        </p:nvGrpSpPr>
        <p:grpSpPr>
          <a:xfrm rot="0">
            <a:off x="9842401" y="8583123"/>
            <a:ext cx="1707741" cy="889180"/>
            <a:chOff x="0" y="0"/>
            <a:chExt cx="2276988" cy="1185574"/>
          </a:xfrm>
        </p:grpSpPr>
        <p:sp>
          <p:nvSpPr>
            <p:cNvPr name="Freeform 144" id="144"/>
            <p:cNvSpPr/>
            <p:nvPr/>
          </p:nvSpPr>
          <p:spPr>
            <a:xfrm flipH="false" flipV="false" rot="0">
              <a:off x="12700" y="12700"/>
              <a:ext cx="2251710" cy="1160145"/>
            </a:xfrm>
            <a:custGeom>
              <a:avLst/>
              <a:gdLst/>
              <a:ahLst/>
              <a:cxnLst/>
              <a:rect r="r" b="b" t="t" l="l"/>
              <a:pathLst>
                <a:path h="1160145" w="2251710">
                  <a:moveTo>
                    <a:pt x="0" y="580136"/>
                  </a:moveTo>
                  <a:cubicBezTo>
                    <a:pt x="0" y="259715"/>
                    <a:pt x="504063" y="0"/>
                    <a:pt x="1125855" y="0"/>
                  </a:cubicBezTo>
                  <a:cubicBezTo>
                    <a:pt x="1747647" y="0"/>
                    <a:pt x="2251710" y="259715"/>
                    <a:pt x="2251710" y="580136"/>
                  </a:cubicBezTo>
                  <a:cubicBezTo>
                    <a:pt x="2251710" y="900557"/>
                    <a:pt x="1747520" y="1160145"/>
                    <a:pt x="1125855" y="1160145"/>
                  </a:cubicBezTo>
                  <a:cubicBezTo>
                    <a:pt x="504190" y="1160145"/>
                    <a:pt x="0" y="900430"/>
                    <a:pt x="0" y="580136"/>
                  </a:cubicBezTo>
                  <a:close/>
                </a:path>
              </a:pathLst>
            </a:custGeom>
            <a:solidFill>
              <a:srgbClr val="FFFFFF"/>
            </a:solidFill>
          </p:spPr>
        </p:sp>
        <p:sp>
          <p:nvSpPr>
            <p:cNvPr name="Freeform 145" id="145"/>
            <p:cNvSpPr/>
            <p:nvPr/>
          </p:nvSpPr>
          <p:spPr>
            <a:xfrm flipH="false" flipV="false" rot="0">
              <a:off x="0" y="0"/>
              <a:ext cx="2277110" cy="1185672"/>
            </a:xfrm>
            <a:custGeom>
              <a:avLst/>
              <a:gdLst/>
              <a:ahLst/>
              <a:cxnLst/>
              <a:rect r="r" b="b" t="t" l="l"/>
              <a:pathLst>
                <a:path h="1185672" w="2277110">
                  <a:moveTo>
                    <a:pt x="0" y="592836"/>
                  </a:moveTo>
                  <a:cubicBezTo>
                    <a:pt x="0" y="259207"/>
                    <a:pt x="518160" y="0"/>
                    <a:pt x="1138555" y="0"/>
                  </a:cubicBezTo>
                  <a:cubicBezTo>
                    <a:pt x="1758950" y="0"/>
                    <a:pt x="2277110" y="259207"/>
                    <a:pt x="2277110" y="592836"/>
                  </a:cubicBezTo>
                  <a:lnTo>
                    <a:pt x="2264410" y="592836"/>
                  </a:lnTo>
                  <a:lnTo>
                    <a:pt x="2277110" y="592836"/>
                  </a:lnTo>
                  <a:cubicBezTo>
                    <a:pt x="2277110" y="926338"/>
                    <a:pt x="1758950" y="1185672"/>
                    <a:pt x="1138555" y="1185672"/>
                  </a:cubicBezTo>
                  <a:lnTo>
                    <a:pt x="1138555" y="1172972"/>
                  </a:lnTo>
                  <a:lnTo>
                    <a:pt x="1138555" y="1185672"/>
                  </a:lnTo>
                  <a:cubicBezTo>
                    <a:pt x="518160" y="1185545"/>
                    <a:pt x="0" y="926338"/>
                    <a:pt x="0" y="592836"/>
                  </a:cubicBezTo>
                  <a:lnTo>
                    <a:pt x="12700" y="592836"/>
                  </a:lnTo>
                  <a:lnTo>
                    <a:pt x="25400" y="592836"/>
                  </a:lnTo>
                  <a:lnTo>
                    <a:pt x="12700" y="592836"/>
                  </a:lnTo>
                  <a:lnTo>
                    <a:pt x="0" y="592836"/>
                  </a:lnTo>
                  <a:moveTo>
                    <a:pt x="25400" y="592836"/>
                  </a:moveTo>
                  <a:cubicBezTo>
                    <a:pt x="25400" y="599821"/>
                    <a:pt x="19685" y="605536"/>
                    <a:pt x="12700" y="605536"/>
                  </a:cubicBezTo>
                  <a:cubicBezTo>
                    <a:pt x="5715" y="605536"/>
                    <a:pt x="0" y="599821"/>
                    <a:pt x="0" y="592836"/>
                  </a:cubicBezTo>
                  <a:cubicBezTo>
                    <a:pt x="0" y="585851"/>
                    <a:pt x="5715" y="580136"/>
                    <a:pt x="12700" y="580136"/>
                  </a:cubicBezTo>
                  <a:cubicBezTo>
                    <a:pt x="19685" y="580136"/>
                    <a:pt x="25400" y="585851"/>
                    <a:pt x="25400" y="592836"/>
                  </a:cubicBezTo>
                  <a:cubicBezTo>
                    <a:pt x="25400" y="900049"/>
                    <a:pt x="515366" y="1160145"/>
                    <a:pt x="1138555" y="1160145"/>
                  </a:cubicBezTo>
                  <a:cubicBezTo>
                    <a:pt x="1761744" y="1160145"/>
                    <a:pt x="2251710" y="899922"/>
                    <a:pt x="2251710" y="592709"/>
                  </a:cubicBezTo>
                  <a:cubicBezTo>
                    <a:pt x="2251710" y="285496"/>
                    <a:pt x="1761617" y="25400"/>
                    <a:pt x="1138555" y="25400"/>
                  </a:cubicBezTo>
                  <a:lnTo>
                    <a:pt x="1138555" y="12700"/>
                  </a:lnTo>
                  <a:lnTo>
                    <a:pt x="1138555" y="25400"/>
                  </a:lnTo>
                  <a:cubicBezTo>
                    <a:pt x="515366" y="25400"/>
                    <a:pt x="25400" y="285623"/>
                    <a:pt x="25400" y="592836"/>
                  </a:cubicBezTo>
                  <a:close/>
                </a:path>
              </a:pathLst>
            </a:custGeom>
            <a:solidFill>
              <a:srgbClr val="70AD47"/>
            </a:solidFill>
          </p:spPr>
        </p:sp>
        <p:sp>
          <p:nvSpPr>
            <p:cNvPr name="TextBox 146" id="146"/>
            <p:cNvSpPr txBox="true"/>
            <p:nvPr/>
          </p:nvSpPr>
          <p:spPr>
            <a:xfrm>
              <a:off x="0" y="-38100"/>
              <a:ext cx="2276988" cy="1223674"/>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Complain_desc_id</a:t>
              </a:r>
            </a:p>
          </p:txBody>
        </p:sp>
      </p:grpSp>
      <p:grpSp>
        <p:nvGrpSpPr>
          <p:cNvPr name="Group 147" id="147"/>
          <p:cNvGrpSpPr/>
          <p:nvPr/>
        </p:nvGrpSpPr>
        <p:grpSpPr>
          <a:xfrm rot="0">
            <a:off x="9606428" y="9510570"/>
            <a:ext cx="1943715" cy="785955"/>
            <a:chOff x="0" y="0"/>
            <a:chExt cx="2591620" cy="1047940"/>
          </a:xfrm>
        </p:grpSpPr>
        <p:sp>
          <p:nvSpPr>
            <p:cNvPr name="Freeform 148" id="148"/>
            <p:cNvSpPr/>
            <p:nvPr/>
          </p:nvSpPr>
          <p:spPr>
            <a:xfrm flipH="false" flipV="false" rot="0">
              <a:off x="12700" y="12700"/>
              <a:ext cx="2566162" cy="1022477"/>
            </a:xfrm>
            <a:custGeom>
              <a:avLst/>
              <a:gdLst/>
              <a:ahLst/>
              <a:cxnLst/>
              <a:rect r="r" b="b" t="t" l="l"/>
              <a:pathLst>
                <a:path h="1022477" w="2566162">
                  <a:moveTo>
                    <a:pt x="0" y="511302"/>
                  </a:moveTo>
                  <a:cubicBezTo>
                    <a:pt x="0" y="228854"/>
                    <a:pt x="574421" y="0"/>
                    <a:pt x="1283081" y="0"/>
                  </a:cubicBezTo>
                  <a:cubicBezTo>
                    <a:pt x="1991741" y="0"/>
                    <a:pt x="2566162" y="228854"/>
                    <a:pt x="2566162" y="511302"/>
                  </a:cubicBezTo>
                  <a:cubicBezTo>
                    <a:pt x="2566162" y="793750"/>
                    <a:pt x="1991741" y="1022477"/>
                    <a:pt x="1283081" y="1022477"/>
                  </a:cubicBezTo>
                  <a:cubicBezTo>
                    <a:pt x="574421" y="1022477"/>
                    <a:pt x="0" y="793623"/>
                    <a:pt x="0" y="511302"/>
                  </a:cubicBezTo>
                  <a:close/>
                </a:path>
              </a:pathLst>
            </a:custGeom>
            <a:solidFill>
              <a:srgbClr val="FFFFFF"/>
            </a:solidFill>
          </p:spPr>
        </p:sp>
        <p:sp>
          <p:nvSpPr>
            <p:cNvPr name="Freeform 149" id="149"/>
            <p:cNvSpPr/>
            <p:nvPr/>
          </p:nvSpPr>
          <p:spPr>
            <a:xfrm flipH="false" flipV="false" rot="0">
              <a:off x="0" y="0"/>
              <a:ext cx="2591562" cy="1048004"/>
            </a:xfrm>
            <a:custGeom>
              <a:avLst/>
              <a:gdLst/>
              <a:ahLst/>
              <a:cxnLst/>
              <a:rect r="r" b="b" t="t" l="l"/>
              <a:pathLst>
                <a:path h="1048004" w="2591562">
                  <a:moveTo>
                    <a:pt x="0" y="524002"/>
                  </a:moveTo>
                  <a:cubicBezTo>
                    <a:pt x="0" y="227076"/>
                    <a:pt x="591566" y="0"/>
                    <a:pt x="1295781" y="0"/>
                  </a:cubicBezTo>
                  <a:cubicBezTo>
                    <a:pt x="1999996" y="0"/>
                    <a:pt x="2591562" y="227076"/>
                    <a:pt x="2591562" y="524002"/>
                  </a:cubicBezTo>
                  <a:lnTo>
                    <a:pt x="2578862" y="524002"/>
                  </a:lnTo>
                  <a:lnTo>
                    <a:pt x="2591562" y="524002"/>
                  </a:lnTo>
                  <a:cubicBezTo>
                    <a:pt x="2591562" y="820928"/>
                    <a:pt x="1999996" y="1048004"/>
                    <a:pt x="1295781" y="1048004"/>
                  </a:cubicBezTo>
                  <a:lnTo>
                    <a:pt x="1295781" y="1035304"/>
                  </a:lnTo>
                  <a:lnTo>
                    <a:pt x="1295781" y="1048004"/>
                  </a:lnTo>
                  <a:cubicBezTo>
                    <a:pt x="591566" y="1047877"/>
                    <a:pt x="0" y="820801"/>
                    <a:pt x="0" y="524002"/>
                  </a:cubicBezTo>
                  <a:lnTo>
                    <a:pt x="12700" y="524002"/>
                  </a:lnTo>
                  <a:lnTo>
                    <a:pt x="25400" y="524002"/>
                  </a:lnTo>
                  <a:lnTo>
                    <a:pt x="12700" y="524002"/>
                  </a:lnTo>
                  <a:lnTo>
                    <a:pt x="0" y="524002"/>
                  </a:lnTo>
                  <a:moveTo>
                    <a:pt x="25400" y="524002"/>
                  </a:moveTo>
                  <a:cubicBezTo>
                    <a:pt x="25400" y="530987"/>
                    <a:pt x="19685" y="536702"/>
                    <a:pt x="12700" y="536702"/>
                  </a:cubicBezTo>
                  <a:cubicBezTo>
                    <a:pt x="5715" y="536702"/>
                    <a:pt x="0" y="530987"/>
                    <a:pt x="0" y="524002"/>
                  </a:cubicBezTo>
                  <a:cubicBezTo>
                    <a:pt x="0" y="517017"/>
                    <a:pt x="5715" y="511302"/>
                    <a:pt x="12700" y="511302"/>
                  </a:cubicBezTo>
                  <a:cubicBezTo>
                    <a:pt x="19685" y="511302"/>
                    <a:pt x="25400" y="517017"/>
                    <a:pt x="25400" y="524002"/>
                  </a:cubicBezTo>
                  <a:cubicBezTo>
                    <a:pt x="25400" y="791845"/>
                    <a:pt x="582803" y="1022477"/>
                    <a:pt x="1295781" y="1022477"/>
                  </a:cubicBezTo>
                  <a:cubicBezTo>
                    <a:pt x="2008759" y="1022477"/>
                    <a:pt x="2566162" y="791845"/>
                    <a:pt x="2566162" y="524002"/>
                  </a:cubicBezTo>
                  <a:cubicBezTo>
                    <a:pt x="2566162" y="256159"/>
                    <a:pt x="2008886" y="25400"/>
                    <a:pt x="1295781" y="25400"/>
                  </a:cubicBezTo>
                  <a:lnTo>
                    <a:pt x="1295781" y="12700"/>
                  </a:lnTo>
                  <a:lnTo>
                    <a:pt x="1295781" y="25400"/>
                  </a:lnTo>
                  <a:cubicBezTo>
                    <a:pt x="582803" y="25400"/>
                    <a:pt x="25400" y="256159"/>
                    <a:pt x="25400" y="524002"/>
                  </a:cubicBezTo>
                  <a:close/>
                </a:path>
              </a:pathLst>
            </a:custGeom>
            <a:solidFill>
              <a:srgbClr val="70AD47"/>
            </a:solidFill>
          </p:spPr>
        </p:sp>
        <p:sp>
          <p:nvSpPr>
            <p:cNvPr name="TextBox 150" id="150"/>
            <p:cNvSpPr txBox="true"/>
            <p:nvPr/>
          </p:nvSpPr>
          <p:spPr>
            <a:xfrm>
              <a:off x="0" y="-38100"/>
              <a:ext cx="2591620" cy="1086040"/>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Complain_id</a:t>
              </a:r>
            </a:p>
          </p:txBody>
        </p:sp>
      </p:grpSp>
      <p:grpSp>
        <p:nvGrpSpPr>
          <p:cNvPr name="Group 151" id="151"/>
          <p:cNvGrpSpPr/>
          <p:nvPr/>
        </p:nvGrpSpPr>
        <p:grpSpPr>
          <a:xfrm rot="0">
            <a:off x="15708555" y="9018188"/>
            <a:ext cx="1899489" cy="576086"/>
            <a:chOff x="0" y="0"/>
            <a:chExt cx="2532652" cy="768114"/>
          </a:xfrm>
        </p:grpSpPr>
        <p:sp>
          <p:nvSpPr>
            <p:cNvPr name="Freeform 152" id="152"/>
            <p:cNvSpPr/>
            <p:nvPr/>
          </p:nvSpPr>
          <p:spPr>
            <a:xfrm flipH="false" flipV="false" rot="0">
              <a:off x="12700" y="12700"/>
              <a:ext cx="2507234" cy="742696"/>
            </a:xfrm>
            <a:custGeom>
              <a:avLst/>
              <a:gdLst/>
              <a:ahLst/>
              <a:cxnLst/>
              <a:rect r="r" b="b" t="t" l="l"/>
              <a:pathLst>
                <a:path h="742696" w="2507234">
                  <a:moveTo>
                    <a:pt x="0" y="371348"/>
                  </a:moveTo>
                  <a:cubicBezTo>
                    <a:pt x="0" y="166243"/>
                    <a:pt x="561213" y="0"/>
                    <a:pt x="1253617" y="0"/>
                  </a:cubicBezTo>
                  <a:cubicBezTo>
                    <a:pt x="1946021" y="0"/>
                    <a:pt x="2507234" y="166243"/>
                    <a:pt x="2507234" y="371348"/>
                  </a:cubicBezTo>
                  <a:cubicBezTo>
                    <a:pt x="2507234" y="576453"/>
                    <a:pt x="1946021" y="742696"/>
                    <a:pt x="1253617" y="742696"/>
                  </a:cubicBezTo>
                  <a:cubicBezTo>
                    <a:pt x="561213" y="742696"/>
                    <a:pt x="0" y="576453"/>
                    <a:pt x="0" y="371348"/>
                  </a:cubicBezTo>
                  <a:close/>
                </a:path>
              </a:pathLst>
            </a:custGeom>
            <a:solidFill>
              <a:srgbClr val="FFFFFF"/>
            </a:solidFill>
          </p:spPr>
        </p:sp>
        <p:sp>
          <p:nvSpPr>
            <p:cNvPr name="Freeform 153" id="153"/>
            <p:cNvSpPr/>
            <p:nvPr/>
          </p:nvSpPr>
          <p:spPr>
            <a:xfrm flipH="false" flipV="false" rot="0">
              <a:off x="0" y="0"/>
              <a:ext cx="2532634" cy="768096"/>
            </a:xfrm>
            <a:custGeom>
              <a:avLst/>
              <a:gdLst/>
              <a:ahLst/>
              <a:cxnLst/>
              <a:rect r="r" b="b" t="t" l="l"/>
              <a:pathLst>
                <a:path h="768096" w="2532634">
                  <a:moveTo>
                    <a:pt x="0" y="384048"/>
                  </a:moveTo>
                  <a:lnTo>
                    <a:pt x="12700" y="384048"/>
                  </a:lnTo>
                  <a:lnTo>
                    <a:pt x="0" y="384048"/>
                  </a:lnTo>
                  <a:cubicBezTo>
                    <a:pt x="0" y="163449"/>
                    <a:pt x="581279" y="0"/>
                    <a:pt x="1266317" y="0"/>
                  </a:cubicBezTo>
                  <a:cubicBezTo>
                    <a:pt x="1951355" y="0"/>
                    <a:pt x="2532634" y="163449"/>
                    <a:pt x="2532634" y="384048"/>
                  </a:cubicBezTo>
                  <a:lnTo>
                    <a:pt x="2519934" y="384048"/>
                  </a:lnTo>
                  <a:lnTo>
                    <a:pt x="2532634" y="384048"/>
                  </a:lnTo>
                  <a:cubicBezTo>
                    <a:pt x="2532634" y="604647"/>
                    <a:pt x="1951355" y="768096"/>
                    <a:pt x="1266317" y="768096"/>
                  </a:cubicBezTo>
                  <a:lnTo>
                    <a:pt x="1266317" y="755396"/>
                  </a:lnTo>
                  <a:lnTo>
                    <a:pt x="1266317" y="768096"/>
                  </a:lnTo>
                  <a:cubicBezTo>
                    <a:pt x="581279" y="768096"/>
                    <a:pt x="0" y="604647"/>
                    <a:pt x="0" y="384048"/>
                  </a:cubicBezTo>
                  <a:lnTo>
                    <a:pt x="12700" y="384048"/>
                  </a:lnTo>
                  <a:lnTo>
                    <a:pt x="25400" y="384048"/>
                  </a:lnTo>
                  <a:lnTo>
                    <a:pt x="12700" y="384048"/>
                  </a:lnTo>
                  <a:lnTo>
                    <a:pt x="0" y="384048"/>
                  </a:lnTo>
                  <a:moveTo>
                    <a:pt x="25400" y="384048"/>
                  </a:moveTo>
                  <a:cubicBezTo>
                    <a:pt x="25400" y="391033"/>
                    <a:pt x="19685" y="396748"/>
                    <a:pt x="12700" y="396748"/>
                  </a:cubicBezTo>
                  <a:cubicBezTo>
                    <a:pt x="5715" y="396748"/>
                    <a:pt x="0" y="391033"/>
                    <a:pt x="0" y="384048"/>
                  </a:cubicBezTo>
                  <a:cubicBezTo>
                    <a:pt x="0" y="377063"/>
                    <a:pt x="5715" y="371348"/>
                    <a:pt x="12700" y="371348"/>
                  </a:cubicBezTo>
                  <a:cubicBezTo>
                    <a:pt x="19685" y="371348"/>
                    <a:pt x="25400" y="377063"/>
                    <a:pt x="25400" y="384048"/>
                  </a:cubicBezTo>
                  <a:cubicBezTo>
                    <a:pt x="25400" y="573659"/>
                    <a:pt x="566674" y="742696"/>
                    <a:pt x="1266317" y="742696"/>
                  </a:cubicBezTo>
                  <a:cubicBezTo>
                    <a:pt x="1965960" y="742696"/>
                    <a:pt x="2507234" y="573532"/>
                    <a:pt x="2507234" y="384048"/>
                  </a:cubicBezTo>
                  <a:cubicBezTo>
                    <a:pt x="2507234" y="194564"/>
                    <a:pt x="1965960" y="25400"/>
                    <a:pt x="1266317" y="25400"/>
                  </a:cubicBezTo>
                  <a:lnTo>
                    <a:pt x="1266317" y="12700"/>
                  </a:lnTo>
                  <a:lnTo>
                    <a:pt x="1266317" y="25400"/>
                  </a:lnTo>
                  <a:cubicBezTo>
                    <a:pt x="566674" y="25400"/>
                    <a:pt x="25400" y="194564"/>
                    <a:pt x="25400" y="384048"/>
                  </a:cubicBezTo>
                  <a:close/>
                </a:path>
              </a:pathLst>
            </a:custGeom>
            <a:solidFill>
              <a:srgbClr val="70AD47"/>
            </a:solidFill>
          </p:spPr>
        </p:sp>
        <p:sp>
          <p:nvSpPr>
            <p:cNvPr name="TextBox 154" id="154"/>
            <p:cNvSpPr txBox="true"/>
            <p:nvPr/>
          </p:nvSpPr>
          <p:spPr>
            <a:xfrm>
              <a:off x="0" y="-38100"/>
              <a:ext cx="2532652" cy="806214"/>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status</a:t>
              </a:r>
            </a:p>
          </p:txBody>
        </p:sp>
      </p:grpSp>
      <p:grpSp>
        <p:nvGrpSpPr>
          <p:cNvPr name="Group 155" id="155"/>
          <p:cNvGrpSpPr/>
          <p:nvPr/>
        </p:nvGrpSpPr>
        <p:grpSpPr>
          <a:xfrm rot="0">
            <a:off x="15832308" y="9753916"/>
            <a:ext cx="1943715" cy="542608"/>
            <a:chOff x="0" y="0"/>
            <a:chExt cx="2591620" cy="723478"/>
          </a:xfrm>
        </p:grpSpPr>
        <p:sp>
          <p:nvSpPr>
            <p:cNvPr name="Freeform 156" id="156"/>
            <p:cNvSpPr/>
            <p:nvPr/>
          </p:nvSpPr>
          <p:spPr>
            <a:xfrm flipH="false" flipV="false" rot="0">
              <a:off x="12700" y="12700"/>
              <a:ext cx="2566162" cy="698119"/>
            </a:xfrm>
            <a:custGeom>
              <a:avLst/>
              <a:gdLst/>
              <a:ahLst/>
              <a:cxnLst/>
              <a:rect r="r" b="b" t="t" l="l"/>
              <a:pathLst>
                <a:path h="698119" w="2566162">
                  <a:moveTo>
                    <a:pt x="0" y="348996"/>
                  </a:moveTo>
                  <a:cubicBezTo>
                    <a:pt x="0" y="156210"/>
                    <a:pt x="574421" y="0"/>
                    <a:pt x="1283081" y="0"/>
                  </a:cubicBezTo>
                  <a:cubicBezTo>
                    <a:pt x="1991741" y="0"/>
                    <a:pt x="2566162" y="156210"/>
                    <a:pt x="2566162" y="348996"/>
                  </a:cubicBezTo>
                  <a:cubicBezTo>
                    <a:pt x="2566162" y="541782"/>
                    <a:pt x="1991741" y="698119"/>
                    <a:pt x="1283081" y="698119"/>
                  </a:cubicBezTo>
                  <a:cubicBezTo>
                    <a:pt x="574421" y="698119"/>
                    <a:pt x="0" y="541782"/>
                    <a:pt x="0" y="348996"/>
                  </a:cubicBezTo>
                  <a:close/>
                </a:path>
              </a:pathLst>
            </a:custGeom>
            <a:solidFill>
              <a:srgbClr val="FFFFFF"/>
            </a:solidFill>
          </p:spPr>
        </p:sp>
        <p:sp>
          <p:nvSpPr>
            <p:cNvPr name="Freeform 157" id="157"/>
            <p:cNvSpPr/>
            <p:nvPr/>
          </p:nvSpPr>
          <p:spPr>
            <a:xfrm flipH="false" flipV="false" rot="0">
              <a:off x="0" y="0"/>
              <a:ext cx="2591562" cy="723519"/>
            </a:xfrm>
            <a:custGeom>
              <a:avLst/>
              <a:gdLst/>
              <a:ahLst/>
              <a:cxnLst/>
              <a:rect r="r" b="b" t="t" l="l"/>
              <a:pathLst>
                <a:path h="723519" w="2591562">
                  <a:moveTo>
                    <a:pt x="0" y="361696"/>
                  </a:moveTo>
                  <a:lnTo>
                    <a:pt x="12700" y="361696"/>
                  </a:lnTo>
                  <a:lnTo>
                    <a:pt x="0" y="361696"/>
                  </a:lnTo>
                  <a:cubicBezTo>
                    <a:pt x="0" y="153162"/>
                    <a:pt x="595249" y="0"/>
                    <a:pt x="1295781" y="0"/>
                  </a:cubicBezTo>
                  <a:cubicBezTo>
                    <a:pt x="1996313" y="0"/>
                    <a:pt x="2591562" y="153162"/>
                    <a:pt x="2591562" y="361696"/>
                  </a:cubicBezTo>
                  <a:lnTo>
                    <a:pt x="2578862" y="361696"/>
                  </a:lnTo>
                  <a:lnTo>
                    <a:pt x="2591562" y="361696"/>
                  </a:lnTo>
                  <a:cubicBezTo>
                    <a:pt x="2591562" y="570230"/>
                    <a:pt x="1996313" y="723392"/>
                    <a:pt x="1295781" y="723392"/>
                  </a:cubicBezTo>
                  <a:lnTo>
                    <a:pt x="1295781" y="710692"/>
                  </a:lnTo>
                  <a:lnTo>
                    <a:pt x="1295781" y="723392"/>
                  </a:lnTo>
                  <a:cubicBezTo>
                    <a:pt x="595249" y="723519"/>
                    <a:pt x="0" y="570230"/>
                    <a:pt x="0" y="361696"/>
                  </a:cubicBezTo>
                  <a:lnTo>
                    <a:pt x="12700" y="361696"/>
                  </a:lnTo>
                  <a:lnTo>
                    <a:pt x="25400" y="361696"/>
                  </a:lnTo>
                  <a:lnTo>
                    <a:pt x="12700" y="361696"/>
                  </a:lnTo>
                  <a:lnTo>
                    <a:pt x="0" y="361696"/>
                  </a:lnTo>
                  <a:moveTo>
                    <a:pt x="25400" y="361696"/>
                  </a:moveTo>
                  <a:cubicBezTo>
                    <a:pt x="25400" y="368681"/>
                    <a:pt x="19685" y="374396"/>
                    <a:pt x="12700" y="374396"/>
                  </a:cubicBezTo>
                  <a:cubicBezTo>
                    <a:pt x="5715" y="374396"/>
                    <a:pt x="0" y="368681"/>
                    <a:pt x="0" y="361696"/>
                  </a:cubicBezTo>
                  <a:cubicBezTo>
                    <a:pt x="0" y="354711"/>
                    <a:pt x="5715" y="348996"/>
                    <a:pt x="12700" y="348996"/>
                  </a:cubicBezTo>
                  <a:cubicBezTo>
                    <a:pt x="19685" y="348996"/>
                    <a:pt x="25400" y="354711"/>
                    <a:pt x="25400" y="361696"/>
                  </a:cubicBezTo>
                  <a:cubicBezTo>
                    <a:pt x="25400" y="538734"/>
                    <a:pt x="579120" y="698119"/>
                    <a:pt x="1295781" y="698119"/>
                  </a:cubicBezTo>
                  <a:cubicBezTo>
                    <a:pt x="2012442" y="698119"/>
                    <a:pt x="2566162" y="538734"/>
                    <a:pt x="2566162" y="361696"/>
                  </a:cubicBezTo>
                  <a:cubicBezTo>
                    <a:pt x="2566162" y="184658"/>
                    <a:pt x="2012442" y="25400"/>
                    <a:pt x="1295781" y="25400"/>
                  </a:cubicBezTo>
                  <a:lnTo>
                    <a:pt x="1295781" y="12700"/>
                  </a:lnTo>
                  <a:lnTo>
                    <a:pt x="1295781" y="25400"/>
                  </a:lnTo>
                  <a:cubicBezTo>
                    <a:pt x="579120" y="25400"/>
                    <a:pt x="25400" y="184658"/>
                    <a:pt x="25400" y="361696"/>
                  </a:cubicBezTo>
                  <a:close/>
                </a:path>
              </a:pathLst>
            </a:custGeom>
            <a:solidFill>
              <a:srgbClr val="70AD47"/>
            </a:solidFill>
          </p:spPr>
        </p:sp>
        <p:sp>
          <p:nvSpPr>
            <p:cNvPr name="TextBox 158" id="158"/>
            <p:cNvSpPr txBox="true"/>
            <p:nvPr/>
          </p:nvSpPr>
          <p:spPr>
            <a:xfrm>
              <a:off x="0" y="-38100"/>
              <a:ext cx="2591620" cy="761578"/>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Complain Desc</a:t>
              </a:r>
            </a:p>
          </p:txBody>
        </p:sp>
      </p:grpSp>
      <p:sp>
        <p:nvSpPr>
          <p:cNvPr name="AutoShape 159" id="159"/>
          <p:cNvSpPr/>
          <p:nvPr/>
        </p:nvSpPr>
        <p:spPr>
          <a:xfrm>
            <a:off x="10307105" y="3212376"/>
            <a:ext cx="859442" cy="9525"/>
          </a:xfrm>
          <a:prstGeom prst="line">
            <a:avLst/>
          </a:prstGeom>
          <a:ln cap="rnd" w="9525">
            <a:solidFill>
              <a:srgbClr val="000000"/>
            </a:solidFill>
            <a:prstDash val="solid"/>
            <a:headEnd type="none" len="sm" w="sm"/>
            <a:tailEnd type="triangle" len="med" w="lg"/>
          </a:ln>
        </p:spPr>
      </p:sp>
      <p:grpSp>
        <p:nvGrpSpPr>
          <p:cNvPr name="Group 160" id="160"/>
          <p:cNvGrpSpPr/>
          <p:nvPr/>
        </p:nvGrpSpPr>
        <p:grpSpPr>
          <a:xfrm rot="0">
            <a:off x="9801837" y="3581697"/>
            <a:ext cx="2061699" cy="889181"/>
            <a:chOff x="0" y="0"/>
            <a:chExt cx="2748932" cy="1185574"/>
          </a:xfrm>
        </p:grpSpPr>
        <p:sp>
          <p:nvSpPr>
            <p:cNvPr name="Freeform 161" id="161"/>
            <p:cNvSpPr/>
            <p:nvPr/>
          </p:nvSpPr>
          <p:spPr>
            <a:xfrm flipH="false" flipV="false" rot="0">
              <a:off x="12700" y="12700"/>
              <a:ext cx="2723515" cy="1160145"/>
            </a:xfrm>
            <a:custGeom>
              <a:avLst/>
              <a:gdLst/>
              <a:ahLst/>
              <a:cxnLst/>
              <a:rect r="r" b="b" t="t" l="l"/>
              <a:pathLst>
                <a:path h="1160145" w="2723515">
                  <a:moveTo>
                    <a:pt x="0" y="0"/>
                  </a:moveTo>
                  <a:lnTo>
                    <a:pt x="2723515" y="0"/>
                  </a:lnTo>
                  <a:lnTo>
                    <a:pt x="2723515" y="1160145"/>
                  </a:lnTo>
                  <a:lnTo>
                    <a:pt x="0" y="1160145"/>
                  </a:lnTo>
                  <a:close/>
                </a:path>
              </a:pathLst>
            </a:custGeom>
            <a:solidFill>
              <a:srgbClr val="FFFFFF"/>
            </a:solidFill>
          </p:spPr>
        </p:sp>
        <p:sp>
          <p:nvSpPr>
            <p:cNvPr name="Freeform 162" id="162"/>
            <p:cNvSpPr/>
            <p:nvPr/>
          </p:nvSpPr>
          <p:spPr>
            <a:xfrm flipH="false" flipV="false" rot="0">
              <a:off x="0" y="0"/>
              <a:ext cx="2748915" cy="1185545"/>
            </a:xfrm>
            <a:custGeom>
              <a:avLst/>
              <a:gdLst/>
              <a:ahLst/>
              <a:cxnLst/>
              <a:rect r="r" b="b" t="t" l="l"/>
              <a:pathLst>
                <a:path h="1185545" w="2748915">
                  <a:moveTo>
                    <a:pt x="12700" y="0"/>
                  </a:moveTo>
                  <a:lnTo>
                    <a:pt x="2736215" y="0"/>
                  </a:lnTo>
                  <a:cubicBezTo>
                    <a:pt x="2743200" y="0"/>
                    <a:pt x="2748915" y="5715"/>
                    <a:pt x="2748915" y="12700"/>
                  </a:cubicBezTo>
                  <a:lnTo>
                    <a:pt x="2748915" y="1172845"/>
                  </a:lnTo>
                  <a:cubicBezTo>
                    <a:pt x="2748915" y="1179830"/>
                    <a:pt x="2743200" y="1185545"/>
                    <a:pt x="2736215" y="1185545"/>
                  </a:cubicBezTo>
                  <a:lnTo>
                    <a:pt x="12700" y="1185545"/>
                  </a:lnTo>
                  <a:cubicBezTo>
                    <a:pt x="5715" y="1185545"/>
                    <a:pt x="0" y="1179830"/>
                    <a:pt x="0" y="1172845"/>
                  </a:cubicBezTo>
                  <a:lnTo>
                    <a:pt x="0" y="12700"/>
                  </a:lnTo>
                  <a:cubicBezTo>
                    <a:pt x="0" y="5715"/>
                    <a:pt x="5715" y="0"/>
                    <a:pt x="12700" y="0"/>
                  </a:cubicBezTo>
                  <a:moveTo>
                    <a:pt x="12700" y="25400"/>
                  </a:moveTo>
                  <a:lnTo>
                    <a:pt x="12700" y="12700"/>
                  </a:lnTo>
                  <a:lnTo>
                    <a:pt x="25400" y="12700"/>
                  </a:lnTo>
                  <a:lnTo>
                    <a:pt x="25400" y="1172845"/>
                  </a:lnTo>
                  <a:lnTo>
                    <a:pt x="12700" y="1172845"/>
                  </a:lnTo>
                  <a:lnTo>
                    <a:pt x="12700" y="1160145"/>
                  </a:lnTo>
                  <a:lnTo>
                    <a:pt x="2736215" y="1160145"/>
                  </a:lnTo>
                  <a:lnTo>
                    <a:pt x="2736215" y="1172845"/>
                  </a:lnTo>
                  <a:lnTo>
                    <a:pt x="2723515" y="1172845"/>
                  </a:lnTo>
                  <a:lnTo>
                    <a:pt x="2723515" y="12700"/>
                  </a:lnTo>
                  <a:lnTo>
                    <a:pt x="2736215" y="12700"/>
                  </a:lnTo>
                  <a:lnTo>
                    <a:pt x="2736215" y="25400"/>
                  </a:lnTo>
                  <a:lnTo>
                    <a:pt x="12700" y="25400"/>
                  </a:lnTo>
                  <a:close/>
                </a:path>
              </a:pathLst>
            </a:custGeom>
            <a:solidFill>
              <a:srgbClr val="70AD47"/>
            </a:solidFill>
          </p:spPr>
        </p:sp>
        <p:sp>
          <p:nvSpPr>
            <p:cNvPr name="TextBox 163" id="163"/>
            <p:cNvSpPr txBox="true"/>
            <p:nvPr/>
          </p:nvSpPr>
          <p:spPr>
            <a:xfrm>
              <a:off x="0" y="-38100"/>
              <a:ext cx="2748932" cy="1223674"/>
            </a:xfrm>
            <a:prstGeom prst="rect">
              <a:avLst/>
            </a:prstGeom>
          </p:spPr>
          <p:txBody>
            <a:bodyPr anchor="ctr" rtlCol="false" tIns="50800" lIns="50800" bIns="50800" rIns="50800"/>
            <a:lstStyle/>
            <a:p>
              <a:pPr algn="ctr">
                <a:lnSpc>
                  <a:spcPts val="2160"/>
                </a:lnSpc>
              </a:pPr>
              <a:r>
                <a:rPr lang="en-US" sz="1800">
                  <a:solidFill>
                    <a:srgbClr val="000000"/>
                  </a:solidFill>
                  <a:latin typeface="Calibri (MS)"/>
                  <a:ea typeface="Calibri (MS)"/>
                  <a:cs typeface="Calibri (MS)"/>
                  <a:sym typeface="Calibri (MS)"/>
                </a:rPr>
                <a:t>User complain</a:t>
              </a:r>
            </a:p>
          </p:txBody>
        </p:sp>
      </p:grpSp>
      <p:sp>
        <p:nvSpPr>
          <p:cNvPr name="AutoShape 164" id="164"/>
          <p:cNvSpPr/>
          <p:nvPr/>
        </p:nvSpPr>
        <p:spPr>
          <a:xfrm rot="9628731">
            <a:off x="7996297" y="4188542"/>
            <a:ext cx="1793960" cy="0"/>
          </a:xfrm>
          <a:prstGeom prst="line">
            <a:avLst/>
          </a:prstGeom>
          <a:ln cap="rnd" w="9525">
            <a:solidFill>
              <a:srgbClr val="000000"/>
            </a:solidFill>
            <a:prstDash val="solid"/>
            <a:headEnd type="none" len="sm" w="sm"/>
            <a:tailEnd type="triangle" len="med" w="lg"/>
          </a:ln>
        </p:spPr>
      </p:sp>
      <p:sp>
        <p:nvSpPr>
          <p:cNvPr name="AutoShape 165" id="165"/>
          <p:cNvSpPr/>
          <p:nvPr/>
        </p:nvSpPr>
        <p:spPr>
          <a:xfrm rot="9466030">
            <a:off x="7733246" y="4748054"/>
            <a:ext cx="2115431" cy="0"/>
          </a:xfrm>
          <a:prstGeom prst="line">
            <a:avLst/>
          </a:prstGeom>
          <a:ln cap="rnd" w="9525">
            <a:solidFill>
              <a:srgbClr val="000000"/>
            </a:solidFill>
            <a:prstDash val="solid"/>
            <a:headEnd type="none" len="sm" w="sm"/>
            <a:tailEnd type="triangle" len="med" w="lg"/>
          </a:ln>
        </p:spPr>
      </p:sp>
      <p:sp>
        <p:nvSpPr>
          <p:cNvPr name="AutoShape 166" id="166"/>
          <p:cNvSpPr/>
          <p:nvPr/>
        </p:nvSpPr>
        <p:spPr>
          <a:xfrm rot="8989465">
            <a:off x="6986987" y="5377641"/>
            <a:ext cx="3576611" cy="0"/>
          </a:xfrm>
          <a:prstGeom prst="line">
            <a:avLst/>
          </a:prstGeom>
          <a:ln cap="rnd" w="9525">
            <a:solidFill>
              <a:srgbClr val="000000"/>
            </a:solidFill>
            <a:prstDash val="solid"/>
            <a:headEnd type="none" len="sm" w="sm"/>
            <a:tailEnd type="triangle" len="med" w="lg"/>
          </a:ln>
        </p:spPr>
      </p:sp>
      <p:sp>
        <p:nvSpPr>
          <p:cNvPr name="AutoShape 167" id="167"/>
          <p:cNvSpPr/>
          <p:nvPr/>
        </p:nvSpPr>
        <p:spPr>
          <a:xfrm rot="5372341">
            <a:off x="10661071" y="5055925"/>
            <a:ext cx="1183894" cy="0"/>
          </a:xfrm>
          <a:prstGeom prst="line">
            <a:avLst/>
          </a:prstGeom>
          <a:ln cap="rnd" w="9525">
            <a:solidFill>
              <a:srgbClr val="000000"/>
            </a:solidFill>
            <a:prstDash val="solid"/>
            <a:headEnd type="none" len="sm" w="sm"/>
            <a:tailEnd type="triangle" len="med" w="lg"/>
          </a:ln>
        </p:spPr>
      </p:sp>
      <p:sp>
        <p:nvSpPr>
          <p:cNvPr name="AutoShape 168" id="168"/>
          <p:cNvSpPr/>
          <p:nvPr/>
        </p:nvSpPr>
        <p:spPr>
          <a:xfrm rot="5382874">
            <a:off x="10665683" y="5434780"/>
            <a:ext cx="1912092" cy="0"/>
          </a:xfrm>
          <a:prstGeom prst="line">
            <a:avLst/>
          </a:prstGeom>
          <a:ln cap="rnd" w="9525">
            <a:solidFill>
              <a:srgbClr val="000000"/>
            </a:solidFill>
            <a:prstDash val="solid"/>
            <a:headEnd type="none" len="sm" w="sm"/>
            <a:tailEnd type="triangle" len="med" w="lg"/>
          </a:ln>
        </p:spPr>
      </p:sp>
      <p:sp>
        <p:nvSpPr>
          <p:cNvPr name="AutoShape 169" id="169"/>
          <p:cNvSpPr/>
          <p:nvPr/>
        </p:nvSpPr>
        <p:spPr>
          <a:xfrm rot="5323004">
            <a:off x="10086519" y="6210770"/>
            <a:ext cx="3553436" cy="0"/>
          </a:xfrm>
          <a:prstGeom prst="line">
            <a:avLst/>
          </a:prstGeom>
          <a:ln cap="rnd" w="9525">
            <a:solidFill>
              <a:srgbClr val="000000"/>
            </a:solidFill>
            <a:prstDash val="solid"/>
            <a:headEnd type="none" len="sm" w="sm"/>
            <a:tailEnd type="none" len="sm" w="sm"/>
          </a:ln>
        </p:spPr>
      </p:sp>
      <p:sp>
        <p:nvSpPr>
          <p:cNvPr name="AutoShape 170" id="170"/>
          <p:cNvSpPr/>
          <p:nvPr/>
        </p:nvSpPr>
        <p:spPr>
          <a:xfrm rot="9884946">
            <a:off x="5741266" y="4081634"/>
            <a:ext cx="4100986" cy="0"/>
          </a:xfrm>
          <a:prstGeom prst="line">
            <a:avLst/>
          </a:prstGeom>
          <a:ln cap="rnd" w="9525">
            <a:solidFill>
              <a:srgbClr val="000000"/>
            </a:solidFill>
            <a:prstDash val="solid"/>
            <a:headEnd type="none" len="sm" w="sm"/>
            <a:tailEnd type="triangle" len="med" w="lg"/>
          </a:ln>
        </p:spPr>
      </p:sp>
      <p:sp>
        <p:nvSpPr>
          <p:cNvPr name="AutoShape 171" id="171"/>
          <p:cNvSpPr/>
          <p:nvPr/>
        </p:nvSpPr>
        <p:spPr>
          <a:xfrm>
            <a:off x="8525927" y="5372083"/>
            <a:ext cx="2674108" cy="9525"/>
          </a:xfrm>
          <a:prstGeom prst="line">
            <a:avLst/>
          </a:prstGeom>
          <a:ln cap="rnd" w="9525">
            <a:solidFill>
              <a:srgbClr val="000000"/>
            </a:solidFill>
            <a:prstDash val="solid"/>
            <a:headEnd type="none" len="sm" w="sm"/>
            <a:tailEnd type="triangle" len="med" w="lg"/>
          </a:ln>
        </p:spPr>
      </p:sp>
      <p:sp>
        <p:nvSpPr>
          <p:cNvPr name="AutoShape 172" id="172"/>
          <p:cNvSpPr/>
          <p:nvPr/>
        </p:nvSpPr>
        <p:spPr>
          <a:xfrm rot="7078232">
            <a:off x="9509063" y="5423702"/>
            <a:ext cx="2190046" cy="0"/>
          </a:xfrm>
          <a:prstGeom prst="line">
            <a:avLst/>
          </a:prstGeom>
          <a:ln cap="rnd" w="9525">
            <a:solidFill>
              <a:srgbClr val="000000"/>
            </a:solidFill>
            <a:prstDash val="solid"/>
            <a:headEnd type="none" len="sm" w="sm"/>
            <a:tailEnd type="triangle" len="med" w="lg"/>
          </a:ln>
        </p:spPr>
      </p:sp>
      <p:grpSp>
        <p:nvGrpSpPr>
          <p:cNvPr name="Group 173" id="173"/>
          <p:cNvGrpSpPr/>
          <p:nvPr/>
        </p:nvGrpSpPr>
        <p:grpSpPr>
          <a:xfrm rot="0">
            <a:off x="3721816" y="4175320"/>
            <a:ext cx="2109636" cy="852381"/>
            <a:chOff x="0" y="0"/>
            <a:chExt cx="2812848" cy="1136508"/>
          </a:xfrm>
        </p:grpSpPr>
        <p:sp>
          <p:nvSpPr>
            <p:cNvPr name="Freeform 174" id="174"/>
            <p:cNvSpPr/>
            <p:nvPr/>
          </p:nvSpPr>
          <p:spPr>
            <a:xfrm flipH="false" flipV="false" rot="0">
              <a:off x="12700" y="12700"/>
              <a:ext cx="2787396" cy="1111123"/>
            </a:xfrm>
            <a:custGeom>
              <a:avLst/>
              <a:gdLst/>
              <a:ahLst/>
              <a:cxnLst/>
              <a:rect r="r" b="b" t="t" l="l"/>
              <a:pathLst>
                <a:path h="1111123" w="2787396">
                  <a:moveTo>
                    <a:pt x="0" y="555498"/>
                  </a:moveTo>
                  <a:cubicBezTo>
                    <a:pt x="0" y="248793"/>
                    <a:pt x="623951" y="0"/>
                    <a:pt x="1393698" y="0"/>
                  </a:cubicBezTo>
                  <a:cubicBezTo>
                    <a:pt x="2163445" y="0"/>
                    <a:pt x="2787396" y="248793"/>
                    <a:pt x="2787396" y="555498"/>
                  </a:cubicBezTo>
                  <a:cubicBezTo>
                    <a:pt x="2787396" y="862203"/>
                    <a:pt x="2163445" y="1111123"/>
                    <a:pt x="1393698" y="1111123"/>
                  </a:cubicBezTo>
                  <a:cubicBezTo>
                    <a:pt x="623951" y="1111123"/>
                    <a:pt x="0" y="862330"/>
                    <a:pt x="0" y="555498"/>
                  </a:cubicBezTo>
                  <a:close/>
                </a:path>
              </a:pathLst>
            </a:custGeom>
            <a:solidFill>
              <a:srgbClr val="FFFFFF"/>
            </a:solidFill>
          </p:spPr>
        </p:sp>
        <p:sp>
          <p:nvSpPr>
            <p:cNvPr name="Freeform 175" id="175"/>
            <p:cNvSpPr/>
            <p:nvPr/>
          </p:nvSpPr>
          <p:spPr>
            <a:xfrm flipH="false" flipV="false" rot="0">
              <a:off x="0" y="0"/>
              <a:ext cx="2812796" cy="1136523"/>
            </a:xfrm>
            <a:custGeom>
              <a:avLst/>
              <a:gdLst/>
              <a:ahLst/>
              <a:cxnLst/>
              <a:rect r="r" b="b" t="t" l="l"/>
              <a:pathLst>
                <a:path h="1136523" w="2812796">
                  <a:moveTo>
                    <a:pt x="0" y="568198"/>
                  </a:moveTo>
                  <a:cubicBezTo>
                    <a:pt x="0" y="246888"/>
                    <a:pt x="641096" y="0"/>
                    <a:pt x="1406398" y="0"/>
                  </a:cubicBezTo>
                  <a:cubicBezTo>
                    <a:pt x="2171700" y="0"/>
                    <a:pt x="2812796" y="246888"/>
                    <a:pt x="2812796" y="568198"/>
                  </a:cubicBezTo>
                  <a:lnTo>
                    <a:pt x="2800096" y="568198"/>
                  </a:lnTo>
                  <a:lnTo>
                    <a:pt x="2812796" y="568198"/>
                  </a:lnTo>
                  <a:cubicBezTo>
                    <a:pt x="2812796" y="889508"/>
                    <a:pt x="2171700" y="1136396"/>
                    <a:pt x="1406398" y="1136396"/>
                  </a:cubicBezTo>
                  <a:lnTo>
                    <a:pt x="1406398" y="1123696"/>
                  </a:lnTo>
                  <a:lnTo>
                    <a:pt x="1406398" y="1136396"/>
                  </a:lnTo>
                  <a:cubicBezTo>
                    <a:pt x="641096" y="1136523"/>
                    <a:pt x="0" y="889635"/>
                    <a:pt x="0" y="568198"/>
                  </a:cubicBezTo>
                  <a:lnTo>
                    <a:pt x="12700" y="568198"/>
                  </a:lnTo>
                  <a:lnTo>
                    <a:pt x="25400" y="568198"/>
                  </a:lnTo>
                  <a:lnTo>
                    <a:pt x="12700" y="568198"/>
                  </a:lnTo>
                  <a:lnTo>
                    <a:pt x="0" y="568198"/>
                  </a:lnTo>
                  <a:moveTo>
                    <a:pt x="25400" y="568198"/>
                  </a:moveTo>
                  <a:cubicBezTo>
                    <a:pt x="25400" y="575183"/>
                    <a:pt x="19685" y="580898"/>
                    <a:pt x="12700" y="580898"/>
                  </a:cubicBezTo>
                  <a:cubicBezTo>
                    <a:pt x="5715" y="580898"/>
                    <a:pt x="0" y="575183"/>
                    <a:pt x="0" y="568198"/>
                  </a:cubicBezTo>
                  <a:cubicBezTo>
                    <a:pt x="0" y="561213"/>
                    <a:pt x="5715" y="555498"/>
                    <a:pt x="12700" y="555498"/>
                  </a:cubicBezTo>
                  <a:cubicBezTo>
                    <a:pt x="19685" y="555498"/>
                    <a:pt x="25400" y="561213"/>
                    <a:pt x="25400" y="568198"/>
                  </a:cubicBezTo>
                  <a:cubicBezTo>
                    <a:pt x="25400" y="860552"/>
                    <a:pt x="632333" y="1111123"/>
                    <a:pt x="1406398" y="1111123"/>
                  </a:cubicBezTo>
                  <a:cubicBezTo>
                    <a:pt x="2180463" y="1111123"/>
                    <a:pt x="2787396" y="860552"/>
                    <a:pt x="2787396" y="568198"/>
                  </a:cubicBezTo>
                  <a:cubicBezTo>
                    <a:pt x="2787396" y="275844"/>
                    <a:pt x="2180590" y="25400"/>
                    <a:pt x="1406398" y="25400"/>
                  </a:cubicBezTo>
                  <a:lnTo>
                    <a:pt x="1406398" y="12700"/>
                  </a:lnTo>
                  <a:lnTo>
                    <a:pt x="1406398" y="25400"/>
                  </a:lnTo>
                  <a:cubicBezTo>
                    <a:pt x="632333" y="25400"/>
                    <a:pt x="25400" y="275971"/>
                    <a:pt x="25400" y="568198"/>
                  </a:cubicBezTo>
                  <a:close/>
                </a:path>
              </a:pathLst>
            </a:custGeom>
            <a:solidFill>
              <a:srgbClr val="70AD47"/>
            </a:solidFill>
          </p:spPr>
        </p:sp>
        <p:sp>
          <p:nvSpPr>
            <p:cNvPr name="TextBox 176" id="176"/>
            <p:cNvSpPr txBox="true"/>
            <p:nvPr/>
          </p:nvSpPr>
          <p:spPr>
            <a:xfrm>
              <a:off x="0" y="-38100"/>
              <a:ext cx="2812848" cy="1174608"/>
            </a:xfrm>
            <a:prstGeom prst="rect">
              <a:avLst/>
            </a:prstGeom>
          </p:spPr>
          <p:txBody>
            <a:bodyPr anchor="ctr" rtlCol="false" tIns="50800" lIns="50800" bIns="50800" rIns="50800"/>
            <a:lstStyle/>
            <a:p>
              <a:pPr algn="ctr">
                <a:lnSpc>
                  <a:spcPts val="2160"/>
                </a:lnSpc>
              </a:pPr>
              <a:r>
                <a:rPr lang="en-US" sz="1800">
                  <a:solidFill>
                    <a:srgbClr val="000000"/>
                  </a:solidFill>
                  <a:latin typeface="Times New Roman"/>
                  <a:ea typeface="Times New Roman"/>
                  <a:cs typeface="Times New Roman"/>
                  <a:sym typeface="Times New Roman"/>
                </a:rPr>
                <a:t>User_complain_id</a:t>
              </a:r>
            </a:p>
          </p:txBody>
        </p:sp>
      </p:grpSp>
      <p:grpSp>
        <p:nvGrpSpPr>
          <p:cNvPr name="Group 177" id="177"/>
          <p:cNvGrpSpPr/>
          <p:nvPr/>
        </p:nvGrpSpPr>
        <p:grpSpPr>
          <a:xfrm rot="0">
            <a:off x="6551662" y="4295124"/>
            <a:ext cx="1571312" cy="677199"/>
            <a:chOff x="0" y="0"/>
            <a:chExt cx="2095082" cy="902932"/>
          </a:xfrm>
        </p:grpSpPr>
        <p:sp>
          <p:nvSpPr>
            <p:cNvPr name="Freeform 178" id="178"/>
            <p:cNvSpPr/>
            <p:nvPr/>
          </p:nvSpPr>
          <p:spPr>
            <a:xfrm flipH="false" flipV="false" rot="0">
              <a:off x="12700" y="12700"/>
              <a:ext cx="2069592" cy="877570"/>
            </a:xfrm>
            <a:custGeom>
              <a:avLst/>
              <a:gdLst/>
              <a:ahLst/>
              <a:cxnLst/>
              <a:rect r="r" b="b" t="t" l="l"/>
              <a:pathLst>
                <a:path h="877570" w="2069592">
                  <a:moveTo>
                    <a:pt x="0" y="438785"/>
                  </a:moveTo>
                  <a:cubicBezTo>
                    <a:pt x="0" y="196469"/>
                    <a:pt x="463296" y="0"/>
                    <a:pt x="1034796" y="0"/>
                  </a:cubicBezTo>
                  <a:cubicBezTo>
                    <a:pt x="1606296" y="0"/>
                    <a:pt x="2069592" y="196469"/>
                    <a:pt x="2069592" y="438785"/>
                  </a:cubicBezTo>
                  <a:cubicBezTo>
                    <a:pt x="2069592" y="681101"/>
                    <a:pt x="1606423" y="877570"/>
                    <a:pt x="1034796" y="877570"/>
                  </a:cubicBezTo>
                  <a:cubicBezTo>
                    <a:pt x="463169" y="877570"/>
                    <a:pt x="0" y="681101"/>
                    <a:pt x="0" y="438785"/>
                  </a:cubicBezTo>
                  <a:close/>
                </a:path>
              </a:pathLst>
            </a:custGeom>
            <a:solidFill>
              <a:srgbClr val="FFFFFF"/>
            </a:solidFill>
          </p:spPr>
        </p:sp>
        <p:sp>
          <p:nvSpPr>
            <p:cNvPr name="Freeform 179" id="179"/>
            <p:cNvSpPr/>
            <p:nvPr/>
          </p:nvSpPr>
          <p:spPr>
            <a:xfrm flipH="false" flipV="false" rot="0">
              <a:off x="0" y="0"/>
              <a:ext cx="2094992" cy="902970"/>
            </a:xfrm>
            <a:custGeom>
              <a:avLst/>
              <a:gdLst/>
              <a:ahLst/>
              <a:cxnLst/>
              <a:rect r="r" b="b" t="t" l="l"/>
              <a:pathLst>
                <a:path h="902970" w="2094992">
                  <a:moveTo>
                    <a:pt x="0" y="451485"/>
                  </a:moveTo>
                  <a:cubicBezTo>
                    <a:pt x="0" y="194945"/>
                    <a:pt x="479679" y="0"/>
                    <a:pt x="1047496" y="0"/>
                  </a:cubicBezTo>
                  <a:lnTo>
                    <a:pt x="1047496" y="12700"/>
                  </a:lnTo>
                  <a:lnTo>
                    <a:pt x="1047496" y="25400"/>
                  </a:lnTo>
                  <a:lnTo>
                    <a:pt x="1047496" y="12700"/>
                  </a:lnTo>
                  <a:lnTo>
                    <a:pt x="1047496" y="0"/>
                  </a:lnTo>
                  <a:cubicBezTo>
                    <a:pt x="1615313" y="0"/>
                    <a:pt x="2094992" y="194945"/>
                    <a:pt x="2094992" y="451485"/>
                  </a:cubicBezTo>
                  <a:cubicBezTo>
                    <a:pt x="2094992" y="708025"/>
                    <a:pt x="1615313" y="902970"/>
                    <a:pt x="1047496" y="902970"/>
                  </a:cubicBezTo>
                  <a:lnTo>
                    <a:pt x="1047496" y="890270"/>
                  </a:lnTo>
                  <a:lnTo>
                    <a:pt x="1047496" y="902970"/>
                  </a:lnTo>
                  <a:cubicBezTo>
                    <a:pt x="479679" y="902970"/>
                    <a:pt x="0" y="708025"/>
                    <a:pt x="0" y="451485"/>
                  </a:cubicBezTo>
                  <a:lnTo>
                    <a:pt x="12700" y="451485"/>
                  </a:lnTo>
                  <a:lnTo>
                    <a:pt x="25400" y="451485"/>
                  </a:lnTo>
                  <a:lnTo>
                    <a:pt x="12700" y="451485"/>
                  </a:lnTo>
                  <a:lnTo>
                    <a:pt x="0" y="451485"/>
                  </a:lnTo>
                  <a:moveTo>
                    <a:pt x="25400" y="451485"/>
                  </a:moveTo>
                  <a:cubicBezTo>
                    <a:pt x="25400" y="458470"/>
                    <a:pt x="19685" y="464185"/>
                    <a:pt x="12700" y="464185"/>
                  </a:cubicBezTo>
                  <a:cubicBezTo>
                    <a:pt x="5715" y="464185"/>
                    <a:pt x="0" y="458470"/>
                    <a:pt x="0" y="451485"/>
                  </a:cubicBezTo>
                  <a:cubicBezTo>
                    <a:pt x="0" y="444500"/>
                    <a:pt x="5715" y="438785"/>
                    <a:pt x="12700" y="438785"/>
                  </a:cubicBezTo>
                  <a:cubicBezTo>
                    <a:pt x="19685" y="438785"/>
                    <a:pt x="25400" y="444500"/>
                    <a:pt x="25400" y="451485"/>
                  </a:cubicBezTo>
                  <a:cubicBezTo>
                    <a:pt x="25400" y="679577"/>
                    <a:pt x="472313" y="877570"/>
                    <a:pt x="1047496" y="877570"/>
                  </a:cubicBezTo>
                  <a:cubicBezTo>
                    <a:pt x="1622679" y="877570"/>
                    <a:pt x="2069592" y="679577"/>
                    <a:pt x="2069592" y="451485"/>
                  </a:cubicBezTo>
                  <a:lnTo>
                    <a:pt x="2082292" y="451485"/>
                  </a:lnTo>
                  <a:lnTo>
                    <a:pt x="2069592" y="451485"/>
                  </a:lnTo>
                  <a:cubicBezTo>
                    <a:pt x="2069719" y="223393"/>
                    <a:pt x="1622806" y="25400"/>
                    <a:pt x="1047496" y="25400"/>
                  </a:cubicBezTo>
                  <a:cubicBezTo>
                    <a:pt x="1040511" y="25400"/>
                    <a:pt x="1034796" y="19685"/>
                    <a:pt x="1034796" y="12700"/>
                  </a:cubicBezTo>
                  <a:cubicBezTo>
                    <a:pt x="1034796" y="5715"/>
                    <a:pt x="1040511" y="0"/>
                    <a:pt x="1047496" y="0"/>
                  </a:cubicBezTo>
                  <a:cubicBezTo>
                    <a:pt x="1054481" y="0"/>
                    <a:pt x="1060196" y="5715"/>
                    <a:pt x="1060196" y="12700"/>
                  </a:cubicBezTo>
                  <a:cubicBezTo>
                    <a:pt x="1060196" y="19685"/>
                    <a:pt x="1054481" y="25400"/>
                    <a:pt x="1047496" y="25400"/>
                  </a:cubicBezTo>
                  <a:cubicBezTo>
                    <a:pt x="472313" y="25400"/>
                    <a:pt x="25400" y="223393"/>
                    <a:pt x="25400" y="451485"/>
                  </a:cubicBezTo>
                  <a:close/>
                </a:path>
              </a:pathLst>
            </a:custGeom>
            <a:solidFill>
              <a:srgbClr val="70AD47"/>
            </a:solidFill>
          </p:spPr>
        </p:sp>
        <p:sp>
          <p:nvSpPr>
            <p:cNvPr name="TextBox 180" id="180"/>
            <p:cNvSpPr txBox="true"/>
            <p:nvPr/>
          </p:nvSpPr>
          <p:spPr>
            <a:xfrm>
              <a:off x="0" y="-38100"/>
              <a:ext cx="2095082" cy="941032"/>
            </a:xfrm>
            <a:prstGeom prst="rect">
              <a:avLst/>
            </a:prstGeom>
          </p:spPr>
          <p:txBody>
            <a:bodyPr anchor="ctr" rtlCol="false" tIns="50800" lIns="50800" bIns="50800" rIns="50800"/>
            <a:lstStyle/>
            <a:p>
              <a:pPr algn="ctr">
                <a:lnSpc>
                  <a:spcPts val="2160"/>
                </a:lnSpc>
              </a:pPr>
              <a:r>
                <a:rPr lang="en-US" sz="1800">
                  <a:solidFill>
                    <a:srgbClr val="000000"/>
                  </a:solidFill>
                  <a:latin typeface="Calibri (MS)"/>
                  <a:ea typeface="Calibri (MS)"/>
                  <a:cs typeface="Calibri (MS)"/>
                  <a:sym typeface="Calibri (MS)"/>
                </a:rPr>
                <a:t>User_id</a:t>
              </a:r>
            </a:p>
          </p:txBody>
        </p:sp>
      </p:grpSp>
      <p:grpSp>
        <p:nvGrpSpPr>
          <p:cNvPr name="Group 181" id="181"/>
          <p:cNvGrpSpPr/>
          <p:nvPr/>
        </p:nvGrpSpPr>
        <p:grpSpPr>
          <a:xfrm rot="0">
            <a:off x="6125802" y="5006817"/>
            <a:ext cx="1788856" cy="673464"/>
            <a:chOff x="0" y="0"/>
            <a:chExt cx="2385142" cy="897952"/>
          </a:xfrm>
        </p:grpSpPr>
        <p:sp>
          <p:nvSpPr>
            <p:cNvPr name="Freeform 182" id="182"/>
            <p:cNvSpPr/>
            <p:nvPr/>
          </p:nvSpPr>
          <p:spPr>
            <a:xfrm flipH="false" flipV="false" rot="0">
              <a:off x="12700" y="12700"/>
              <a:ext cx="2359660" cy="872490"/>
            </a:xfrm>
            <a:custGeom>
              <a:avLst/>
              <a:gdLst/>
              <a:ahLst/>
              <a:cxnLst/>
              <a:rect r="r" b="b" t="t" l="l"/>
              <a:pathLst>
                <a:path h="872490" w="2359660">
                  <a:moveTo>
                    <a:pt x="0" y="436245"/>
                  </a:moveTo>
                  <a:cubicBezTo>
                    <a:pt x="0" y="195326"/>
                    <a:pt x="528193" y="0"/>
                    <a:pt x="1179830" y="0"/>
                  </a:cubicBezTo>
                  <a:cubicBezTo>
                    <a:pt x="1831467" y="0"/>
                    <a:pt x="2359660" y="195326"/>
                    <a:pt x="2359660" y="436245"/>
                  </a:cubicBezTo>
                  <a:cubicBezTo>
                    <a:pt x="2359660" y="677164"/>
                    <a:pt x="1831467" y="872490"/>
                    <a:pt x="1179830" y="872490"/>
                  </a:cubicBezTo>
                  <a:cubicBezTo>
                    <a:pt x="528193" y="872490"/>
                    <a:pt x="0" y="677164"/>
                    <a:pt x="0" y="436245"/>
                  </a:cubicBezTo>
                  <a:close/>
                </a:path>
              </a:pathLst>
            </a:custGeom>
            <a:solidFill>
              <a:srgbClr val="FFFFFF"/>
            </a:solidFill>
          </p:spPr>
        </p:sp>
        <p:sp>
          <p:nvSpPr>
            <p:cNvPr name="Freeform 183" id="183"/>
            <p:cNvSpPr/>
            <p:nvPr/>
          </p:nvSpPr>
          <p:spPr>
            <a:xfrm flipH="false" flipV="false" rot="0">
              <a:off x="0" y="0"/>
              <a:ext cx="2385060" cy="897890"/>
            </a:xfrm>
            <a:custGeom>
              <a:avLst/>
              <a:gdLst/>
              <a:ahLst/>
              <a:cxnLst/>
              <a:rect r="r" b="b" t="t" l="l"/>
              <a:pathLst>
                <a:path h="897890" w="2385060">
                  <a:moveTo>
                    <a:pt x="0" y="448945"/>
                  </a:moveTo>
                  <a:cubicBezTo>
                    <a:pt x="0" y="193167"/>
                    <a:pt x="546100" y="0"/>
                    <a:pt x="1192530" y="0"/>
                  </a:cubicBezTo>
                  <a:cubicBezTo>
                    <a:pt x="1838960" y="0"/>
                    <a:pt x="2385060" y="193167"/>
                    <a:pt x="2385060" y="448945"/>
                  </a:cubicBezTo>
                  <a:lnTo>
                    <a:pt x="2372360" y="448945"/>
                  </a:lnTo>
                  <a:lnTo>
                    <a:pt x="2385060" y="448945"/>
                  </a:lnTo>
                  <a:cubicBezTo>
                    <a:pt x="2385060" y="704723"/>
                    <a:pt x="1838960" y="897890"/>
                    <a:pt x="1192530" y="897890"/>
                  </a:cubicBezTo>
                  <a:lnTo>
                    <a:pt x="1192530" y="885190"/>
                  </a:lnTo>
                  <a:lnTo>
                    <a:pt x="1192530" y="897890"/>
                  </a:lnTo>
                  <a:cubicBezTo>
                    <a:pt x="546100" y="897890"/>
                    <a:pt x="0" y="704723"/>
                    <a:pt x="0" y="448945"/>
                  </a:cubicBezTo>
                  <a:lnTo>
                    <a:pt x="12700" y="448945"/>
                  </a:lnTo>
                  <a:lnTo>
                    <a:pt x="25400" y="448945"/>
                  </a:lnTo>
                  <a:lnTo>
                    <a:pt x="12700" y="448945"/>
                  </a:lnTo>
                  <a:lnTo>
                    <a:pt x="0" y="448945"/>
                  </a:lnTo>
                  <a:moveTo>
                    <a:pt x="25400" y="448945"/>
                  </a:moveTo>
                  <a:cubicBezTo>
                    <a:pt x="25400" y="455930"/>
                    <a:pt x="19685" y="461645"/>
                    <a:pt x="12700" y="461645"/>
                  </a:cubicBezTo>
                  <a:cubicBezTo>
                    <a:pt x="5715" y="461645"/>
                    <a:pt x="0" y="455930"/>
                    <a:pt x="0" y="448945"/>
                  </a:cubicBezTo>
                  <a:cubicBezTo>
                    <a:pt x="0" y="441960"/>
                    <a:pt x="5715" y="436245"/>
                    <a:pt x="12700" y="436245"/>
                  </a:cubicBezTo>
                  <a:cubicBezTo>
                    <a:pt x="19685" y="436245"/>
                    <a:pt x="25400" y="441960"/>
                    <a:pt x="25400" y="448945"/>
                  </a:cubicBezTo>
                  <a:cubicBezTo>
                    <a:pt x="25400" y="675132"/>
                    <a:pt x="535813" y="872490"/>
                    <a:pt x="1192530" y="872490"/>
                  </a:cubicBezTo>
                  <a:cubicBezTo>
                    <a:pt x="1849247" y="872490"/>
                    <a:pt x="2359660" y="675005"/>
                    <a:pt x="2359660" y="448945"/>
                  </a:cubicBezTo>
                  <a:cubicBezTo>
                    <a:pt x="2359660" y="222885"/>
                    <a:pt x="1849374" y="25400"/>
                    <a:pt x="1192530" y="25400"/>
                  </a:cubicBezTo>
                  <a:lnTo>
                    <a:pt x="1192530" y="12700"/>
                  </a:lnTo>
                  <a:lnTo>
                    <a:pt x="1192530" y="25400"/>
                  </a:lnTo>
                  <a:cubicBezTo>
                    <a:pt x="535813" y="25400"/>
                    <a:pt x="25400" y="222885"/>
                    <a:pt x="25400" y="448945"/>
                  </a:cubicBezTo>
                  <a:close/>
                </a:path>
              </a:pathLst>
            </a:custGeom>
            <a:solidFill>
              <a:srgbClr val="70AD47"/>
            </a:solidFill>
          </p:spPr>
        </p:sp>
        <p:sp>
          <p:nvSpPr>
            <p:cNvPr name="TextBox 184" id="184"/>
            <p:cNvSpPr txBox="true"/>
            <p:nvPr/>
          </p:nvSpPr>
          <p:spPr>
            <a:xfrm>
              <a:off x="0" y="-38100"/>
              <a:ext cx="2385142" cy="936052"/>
            </a:xfrm>
            <a:prstGeom prst="rect">
              <a:avLst/>
            </a:prstGeom>
          </p:spPr>
          <p:txBody>
            <a:bodyPr anchor="ctr" rtlCol="false" tIns="50800" lIns="50800" bIns="50800" rIns="50800"/>
            <a:lstStyle/>
            <a:p>
              <a:pPr algn="ctr">
                <a:lnSpc>
                  <a:spcPts val="2160"/>
                </a:lnSpc>
              </a:pPr>
              <a:r>
                <a:rPr lang="en-US" sz="1800">
                  <a:solidFill>
                    <a:srgbClr val="000000"/>
                  </a:solidFill>
                  <a:latin typeface="Calibri (MS)"/>
                  <a:ea typeface="Calibri (MS)"/>
                  <a:cs typeface="Calibri (MS)"/>
                  <a:sym typeface="Calibri (MS)"/>
                </a:rPr>
                <a:t>Dept_id</a:t>
              </a:r>
            </a:p>
          </p:txBody>
        </p:sp>
      </p:grpSp>
      <p:grpSp>
        <p:nvGrpSpPr>
          <p:cNvPr name="Group 185" id="185"/>
          <p:cNvGrpSpPr/>
          <p:nvPr/>
        </p:nvGrpSpPr>
        <p:grpSpPr>
          <a:xfrm rot="0">
            <a:off x="5476875" y="6201244"/>
            <a:ext cx="1958458" cy="587019"/>
            <a:chOff x="0" y="0"/>
            <a:chExt cx="2611278" cy="782692"/>
          </a:xfrm>
        </p:grpSpPr>
        <p:sp>
          <p:nvSpPr>
            <p:cNvPr name="Freeform 186" id="186"/>
            <p:cNvSpPr/>
            <p:nvPr/>
          </p:nvSpPr>
          <p:spPr>
            <a:xfrm flipH="false" flipV="false" rot="0">
              <a:off x="12700" y="12700"/>
              <a:ext cx="2585847" cy="757301"/>
            </a:xfrm>
            <a:custGeom>
              <a:avLst/>
              <a:gdLst/>
              <a:ahLst/>
              <a:cxnLst/>
              <a:rect r="r" b="b" t="t" l="l"/>
              <a:pathLst>
                <a:path h="757301" w="2585847">
                  <a:moveTo>
                    <a:pt x="0" y="378587"/>
                  </a:moveTo>
                  <a:cubicBezTo>
                    <a:pt x="0" y="169545"/>
                    <a:pt x="578866" y="0"/>
                    <a:pt x="1292987" y="0"/>
                  </a:cubicBezTo>
                  <a:cubicBezTo>
                    <a:pt x="2007108" y="0"/>
                    <a:pt x="2585847" y="169545"/>
                    <a:pt x="2585847" y="378587"/>
                  </a:cubicBezTo>
                  <a:cubicBezTo>
                    <a:pt x="2585847" y="587629"/>
                    <a:pt x="2006981" y="757301"/>
                    <a:pt x="1292987" y="757301"/>
                  </a:cubicBezTo>
                  <a:cubicBezTo>
                    <a:pt x="578993" y="757301"/>
                    <a:pt x="0" y="587756"/>
                    <a:pt x="0" y="378587"/>
                  </a:cubicBezTo>
                  <a:close/>
                </a:path>
              </a:pathLst>
            </a:custGeom>
            <a:solidFill>
              <a:srgbClr val="FFFFFF"/>
            </a:solidFill>
          </p:spPr>
        </p:sp>
        <p:sp>
          <p:nvSpPr>
            <p:cNvPr name="Freeform 187" id="187"/>
            <p:cNvSpPr/>
            <p:nvPr/>
          </p:nvSpPr>
          <p:spPr>
            <a:xfrm flipH="false" flipV="false" rot="0">
              <a:off x="0" y="0"/>
              <a:ext cx="2611247" cy="782701"/>
            </a:xfrm>
            <a:custGeom>
              <a:avLst/>
              <a:gdLst/>
              <a:ahLst/>
              <a:cxnLst/>
              <a:rect r="r" b="b" t="t" l="l"/>
              <a:pathLst>
                <a:path h="782701" w="2611247">
                  <a:moveTo>
                    <a:pt x="0" y="391287"/>
                  </a:moveTo>
                  <a:lnTo>
                    <a:pt x="12700" y="391287"/>
                  </a:lnTo>
                  <a:lnTo>
                    <a:pt x="0" y="391287"/>
                  </a:lnTo>
                  <a:cubicBezTo>
                    <a:pt x="0" y="166624"/>
                    <a:pt x="598932" y="0"/>
                    <a:pt x="1305687" y="0"/>
                  </a:cubicBezTo>
                  <a:cubicBezTo>
                    <a:pt x="2012442" y="0"/>
                    <a:pt x="2611247" y="166624"/>
                    <a:pt x="2611247" y="391287"/>
                  </a:cubicBezTo>
                  <a:lnTo>
                    <a:pt x="2598547" y="391287"/>
                  </a:lnTo>
                  <a:lnTo>
                    <a:pt x="2611247" y="391287"/>
                  </a:lnTo>
                  <a:cubicBezTo>
                    <a:pt x="2611247" y="615950"/>
                    <a:pt x="2012315" y="782574"/>
                    <a:pt x="1305560" y="782574"/>
                  </a:cubicBezTo>
                  <a:lnTo>
                    <a:pt x="1305560" y="769874"/>
                  </a:lnTo>
                  <a:lnTo>
                    <a:pt x="1305560" y="782574"/>
                  </a:lnTo>
                  <a:cubicBezTo>
                    <a:pt x="598932" y="782701"/>
                    <a:pt x="0" y="616077"/>
                    <a:pt x="0" y="391287"/>
                  </a:cubicBezTo>
                  <a:lnTo>
                    <a:pt x="12700" y="391287"/>
                  </a:lnTo>
                  <a:lnTo>
                    <a:pt x="25400" y="391287"/>
                  </a:lnTo>
                  <a:lnTo>
                    <a:pt x="12700" y="391287"/>
                  </a:lnTo>
                  <a:lnTo>
                    <a:pt x="0" y="391287"/>
                  </a:lnTo>
                  <a:moveTo>
                    <a:pt x="25400" y="391287"/>
                  </a:moveTo>
                  <a:cubicBezTo>
                    <a:pt x="25400" y="398272"/>
                    <a:pt x="19685" y="403987"/>
                    <a:pt x="12700" y="403987"/>
                  </a:cubicBezTo>
                  <a:cubicBezTo>
                    <a:pt x="5715" y="403987"/>
                    <a:pt x="0" y="398272"/>
                    <a:pt x="0" y="391287"/>
                  </a:cubicBezTo>
                  <a:cubicBezTo>
                    <a:pt x="0" y="384302"/>
                    <a:pt x="5715" y="378587"/>
                    <a:pt x="12700" y="378587"/>
                  </a:cubicBezTo>
                  <a:cubicBezTo>
                    <a:pt x="19685" y="378587"/>
                    <a:pt x="25400" y="384302"/>
                    <a:pt x="25400" y="391287"/>
                  </a:cubicBezTo>
                  <a:cubicBezTo>
                    <a:pt x="25400" y="584835"/>
                    <a:pt x="584200" y="757301"/>
                    <a:pt x="1305687" y="757301"/>
                  </a:cubicBezTo>
                  <a:cubicBezTo>
                    <a:pt x="2027174" y="757301"/>
                    <a:pt x="2585847" y="584835"/>
                    <a:pt x="2585847" y="391287"/>
                  </a:cubicBezTo>
                  <a:cubicBezTo>
                    <a:pt x="2585847" y="197739"/>
                    <a:pt x="2027174" y="25400"/>
                    <a:pt x="1305687" y="25400"/>
                  </a:cubicBezTo>
                  <a:lnTo>
                    <a:pt x="1305687" y="12700"/>
                  </a:lnTo>
                  <a:lnTo>
                    <a:pt x="1305687" y="25400"/>
                  </a:lnTo>
                  <a:cubicBezTo>
                    <a:pt x="584200" y="25400"/>
                    <a:pt x="25400" y="197739"/>
                    <a:pt x="25400" y="391287"/>
                  </a:cubicBezTo>
                  <a:close/>
                </a:path>
              </a:pathLst>
            </a:custGeom>
            <a:solidFill>
              <a:srgbClr val="70AD47"/>
            </a:solidFill>
          </p:spPr>
        </p:sp>
        <p:sp>
          <p:nvSpPr>
            <p:cNvPr name="TextBox 188" id="188"/>
            <p:cNvSpPr txBox="true"/>
            <p:nvPr/>
          </p:nvSpPr>
          <p:spPr>
            <a:xfrm>
              <a:off x="0" y="-38100"/>
              <a:ext cx="2611278" cy="820792"/>
            </a:xfrm>
            <a:prstGeom prst="rect">
              <a:avLst/>
            </a:prstGeom>
          </p:spPr>
          <p:txBody>
            <a:bodyPr anchor="ctr" rtlCol="false" tIns="50800" lIns="50800" bIns="50800" rIns="50800"/>
            <a:lstStyle/>
            <a:p>
              <a:pPr algn="ctr">
                <a:lnSpc>
                  <a:spcPts val="2160"/>
                </a:lnSpc>
              </a:pPr>
              <a:r>
                <a:rPr lang="en-US" sz="1800">
                  <a:solidFill>
                    <a:srgbClr val="000000"/>
                  </a:solidFill>
                  <a:latin typeface="Calibri (MS)"/>
                  <a:ea typeface="Calibri (MS)"/>
                  <a:cs typeface="Calibri (MS)"/>
                  <a:sym typeface="Calibri (MS)"/>
                </a:rPr>
                <a:t>IT_team_id</a:t>
              </a:r>
            </a:p>
          </p:txBody>
        </p:sp>
      </p:grpSp>
      <p:grpSp>
        <p:nvGrpSpPr>
          <p:cNvPr name="Group 189" id="189"/>
          <p:cNvGrpSpPr/>
          <p:nvPr/>
        </p:nvGrpSpPr>
        <p:grpSpPr>
          <a:xfrm rot="0">
            <a:off x="7353599" y="6240116"/>
            <a:ext cx="1744614" cy="1047715"/>
            <a:chOff x="0" y="0"/>
            <a:chExt cx="2326152" cy="1396954"/>
          </a:xfrm>
        </p:grpSpPr>
        <p:sp>
          <p:nvSpPr>
            <p:cNvPr name="Freeform 190" id="190"/>
            <p:cNvSpPr/>
            <p:nvPr/>
          </p:nvSpPr>
          <p:spPr>
            <a:xfrm flipH="false" flipV="false" rot="0">
              <a:off x="12700" y="12700"/>
              <a:ext cx="2300732" cy="1371600"/>
            </a:xfrm>
            <a:custGeom>
              <a:avLst/>
              <a:gdLst/>
              <a:ahLst/>
              <a:cxnLst/>
              <a:rect r="r" b="b" t="t" l="l"/>
              <a:pathLst>
                <a:path h="1371600" w="2300732">
                  <a:moveTo>
                    <a:pt x="0" y="685800"/>
                  </a:moveTo>
                  <a:cubicBezTo>
                    <a:pt x="0" y="307086"/>
                    <a:pt x="514985" y="0"/>
                    <a:pt x="1150366" y="0"/>
                  </a:cubicBezTo>
                  <a:cubicBezTo>
                    <a:pt x="1785747" y="0"/>
                    <a:pt x="2300732" y="307086"/>
                    <a:pt x="2300732" y="685800"/>
                  </a:cubicBezTo>
                  <a:cubicBezTo>
                    <a:pt x="2300732" y="1064514"/>
                    <a:pt x="1785747" y="1371600"/>
                    <a:pt x="1150366" y="1371600"/>
                  </a:cubicBezTo>
                  <a:cubicBezTo>
                    <a:pt x="514985" y="1371600"/>
                    <a:pt x="0" y="1064514"/>
                    <a:pt x="0" y="685800"/>
                  </a:cubicBezTo>
                  <a:close/>
                </a:path>
              </a:pathLst>
            </a:custGeom>
            <a:solidFill>
              <a:srgbClr val="FFFFFF"/>
            </a:solidFill>
          </p:spPr>
        </p:sp>
        <p:sp>
          <p:nvSpPr>
            <p:cNvPr name="Freeform 191" id="191"/>
            <p:cNvSpPr/>
            <p:nvPr/>
          </p:nvSpPr>
          <p:spPr>
            <a:xfrm flipH="false" flipV="false" rot="0">
              <a:off x="0" y="0"/>
              <a:ext cx="2326132" cy="1397000"/>
            </a:xfrm>
            <a:custGeom>
              <a:avLst/>
              <a:gdLst/>
              <a:ahLst/>
              <a:cxnLst/>
              <a:rect r="r" b="b" t="t" l="l"/>
              <a:pathLst>
                <a:path h="1397000" w="2326132">
                  <a:moveTo>
                    <a:pt x="0" y="698500"/>
                  </a:moveTo>
                  <a:cubicBezTo>
                    <a:pt x="0" y="307594"/>
                    <a:pt x="527304" y="0"/>
                    <a:pt x="1163066" y="0"/>
                  </a:cubicBezTo>
                  <a:cubicBezTo>
                    <a:pt x="1798828" y="0"/>
                    <a:pt x="2326132" y="307594"/>
                    <a:pt x="2326132" y="698500"/>
                  </a:cubicBezTo>
                  <a:lnTo>
                    <a:pt x="2313432" y="698500"/>
                  </a:lnTo>
                  <a:lnTo>
                    <a:pt x="2326132" y="698500"/>
                  </a:lnTo>
                  <a:cubicBezTo>
                    <a:pt x="2326132" y="1089406"/>
                    <a:pt x="1798828" y="1397000"/>
                    <a:pt x="1163066" y="1397000"/>
                  </a:cubicBezTo>
                  <a:lnTo>
                    <a:pt x="1163066" y="1384300"/>
                  </a:lnTo>
                  <a:lnTo>
                    <a:pt x="1163066" y="1397000"/>
                  </a:lnTo>
                  <a:cubicBezTo>
                    <a:pt x="527304" y="1397000"/>
                    <a:pt x="0" y="1089406"/>
                    <a:pt x="0" y="698500"/>
                  </a:cubicBezTo>
                  <a:lnTo>
                    <a:pt x="12700" y="698500"/>
                  </a:lnTo>
                  <a:lnTo>
                    <a:pt x="25400" y="698500"/>
                  </a:lnTo>
                  <a:lnTo>
                    <a:pt x="12700" y="698500"/>
                  </a:lnTo>
                  <a:lnTo>
                    <a:pt x="0" y="698500"/>
                  </a:lnTo>
                  <a:moveTo>
                    <a:pt x="25400" y="698500"/>
                  </a:moveTo>
                  <a:cubicBezTo>
                    <a:pt x="25400" y="705485"/>
                    <a:pt x="19685" y="711200"/>
                    <a:pt x="12700" y="711200"/>
                  </a:cubicBezTo>
                  <a:cubicBezTo>
                    <a:pt x="5715" y="711200"/>
                    <a:pt x="0" y="705485"/>
                    <a:pt x="0" y="698500"/>
                  </a:cubicBezTo>
                  <a:cubicBezTo>
                    <a:pt x="0" y="691515"/>
                    <a:pt x="5715" y="685800"/>
                    <a:pt x="12700" y="685800"/>
                  </a:cubicBezTo>
                  <a:cubicBezTo>
                    <a:pt x="19685" y="685800"/>
                    <a:pt x="25400" y="691515"/>
                    <a:pt x="25400" y="698500"/>
                  </a:cubicBezTo>
                  <a:cubicBezTo>
                    <a:pt x="25400" y="1065149"/>
                    <a:pt x="528193" y="1371600"/>
                    <a:pt x="1163066" y="1371600"/>
                  </a:cubicBezTo>
                  <a:cubicBezTo>
                    <a:pt x="1797939" y="1371600"/>
                    <a:pt x="2300732" y="1065149"/>
                    <a:pt x="2300732" y="698500"/>
                  </a:cubicBezTo>
                  <a:cubicBezTo>
                    <a:pt x="2300732" y="331851"/>
                    <a:pt x="1798066" y="25400"/>
                    <a:pt x="1163066" y="25400"/>
                  </a:cubicBezTo>
                  <a:lnTo>
                    <a:pt x="1163066" y="12700"/>
                  </a:lnTo>
                  <a:lnTo>
                    <a:pt x="1163066" y="25400"/>
                  </a:lnTo>
                  <a:cubicBezTo>
                    <a:pt x="528193" y="25400"/>
                    <a:pt x="25400" y="331851"/>
                    <a:pt x="25400" y="698500"/>
                  </a:cubicBezTo>
                  <a:close/>
                </a:path>
              </a:pathLst>
            </a:custGeom>
            <a:solidFill>
              <a:srgbClr val="70AD47"/>
            </a:solidFill>
          </p:spPr>
        </p:sp>
        <p:sp>
          <p:nvSpPr>
            <p:cNvPr name="TextBox 192" id="192"/>
            <p:cNvSpPr txBox="true"/>
            <p:nvPr/>
          </p:nvSpPr>
          <p:spPr>
            <a:xfrm>
              <a:off x="0" y="-38100"/>
              <a:ext cx="2326152" cy="1435054"/>
            </a:xfrm>
            <a:prstGeom prst="rect">
              <a:avLst/>
            </a:prstGeom>
          </p:spPr>
          <p:txBody>
            <a:bodyPr anchor="ctr" rtlCol="false" tIns="50800" lIns="50800" bIns="50800" rIns="50800"/>
            <a:lstStyle/>
            <a:p>
              <a:pPr algn="ctr">
                <a:lnSpc>
                  <a:spcPts val="2160"/>
                </a:lnSpc>
              </a:pPr>
              <a:r>
                <a:rPr lang="en-US" sz="1800">
                  <a:solidFill>
                    <a:srgbClr val="000000"/>
                  </a:solidFill>
                  <a:latin typeface="Calibri (MS)"/>
                  <a:ea typeface="Calibri (MS)"/>
                  <a:cs typeface="Calibri (MS)"/>
                  <a:sym typeface="Calibri (MS)"/>
                </a:rPr>
                <a:t>Email_id</a:t>
              </a:r>
            </a:p>
          </p:txBody>
        </p:sp>
      </p:grpSp>
      <p:grpSp>
        <p:nvGrpSpPr>
          <p:cNvPr name="Group 193" id="193"/>
          <p:cNvGrpSpPr/>
          <p:nvPr/>
        </p:nvGrpSpPr>
        <p:grpSpPr>
          <a:xfrm rot="0">
            <a:off x="9193474" y="6376527"/>
            <a:ext cx="1243160" cy="1396310"/>
            <a:chOff x="0" y="0"/>
            <a:chExt cx="1657546" cy="1861746"/>
          </a:xfrm>
        </p:grpSpPr>
        <p:sp>
          <p:nvSpPr>
            <p:cNvPr name="Freeform 194" id="194"/>
            <p:cNvSpPr/>
            <p:nvPr/>
          </p:nvSpPr>
          <p:spPr>
            <a:xfrm flipH="false" flipV="false" rot="0">
              <a:off x="12700" y="12700"/>
              <a:ext cx="1632204" cy="1836420"/>
            </a:xfrm>
            <a:custGeom>
              <a:avLst/>
              <a:gdLst/>
              <a:ahLst/>
              <a:cxnLst/>
              <a:rect r="r" b="b" t="t" l="l"/>
              <a:pathLst>
                <a:path h="1836420" w="1632204">
                  <a:moveTo>
                    <a:pt x="0" y="918210"/>
                  </a:moveTo>
                  <a:cubicBezTo>
                    <a:pt x="0" y="411099"/>
                    <a:pt x="365379" y="0"/>
                    <a:pt x="816102" y="0"/>
                  </a:cubicBezTo>
                  <a:cubicBezTo>
                    <a:pt x="1266825" y="0"/>
                    <a:pt x="1632204" y="411099"/>
                    <a:pt x="1632204" y="918210"/>
                  </a:cubicBezTo>
                  <a:cubicBezTo>
                    <a:pt x="1632204" y="1425321"/>
                    <a:pt x="1266825" y="1836420"/>
                    <a:pt x="816102" y="1836420"/>
                  </a:cubicBezTo>
                  <a:cubicBezTo>
                    <a:pt x="365379" y="1836420"/>
                    <a:pt x="0" y="1425321"/>
                    <a:pt x="0" y="918210"/>
                  </a:cubicBezTo>
                  <a:close/>
                </a:path>
              </a:pathLst>
            </a:custGeom>
            <a:solidFill>
              <a:srgbClr val="FFFFFF"/>
            </a:solidFill>
          </p:spPr>
        </p:sp>
        <p:sp>
          <p:nvSpPr>
            <p:cNvPr name="Freeform 195" id="195"/>
            <p:cNvSpPr/>
            <p:nvPr/>
          </p:nvSpPr>
          <p:spPr>
            <a:xfrm flipH="false" flipV="false" rot="0">
              <a:off x="0" y="0"/>
              <a:ext cx="1657604" cy="1861820"/>
            </a:xfrm>
            <a:custGeom>
              <a:avLst/>
              <a:gdLst/>
              <a:ahLst/>
              <a:cxnLst/>
              <a:rect r="r" b="b" t="t" l="l"/>
              <a:pathLst>
                <a:path h="1861820" w="1657604">
                  <a:moveTo>
                    <a:pt x="0" y="930910"/>
                  </a:moveTo>
                  <a:cubicBezTo>
                    <a:pt x="0" y="418211"/>
                    <a:pt x="369697" y="0"/>
                    <a:pt x="828802" y="0"/>
                  </a:cubicBezTo>
                  <a:lnTo>
                    <a:pt x="828802" y="12700"/>
                  </a:lnTo>
                  <a:lnTo>
                    <a:pt x="828802" y="0"/>
                  </a:lnTo>
                  <a:cubicBezTo>
                    <a:pt x="1287907" y="0"/>
                    <a:pt x="1657604" y="418211"/>
                    <a:pt x="1657604" y="930910"/>
                  </a:cubicBezTo>
                  <a:cubicBezTo>
                    <a:pt x="1657604" y="1443609"/>
                    <a:pt x="1287907" y="1861820"/>
                    <a:pt x="828802" y="1861820"/>
                  </a:cubicBezTo>
                  <a:lnTo>
                    <a:pt x="828802" y="1849120"/>
                  </a:lnTo>
                  <a:lnTo>
                    <a:pt x="828802" y="1861820"/>
                  </a:lnTo>
                  <a:cubicBezTo>
                    <a:pt x="369697" y="1861693"/>
                    <a:pt x="0" y="1443482"/>
                    <a:pt x="0" y="930910"/>
                  </a:cubicBezTo>
                  <a:lnTo>
                    <a:pt x="12700" y="930910"/>
                  </a:lnTo>
                  <a:lnTo>
                    <a:pt x="20574" y="940816"/>
                  </a:lnTo>
                  <a:cubicBezTo>
                    <a:pt x="16764" y="943864"/>
                    <a:pt x="11557" y="944372"/>
                    <a:pt x="7112" y="942340"/>
                  </a:cubicBezTo>
                  <a:cubicBezTo>
                    <a:pt x="2667" y="940308"/>
                    <a:pt x="0" y="935736"/>
                    <a:pt x="0" y="930910"/>
                  </a:cubicBezTo>
                  <a:moveTo>
                    <a:pt x="25400" y="930910"/>
                  </a:moveTo>
                  <a:lnTo>
                    <a:pt x="12700" y="930910"/>
                  </a:lnTo>
                  <a:lnTo>
                    <a:pt x="4826" y="921004"/>
                  </a:lnTo>
                  <a:cubicBezTo>
                    <a:pt x="8636" y="917956"/>
                    <a:pt x="13843" y="917448"/>
                    <a:pt x="18288" y="919480"/>
                  </a:cubicBezTo>
                  <a:cubicBezTo>
                    <a:pt x="22733" y="921512"/>
                    <a:pt x="25400" y="926084"/>
                    <a:pt x="25400" y="930910"/>
                  </a:cubicBezTo>
                  <a:cubicBezTo>
                    <a:pt x="25400" y="1432433"/>
                    <a:pt x="386461" y="1836420"/>
                    <a:pt x="828802" y="1836420"/>
                  </a:cubicBezTo>
                  <a:cubicBezTo>
                    <a:pt x="1271143" y="1836420"/>
                    <a:pt x="1632204" y="1432433"/>
                    <a:pt x="1632204" y="930910"/>
                  </a:cubicBezTo>
                  <a:lnTo>
                    <a:pt x="1644904" y="930910"/>
                  </a:lnTo>
                  <a:lnTo>
                    <a:pt x="1632204" y="930910"/>
                  </a:lnTo>
                  <a:cubicBezTo>
                    <a:pt x="1632204" y="429387"/>
                    <a:pt x="1271143" y="25400"/>
                    <a:pt x="828802" y="25400"/>
                  </a:cubicBezTo>
                  <a:lnTo>
                    <a:pt x="828802" y="12700"/>
                  </a:lnTo>
                  <a:lnTo>
                    <a:pt x="828802" y="25400"/>
                  </a:lnTo>
                  <a:cubicBezTo>
                    <a:pt x="386461" y="25400"/>
                    <a:pt x="25400" y="429387"/>
                    <a:pt x="25400" y="930910"/>
                  </a:cubicBezTo>
                  <a:close/>
                </a:path>
              </a:pathLst>
            </a:custGeom>
            <a:solidFill>
              <a:srgbClr val="70AD47"/>
            </a:solidFill>
          </p:spPr>
        </p:sp>
        <p:sp>
          <p:nvSpPr>
            <p:cNvPr name="TextBox 196" id="196"/>
            <p:cNvSpPr txBox="true"/>
            <p:nvPr/>
          </p:nvSpPr>
          <p:spPr>
            <a:xfrm>
              <a:off x="0" y="-38100"/>
              <a:ext cx="1657546" cy="1899846"/>
            </a:xfrm>
            <a:prstGeom prst="rect">
              <a:avLst/>
            </a:prstGeom>
          </p:spPr>
          <p:txBody>
            <a:bodyPr anchor="ctr" rtlCol="false" tIns="50800" lIns="50800" bIns="50800" rIns="50800"/>
            <a:lstStyle/>
            <a:p>
              <a:pPr algn="ctr">
                <a:lnSpc>
                  <a:spcPts val="2160"/>
                </a:lnSpc>
              </a:pPr>
              <a:r>
                <a:rPr lang="en-US" sz="1800">
                  <a:solidFill>
                    <a:srgbClr val="000000"/>
                  </a:solidFill>
                  <a:latin typeface="Calibri (MS)"/>
                  <a:ea typeface="Calibri (MS)"/>
                  <a:cs typeface="Calibri (MS)"/>
                  <a:sym typeface="Calibri (MS)"/>
                </a:rPr>
                <a:t>complain+Dt</a:t>
              </a:r>
            </a:p>
          </p:txBody>
        </p:sp>
      </p:grpSp>
      <p:grpSp>
        <p:nvGrpSpPr>
          <p:cNvPr name="Group 197" id="197"/>
          <p:cNvGrpSpPr/>
          <p:nvPr/>
        </p:nvGrpSpPr>
        <p:grpSpPr>
          <a:xfrm rot="0">
            <a:off x="10406540" y="5599938"/>
            <a:ext cx="1302138" cy="681359"/>
            <a:chOff x="0" y="0"/>
            <a:chExt cx="1736184" cy="908478"/>
          </a:xfrm>
        </p:grpSpPr>
        <p:sp>
          <p:nvSpPr>
            <p:cNvPr name="Freeform 198" id="198"/>
            <p:cNvSpPr/>
            <p:nvPr/>
          </p:nvSpPr>
          <p:spPr>
            <a:xfrm flipH="false" flipV="false" rot="0">
              <a:off x="12700" y="12700"/>
              <a:ext cx="1710690" cy="883158"/>
            </a:xfrm>
            <a:custGeom>
              <a:avLst/>
              <a:gdLst/>
              <a:ahLst/>
              <a:cxnLst/>
              <a:rect r="r" b="b" t="t" l="l"/>
              <a:pathLst>
                <a:path h="883158" w="1710690">
                  <a:moveTo>
                    <a:pt x="0" y="441579"/>
                  </a:moveTo>
                  <a:cubicBezTo>
                    <a:pt x="0" y="197739"/>
                    <a:pt x="383032" y="0"/>
                    <a:pt x="855345" y="0"/>
                  </a:cubicBezTo>
                  <a:cubicBezTo>
                    <a:pt x="1327658" y="0"/>
                    <a:pt x="1710690" y="197739"/>
                    <a:pt x="1710690" y="441579"/>
                  </a:cubicBezTo>
                  <a:cubicBezTo>
                    <a:pt x="1710690" y="685419"/>
                    <a:pt x="1327658" y="883158"/>
                    <a:pt x="855345" y="883158"/>
                  </a:cubicBezTo>
                  <a:cubicBezTo>
                    <a:pt x="383032" y="883158"/>
                    <a:pt x="0" y="685419"/>
                    <a:pt x="0" y="441579"/>
                  </a:cubicBezTo>
                  <a:close/>
                </a:path>
              </a:pathLst>
            </a:custGeom>
            <a:solidFill>
              <a:srgbClr val="FFFFFF"/>
            </a:solidFill>
          </p:spPr>
        </p:sp>
        <p:sp>
          <p:nvSpPr>
            <p:cNvPr name="Freeform 199" id="199"/>
            <p:cNvSpPr/>
            <p:nvPr/>
          </p:nvSpPr>
          <p:spPr>
            <a:xfrm flipH="false" flipV="false" rot="0">
              <a:off x="0" y="0"/>
              <a:ext cx="1736090" cy="908558"/>
            </a:xfrm>
            <a:custGeom>
              <a:avLst/>
              <a:gdLst/>
              <a:ahLst/>
              <a:cxnLst/>
              <a:rect r="r" b="b" t="t" l="l"/>
              <a:pathLst>
                <a:path h="908558" w="1736090">
                  <a:moveTo>
                    <a:pt x="0" y="454279"/>
                  </a:moveTo>
                  <a:cubicBezTo>
                    <a:pt x="0" y="197231"/>
                    <a:pt x="397129" y="0"/>
                    <a:pt x="868045" y="0"/>
                  </a:cubicBezTo>
                  <a:cubicBezTo>
                    <a:pt x="1338961" y="0"/>
                    <a:pt x="1736090" y="197231"/>
                    <a:pt x="1736090" y="454279"/>
                  </a:cubicBezTo>
                  <a:lnTo>
                    <a:pt x="1723390" y="454279"/>
                  </a:lnTo>
                  <a:lnTo>
                    <a:pt x="1736090" y="454279"/>
                  </a:lnTo>
                  <a:cubicBezTo>
                    <a:pt x="1736090" y="711327"/>
                    <a:pt x="1338961" y="908558"/>
                    <a:pt x="868045" y="908558"/>
                  </a:cubicBezTo>
                  <a:lnTo>
                    <a:pt x="868045" y="895858"/>
                  </a:lnTo>
                  <a:lnTo>
                    <a:pt x="868045" y="908558"/>
                  </a:lnTo>
                  <a:cubicBezTo>
                    <a:pt x="397129" y="908431"/>
                    <a:pt x="0" y="711200"/>
                    <a:pt x="0" y="454279"/>
                  </a:cubicBezTo>
                  <a:lnTo>
                    <a:pt x="12700" y="454279"/>
                  </a:lnTo>
                  <a:lnTo>
                    <a:pt x="25400" y="454279"/>
                  </a:lnTo>
                  <a:lnTo>
                    <a:pt x="12700" y="454279"/>
                  </a:lnTo>
                  <a:lnTo>
                    <a:pt x="0" y="454279"/>
                  </a:lnTo>
                  <a:moveTo>
                    <a:pt x="25400" y="454279"/>
                  </a:moveTo>
                  <a:cubicBezTo>
                    <a:pt x="25400" y="461264"/>
                    <a:pt x="19685" y="466979"/>
                    <a:pt x="12700" y="466979"/>
                  </a:cubicBezTo>
                  <a:cubicBezTo>
                    <a:pt x="5715" y="466979"/>
                    <a:pt x="0" y="461264"/>
                    <a:pt x="0" y="454279"/>
                  </a:cubicBezTo>
                  <a:cubicBezTo>
                    <a:pt x="0" y="447294"/>
                    <a:pt x="5715" y="441579"/>
                    <a:pt x="12700" y="441579"/>
                  </a:cubicBezTo>
                  <a:cubicBezTo>
                    <a:pt x="19685" y="441579"/>
                    <a:pt x="25400" y="447294"/>
                    <a:pt x="25400" y="454279"/>
                  </a:cubicBezTo>
                  <a:cubicBezTo>
                    <a:pt x="25400" y="684911"/>
                    <a:pt x="394335" y="883031"/>
                    <a:pt x="868045" y="883031"/>
                  </a:cubicBezTo>
                  <a:cubicBezTo>
                    <a:pt x="1341755" y="883031"/>
                    <a:pt x="1710690" y="684911"/>
                    <a:pt x="1710690" y="454152"/>
                  </a:cubicBezTo>
                  <a:cubicBezTo>
                    <a:pt x="1710690" y="223393"/>
                    <a:pt x="1341882" y="25400"/>
                    <a:pt x="868045" y="25400"/>
                  </a:cubicBezTo>
                  <a:lnTo>
                    <a:pt x="868045" y="12700"/>
                  </a:lnTo>
                  <a:lnTo>
                    <a:pt x="868045" y="25400"/>
                  </a:lnTo>
                  <a:cubicBezTo>
                    <a:pt x="394335" y="25400"/>
                    <a:pt x="25400" y="223520"/>
                    <a:pt x="25400" y="454279"/>
                  </a:cubicBezTo>
                  <a:close/>
                </a:path>
              </a:pathLst>
            </a:custGeom>
            <a:solidFill>
              <a:srgbClr val="70AD47"/>
            </a:solidFill>
          </p:spPr>
        </p:sp>
        <p:sp>
          <p:nvSpPr>
            <p:cNvPr name="TextBox 200" id="200"/>
            <p:cNvSpPr txBox="true"/>
            <p:nvPr/>
          </p:nvSpPr>
          <p:spPr>
            <a:xfrm>
              <a:off x="0" y="-38100"/>
              <a:ext cx="1736184" cy="946578"/>
            </a:xfrm>
            <a:prstGeom prst="rect">
              <a:avLst/>
            </a:prstGeom>
          </p:spPr>
          <p:txBody>
            <a:bodyPr anchor="ctr" rtlCol="false" tIns="50800" lIns="50800" bIns="50800" rIns="50800"/>
            <a:lstStyle/>
            <a:p>
              <a:pPr algn="ctr">
                <a:lnSpc>
                  <a:spcPts val="2160"/>
                </a:lnSpc>
              </a:pPr>
              <a:r>
                <a:rPr lang="en-US" sz="1800">
                  <a:solidFill>
                    <a:srgbClr val="000000"/>
                  </a:solidFill>
                  <a:latin typeface="Calibri (MS)"/>
                  <a:ea typeface="Calibri (MS)"/>
                  <a:cs typeface="Calibri (MS)"/>
                  <a:sym typeface="Calibri (MS)"/>
                </a:rPr>
                <a:t>Resolve_dt</a:t>
              </a:r>
            </a:p>
          </p:txBody>
        </p:sp>
      </p:grpSp>
      <p:grpSp>
        <p:nvGrpSpPr>
          <p:cNvPr name="Group 201" id="201"/>
          <p:cNvGrpSpPr/>
          <p:nvPr/>
        </p:nvGrpSpPr>
        <p:grpSpPr>
          <a:xfrm rot="0">
            <a:off x="10627748" y="6389442"/>
            <a:ext cx="1453330" cy="1066045"/>
            <a:chOff x="0" y="0"/>
            <a:chExt cx="1937774" cy="1421394"/>
          </a:xfrm>
        </p:grpSpPr>
        <p:sp>
          <p:nvSpPr>
            <p:cNvPr name="Freeform 202" id="202"/>
            <p:cNvSpPr/>
            <p:nvPr/>
          </p:nvSpPr>
          <p:spPr>
            <a:xfrm flipH="false" flipV="false" rot="0">
              <a:off x="12700" y="12700"/>
              <a:ext cx="1912366" cy="1395984"/>
            </a:xfrm>
            <a:custGeom>
              <a:avLst/>
              <a:gdLst/>
              <a:ahLst/>
              <a:cxnLst/>
              <a:rect r="r" b="b" t="t" l="l"/>
              <a:pathLst>
                <a:path h="1395984" w="1912366">
                  <a:moveTo>
                    <a:pt x="0" y="697992"/>
                  </a:moveTo>
                  <a:cubicBezTo>
                    <a:pt x="0" y="312547"/>
                    <a:pt x="428117" y="0"/>
                    <a:pt x="956183" y="0"/>
                  </a:cubicBezTo>
                  <a:cubicBezTo>
                    <a:pt x="1484249" y="0"/>
                    <a:pt x="1912366" y="312547"/>
                    <a:pt x="1912366" y="697992"/>
                  </a:cubicBezTo>
                  <a:cubicBezTo>
                    <a:pt x="1912366" y="1083437"/>
                    <a:pt x="1484249" y="1395984"/>
                    <a:pt x="956183" y="1395984"/>
                  </a:cubicBezTo>
                  <a:cubicBezTo>
                    <a:pt x="428117" y="1395984"/>
                    <a:pt x="0" y="1083437"/>
                    <a:pt x="0" y="697992"/>
                  </a:cubicBezTo>
                  <a:close/>
                </a:path>
              </a:pathLst>
            </a:custGeom>
            <a:solidFill>
              <a:srgbClr val="FFFFFF"/>
            </a:solidFill>
          </p:spPr>
        </p:sp>
        <p:sp>
          <p:nvSpPr>
            <p:cNvPr name="Freeform 203" id="203"/>
            <p:cNvSpPr/>
            <p:nvPr/>
          </p:nvSpPr>
          <p:spPr>
            <a:xfrm flipH="false" flipV="false" rot="0">
              <a:off x="0" y="0"/>
              <a:ext cx="1937766" cy="1421384"/>
            </a:xfrm>
            <a:custGeom>
              <a:avLst/>
              <a:gdLst/>
              <a:ahLst/>
              <a:cxnLst/>
              <a:rect r="r" b="b" t="t" l="l"/>
              <a:pathLst>
                <a:path h="1421384" w="1937766">
                  <a:moveTo>
                    <a:pt x="0" y="710692"/>
                  </a:moveTo>
                  <a:cubicBezTo>
                    <a:pt x="0" y="314833"/>
                    <a:pt x="437769" y="0"/>
                    <a:pt x="968883" y="0"/>
                  </a:cubicBezTo>
                  <a:lnTo>
                    <a:pt x="968883" y="12700"/>
                  </a:lnTo>
                  <a:lnTo>
                    <a:pt x="968883" y="25400"/>
                  </a:lnTo>
                  <a:lnTo>
                    <a:pt x="968883" y="12700"/>
                  </a:lnTo>
                  <a:lnTo>
                    <a:pt x="968883" y="0"/>
                  </a:lnTo>
                  <a:cubicBezTo>
                    <a:pt x="1499997" y="0"/>
                    <a:pt x="1937766" y="314833"/>
                    <a:pt x="1937766" y="710692"/>
                  </a:cubicBezTo>
                  <a:cubicBezTo>
                    <a:pt x="1937766" y="1106551"/>
                    <a:pt x="1499997" y="1421384"/>
                    <a:pt x="968883" y="1421384"/>
                  </a:cubicBezTo>
                  <a:lnTo>
                    <a:pt x="968883" y="1408684"/>
                  </a:lnTo>
                  <a:lnTo>
                    <a:pt x="968883" y="1421384"/>
                  </a:lnTo>
                  <a:cubicBezTo>
                    <a:pt x="437769" y="1421384"/>
                    <a:pt x="0" y="1106551"/>
                    <a:pt x="0" y="710692"/>
                  </a:cubicBezTo>
                  <a:lnTo>
                    <a:pt x="12700" y="710692"/>
                  </a:lnTo>
                  <a:lnTo>
                    <a:pt x="25400" y="710692"/>
                  </a:lnTo>
                  <a:lnTo>
                    <a:pt x="12700" y="710692"/>
                  </a:lnTo>
                  <a:lnTo>
                    <a:pt x="0" y="710692"/>
                  </a:lnTo>
                  <a:moveTo>
                    <a:pt x="25400" y="710692"/>
                  </a:moveTo>
                  <a:cubicBezTo>
                    <a:pt x="25400" y="717677"/>
                    <a:pt x="19685" y="723392"/>
                    <a:pt x="12700" y="723392"/>
                  </a:cubicBezTo>
                  <a:cubicBezTo>
                    <a:pt x="5715" y="723392"/>
                    <a:pt x="0" y="717677"/>
                    <a:pt x="0" y="710692"/>
                  </a:cubicBezTo>
                  <a:cubicBezTo>
                    <a:pt x="0" y="703707"/>
                    <a:pt x="5715" y="697992"/>
                    <a:pt x="12700" y="697992"/>
                  </a:cubicBezTo>
                  <a:cubicBezTo>
                    <a:pt x="19685" y="697992"/>
                    <a:pt x="25400" y="703707"/>
                    <a:pt x="25400" y="710692"/>
                  </a:cubicBezTo>
                  <a:cubicBezTo>
                    <a:pt x="25400" y="1085723"/>
                    <a:pt x="443865" y="1395984"/>
                    <a:pt x="968883" y="1395984"/>
                  </a:cubicBezTo>
                  <a:cubicBezTo>
                    <a:pt x="1493901" y="1395984"/>
                    <a:pt x="1912366" y="1085723"/>
                    <a:pt x="1912366" y="710692"/>
                  </a:cubicBezTo>
                  <a:lnTo>
                    <a:pt x="1925066" y="710692"/>
                  </a:lnTo>
                  <a:lnTo>
                    <a:pt x="1912366" y="710692"/>
                  </a:lnTo>
                  <a:cubicBezTo>
                    <a:pt x="1912366" y="335661"/>
                    <a:pt x="1493901" y="25400"/>
                    <a:pt x="968883" y="25400"/>
                  </a:cubicBezTo>
                  <a:cubicBezTo>
                    <a:pt x="961898" y="25400"/>
                    <a:pt x="956183" y="19685"/>
                    <a:pt x="956183" y="12700"/>
                  </a:cubicBezTo>
                  <a:cubicBezTo>
                    <a:pt x="956183" y="5715"/>
                    <a:pt x="961898" y="0"/>
                    <a:pt x="968883" y="0"/>
                  </a:cubicBezTo>
                  <a:cubicBezTo>
                    <a:pt x="975868" y="0"/>
                    <a:pt x="981583" y="5715"/>
                    <a:pt x="981583" y="12700"/>
                  </a:cubicBezTo>
                  <a:cubicBezTo>
                    <a:pt x="981583" y="19685"/>
                    <a:pt x="975868" y="25400"/>
                    <a:pt x="968883" y="25400"/>
                  </a:cubicBezTo>
                  <a:cubicBezTo>
                    <a:pt x="443865" y="25400"/>
                    <a:pt x="25400" y="335661"/>
                    <a:pt x="25400" y="710692"/>
                  </a:cubicBezTo>
                  <a:close/>
                </a:path>
              </a:pathLst>
            </a:custGeom>
            <a:solidFill>
              <a:srgbClr val="70AD47"/>
            </a:solidFill>
          </p:spPr>
        </p:sp>
        <p:sp>
          <p:nvSpPr>
            <p:cNvPr name="TextBox 204" id="204"/>
            <p:cNvSpPr txBox="true"/>
            <p:nvPr/>
          </p:nvSpPr>
          <p:spPr>
            <a:xfrm>
              <a:off x="0" y="-38100"/>
              <a:ext cx="1937774" cy="1459494"/>
            </a:xfrm>
            <a:prstGeom prst="rect">
              <a:avLst/>
            </a:prstGeom>
          </p:spPr>
          <p:txBody>
            <a:bodyPr anchor="ctr" rtlCol="false" tIns="50800" lIns="50800" bIns="50800" rIns="50800"/>
            <a:lstStyle/>
            <a:p>
              <a:pPr algn="ctr">
                <a:lnSpc>
                  <a:spcPts val="2160"/>
                </a:lnSpc>
              </a:pPr>
              <a:r>
                <a:rPr lang="en-US" sz="1800">
                  <a:solidFill>
                    <a:srgbClr val="000000"/>
                  </a:solidFill>
                  <a:latin typeface="Calibri (MS)"/>
                  <a:ea typeface="Calibri (MS)"/>
                  <a:cs typeface="Calibri (MS)"/>
                  <a:sym typeface="Calibri (MS)"/>
                </a:rPr>
                <a:t>Resolve_time</a:t>
              </a:r>
            </a:p>
          </p:txBody>
        </p:sp>
      </p:grpSp>
      <p:sp>
        <p:nvSpPr>
          <p:cNvPr name="AutoShape 205" id="205"/>
          <p:cNvSpPr/>
          <p:nvPr/>
        </p:nvSpPr>
        <p:spPr>
          <a:xfrm rot="10483073">
            <a:off x="7803159" y="8133736"/>
            <a:ext cx="4108591" cy="0"/>
          </a:xfrm>
          <a:prstGeom prst="line">
            <a:avLst/>
          </a:prstGeom>
          <a:ln cap="rnd" w="9525">
            <a:solidFill>
              <a:srgbClr val="000000"/>
            </a:solidFill>
            <a:prstDash val="solid"/>
            <a:headEnd type="none" len="sm" w="sm"/>
            <a:tailEnd type="none" len="sm" w="sm"/>
          </a:ln>
        </p:spPr>
      </p:sp>
      <p:grpSp>
        <p:nvGrpSpPr>
          <p:cNvPr name="Group 206" id="206"/>
          <p:cNvGrpSpPr/>
          <p:nvPr/>
        </p:nvGrpSpPr>
        <p:grpSpPr>
          <a:xfrm rot="0">
            <a:off x="5624360" y="7644886"/>
            <a:ext cx="2212890" cy="1343001"/>
            <a:chOff x="0" y="0"/>
            <a:chExt cx="2950520" cy="1790668"/>
          </a:xfrm>
        </p:grpSpPr>
        <p:sp>
          <p:nvSpPr>
            <p:cNvPr name="Freeform 207" id="207"/>
            <p:cNvSpPr/>
            <p:nvPr/>
          </p:nvSpPr>
          <p:spPr>
            <a:xfrm flipH="false" flipV="false" rot="0">
              <a:off x="12700" y="12700"/>
              <a:ext cx="2925064" cy="1765300"/>
            </a:xfrm>
            <a:custGeom>
              <a:avLst/>
              <a:gdLst/>
              <a:ahLst/>
              <a:cxnLst/>
              <a:rect r="r" b="b" t="t" l="l"/>
              <a:pathLst>
                <a:path h="1765300" w="2925064">
                  <a:moveTo>
                    <a:pt x="0" y="882650"/>
                  </a:moveTo>
                  <a:lnTo>
                    <a:pt x="1462532" y="0"/>
                  </a:lnTo>
                  <a:lnTo>
                    <a:pt x="2925064" y="882650"/>
                  </a:lnTo>
                  <a:lnTo>
                    <a:pt x="1462532" y="1765300"/>
                  </a:lnTo>
                  <a:close/>
                </a:path>
              </a:pathLst>
            </a:custGeom>
            <a:solidFill>
              <a:srgbClr val="FFFFFF"/>
            </a:solidFill>
          </p:spPr>
        </p:sp>
        <p:sp>
          <p:nvSpPr>
            <p:cNvPr name="Freeform 208" id="208"/>
            <p:cNvSpPr/>
            <p:nvPr/>
          </p:nvSpPr>
          <p:spPr>
            <a:xfrm flipH="false" flipV="false" rot="0">
              <a:off x="0" y="-635"/>
              <a:ext cx="2950464" cy="1791970"/>
            </a:xfrm>
            <a:custGeom>
              <a:avLst/>
              <a:gdLst/>
              <a:ahLst/>
              <a:cxnLst/>
              <a:rect r="r" b="b" t="t" l="l"/>
              <a:pathLst>
                <a:path h="1791970" w="2950464">
                  <a:moveTo>
                    <a:pt x="6096" y="885063"/>
                  </a:moveTo>
                  <a:lnTo>
                    <a:pt x="1468755" y="2413"/>
                  </a:lnTo>
                  <a:cubicBezTo>
                    <a:pt x="1472819" y="0"/>
                    <a:pt x="1477899" y="0"/>
                    <a:pt x="1481836" y="2413"/>
                  </a:cubicBezTo>
                  <a:lnTo>
                    <a:pt x="2944368" y="885063"/>
                  </a:lnTo>
                  <a:cubicBezTo>
                    <a:pt x="2948178" y="887349"/>
                    <a:pt x="2950464" y="891540"/>
                    <a:pt x="2950464" y="895985"/>
                  </a:cubicBezTo>
                  <a:cubicBezTo>
                    <a:pt x="2950464" y="900430"/>
                    <a:pt x="2948178" y="904621"/>
                    <a:pt x="2944368" y="906907"/>
                  </a:cubicBezTo>
                  <a:lnTo>
                    <a:pt x="1481836" y="1789557"/>
                  </a:lnTo>
                  <a:cubicBezTo>
                    <a:pt x="1477772" y="1791970"/>
                    <a:pt x="1472692" y="1791970"/>
                    <a:pt x="1468755" y="1789557"/>
                  </a:cubicBezTo>
                  <a:lnTo>
                    <a:pt x="6096" y="906780"/>
                  </a:lnTo>
                  <a:cubicBezTo>
                    <a:pt x="2286" y="904494"/>
                    <a:pt x="0" y="900303"/>
                    <a:pt x="0" y="895858"/>
                  </a:cubicBezTo>
                  <a:cubicBezTo>
                    <a:pt x="0" y="891413"/>
                    <a:pt x="2286" y="887222"/>
                    <a:pt x="6096" y="884936"/>
                  </a:cubicBezTo>
                  <a:moveTo>
                    <a:pt x="19177" y="906653"/>
                  </a:moveTo>
                  <a:lnTo>
                    <a:pt x="12700" y="895985"/>
                  </a:lnTo>
                  <a:lnTo>
                    <a:pt x="19304" y="885063"/>
                  </a:lnTo>
                  <a:lnTo>
                    <a:pt x="1481836" y="1767713"/>
                  </a:lnTo>
                  <a:lnTo>
                    <a:pt x="1475232" y="1778635"/>
                  </a:lnTo>
                  <a:lnTo>
                    <a:pt x="1468628" y="1767713"/>
                  </a:lnTo>
                  <a:lnTo>
                    <a:pt x="2931160" y="885063"/>
                  </a:lnTo>
                  <a:lnTo>
                    <a:pt x="2937764" y="895985"/>
                  </a:lnTo>
                  <a:lnTo>
                    <a:pt x="2931160" y="906907"/>
                  </a:lnTo>
                  <a:lnTo>
                    <a:pt x="1468755" y="24257"/>
                  </a:lnTo>
                  <a:lnTo>
                    <a:pt x="1475359" y="13335"/>
                  </a:lnTo>
                  <a:lnTo>
                    <a:pt x="1481963" y="24257"/>
                  </a:lnTo>
                  <a:lnTo>
                    <a:pt x="19304" y="906780"/>
                  </a:lnTo>
                  <a:close/>
                </a:path>
              </a:pathLst>
            </a:custGeom>
            <a:solidFill>
              <a:srgbClr val="70AD47"/>
            </a:solidFill>
          </p:spPr>
        </p:sp>
        <p:sp>
          <p:nvSpPr>
            <p:cNvPr name="TextBox 209" id="209"/>
            <p:cNvSpPr txBox="true"/>
            <p:nvPr/>
          </p:nvSpPr>
          <p:spPr>
            <a:xfrm>
              <a:off x="0" y="-38100"/>
              <a:ext cx="2950520" cy="1828768"/>
            </a:xfrm>
            <a:prstGeom prst="rect">
              <a:avLst/>
            </a:prstGeom>
          </p:spPr>
          <p:txBody>
            <a:bodyPr anchor="ctr" rtlCol="false" tIns="50800" lIns="50800" bIns="50800" rIns="50800"/>
            <a:lstStyle/>
            <a:p>
              <a:pPr algn="ctr">
                <a:lnSpc>
                  <a:spcPts val="2160"/>
                </a:lnSpc>
              </a:pPr>
              <a:r>
                <a:rPr lang="en-US" sz="1800">
                  <a:solidFill>
                    <a:srgbClr val="000000"/>
                  </a:solidFill>
                  <a:latin typeface="Calibri (MS)"/>
                  <a:ea typeface="Calibri (MS)"/>
                  <a:cs typeface="Calibri (MS)"/>
                  <a:sym typeface="Calibri (MS)"/>
                </a:rPr>
                <a:t>Can be accessed </a:t>
              </a:r>
            </a:p>
          </p:txBody>
        </p:sp>
      </p:grpSp>
      <p:sp>
        <p:nvSpPr>
          <p:cNvPr name="AutoShape 210" id="210"/>
          <p:cNvSpPr/>
          <p:nvPr/>
        </p:nvSpPr>
        <p:spPr>
          <a:xfrm rot="-10593657">
            <a:off x="3901971" y="8289930"/>
            <a:ext cx="1764093" cy="0"/>
          </a:xfrm>
          <a:prstGeom prst="line">
            <a:avLst/>
          </a:prstGeom>
          <a:ln cap="rnd" w="9525">
            <a:solidFill>
              <a:srgbClr val="000000"/>
            </a:solidFill>
            <a:prstDash val="solid"/>
            <a:headEnd type="none" len="sm" w="sm"/>
            <a:tailEnd type="triangle" len="med" w="lg"/>
          </a:ln>
        </p:spPr>
      </p:sp>
      <p:grpSp>
        <p:nvGrpSpPr>
          <p:cNvPr name="Group 211" id="211"/>
          <p:cNvGrpSpPr/>
          <p:nvPr/>
        </p:nvGrpSpPr>
        <p:grpSpPr>
          <a:xfrm rot="0">
            <a:off x="1922514" y="7630140"/>
            <a:ext cx="1965840" cy="1036689"/>
            <a:chOff x="0" y="0"/>
            <a:chExt cx="2621120" cy="1382252"/>
          </a:xfrm>
        </p:grpSpPr>
        <p:sp>
          <p:nvSpPr>
            <p:cNvPr name="Freeform 212" id="212"/>
            <p:cNvSpPr/>
            <p:nvPr/>
          </p:nvSpPr>
          <p:spPr>
            <a:xfrm flipH="false" flipV="false" rot="0">
              <a:off x="12700" y="12700"/>
              <a:ext cx="2595753" cy="1356868"/>
            </a:xfrm>
            <a:custGeom>
              <a:avLst/>
              <a:gdLst/>
              <a:ahLst/>
              <a:cxnLst/>
              <a:rect r="r" b="b" t="t" l="l"/>
              <a:pathLst>
                <a:path h="1356868" w="2595753">
                  <a:moveTo>
                    <a:pt x="0" y="0"/>
                  </a:moveTo>
                  <a:lnTo>
                    <a:pt x="2595753" y="0"/>
                  </a:lnTo>
                  <a:lnTo>
                    <a:pt x="2595753" y="1356868"/>
                  </a:lnTo>
                  <a:lnTo>
                    <a:pt x="0" y="1356868"/>
                  </a:lnTo>
                  <a:close/>
                </a:path>
              </a:pathLst>
            </a:custGeom>
            <a:solidFill>
              <a:srgbClr val="FFFFFF"/>
            </a:solidFill>
          </p:spPr>
        </p:sp>
        <p:sp>
          <p:nvSpPr>
            <p:cNvPr name="Freeform 213" id="213"/>
            <p:cNvSpPr/>
            <p:nvPr/>
          </p:nvSpPr>
          <p:spPr>
            <a:xfrm flipH="false" flipV="false" rot="0">
              <a:off x="0" y="0"/>
              <a:ext cx="2621153" cy="1382268"/>
            </a:xfrm>
            <a:custGeom>
              <a:avLst/>
              <a:gdLst/>
              <a:ahLst/>
              <a:cxnLst/>
              <a:rect r="r" b="b" t="t" l="l"/>
              <a:pathLst>
                <a:path h="1382268" w="2621153">
                  <a:moveTo>
                    <a:pt x="12700" y="0"/>
                  </a:moveTo>
                  <a:lnTo>
                    <a:pt x="2608453" y="0"/>
                  </a:lnTo>
                  <a:cubicBezTo>
                    <a:pt x="2615438" y="0"/>
                    <a:pt x="2621153" y="5715"/>
                    <a:pt x="2621153" y="12700"/>
                  </a:cubicBezTo>
                  <a:lnTo>
                    <a:pt x="2621153" y="1369568"/>
                  </a:lnTo>
                  <a:cubicBezTo>
                    <a:pt x="2621153" y="1376553"/>
                    <a:pt x="2615438" y="1382268"/>
                    <a:pt x="2608453" y="1382268"/>
                  </a:cubicBezTo>
                  <a:lnTo>
                    <a:pt x="12700" y="1382268"/>
                  </a:lnTo>
                  <a:cubicBezTo>
                    <a:pt x="5715" y="1382268"/>
                    <a:pt x="0" y="1376553"/>
                    <a:pt x="0" y="1369568"/>
                  </a:cubicBezTo>
                  <a:lnTo>
                    <a:pt x="0" y="12700"/>
                  </a:lnTo>
                  <a:cubicBezTo>
                    <a:pt x="0" y="5715"/>
                    <a:pt x="5715" y="0"/>
                    <a:pt x="12700" y="0"/>
                  </a:cubicBezTo>
                  <a:moveTo>
                    <a:pt x="12700" y="25400"/>
                  </a:moveTo>
                  <a:lnTo>
                    <a:pt x="12700" y="12700"/>
                  </a:lnTo>
                  <a:lnTo>
                    <a:pt x="25400" y="12700"/>
                  </a:lnTo>
                  <a:lnTo>
                    <a:pt x="25400" y="1369568"/>
                  </a:lnTo>
                  <a:lnTo>
                    <a:pt x="12700" y="1369568"/>
                  </a:lnTo>
                  <a:lnTo>
                    <a:pt x="12700" y="1356868"/>
                  </a:lnTo>
                  <a:lnTo>
                    <a:pt x="2608453" y="1356868"/>
                  </a:lnTo>
                  <a:lnTo>
                    <a:pt x="2608453" y="1369568"/>
                  </a:lnTo>
                  <a:lnTo>
                    <a:pt x="2595753" y="1369568"/>
                  </a:lnTo>
                  <a:lnTo>
                    <a:pt x="2595753" y="12700"/>
                  </a:lnTo>
                  <a:lnTo>
                    <a:pt x="2608453" y="12700"/>
                  </a:lnTo>
                  <a:lnTo>
                    <a:pt x="2608453" y="25400"/>
                  </a:lnTo>
                  <a:lnTo>
                    <a:pt x="12700" y="25400"/>
                  </a:lnTo>
                  <a:close/>
                </a:path>
              </a:pathLst>
            </a:custGeom>
            <a:solidFill>
              <a:srgbClr val="70AD47"/>
            </a:solidFill>
          </p:spPr>
        </p:sp>
        <p:sp>
          <p:nvSpPr>
            <p:cNvPr name="TextBox 214" id="214"/>
            <p:cNvSpPr txBox="true"/>
            <p:nvPr/>
          </p:nvSpPr>
          <p:spPr>
            <a:xfrm>
              <a:off x="0" y="-38100"/>
              <a:ext cx="2621120" cy="1420352"/>
            </a:xfrm>
            <a:prstGeom prst="rect">
              <a:avLst/>
            </a:prstGeom>
          </p:spPr>
          <p:txBody>
            <a:bodyPr anchor="ctr" rtlCol="false" tIns="50800" lIns="50800" bIns="50800" rIns="50800"/>
            <a:lstStyle/>
            <a:p>
              <a:pPr algn="ctr">
                <a:lnSpc>
                  <a:spcPts val="2160"/>
                </a:lnSpc>
              </a:pPr>
              <a:r>
                <a:rPr lang="en-US" sz="1800">
                  <a:solidFill>
                    <a:srgbClr val="000000"/>
                  </a:solidFill>
                  <a:latin typeface="Calibri (MS)"/>
                  <a:ea typeface="Calibri (MS)"/>
                  <a:cs typeface="Calibri (MS)"/>
                  <a:sym typeface="Calibri (MS)"/>
                </a:rPr>
                <a:t>IT _team</a:t>
              </a:r>
            </a:p>
          </p:txBody>
        </p:sp>
      </p:grpSp>
      <p:sp>
        <p:nvSpPr>
          <p:cNvPr name="AutoShape 215" id="215"/>
          <p:cNvSpPr/>
          <p:nvPr/>
        </p:nvSpPr>
        <p:spPr>
          <a:xfrm rot="-3727991">
            <a:off x="3219455" y="7171253"/>
            <a:ext cx="1186588" cy="0"/>
          </a:xfrm>
          <a:prstGeom prst="line">
            <a:avLst/>
          </a:prstGeom>
          <a:ln cap="rnd" w="9525">
            <a:solidFill>
              <a:srgbClr val="000000"/>
            </a:solidFill>
            <a:prstDash val="solid"/>
            <a:headEnd type="none" len="sm" w="sm"/>
            <a:tailEnd type="triangle" len="med" w="lg"/>
          </a:ln>
        </p:spPr>
      </p:sp>
      <p:sp>
        <p:nvSpPr>
          <p:cNvPr name="AutoShape 216" id="216"/>
          <p:cNvSpPr/>
          <p:nvPr/>
        </p:nvSpPr>
        <p:spPr>
          <a:xfrm rot="-5806832">
            <a:off x="2546332" y="7097512"/>
            <a:ext cx="1204898" cy="0"/>
          </a:xfrm>
          <a:prstGeom prst="line">
            <a:avLst/>
          </a:prstGeom>
          <a:ln cap="rnd" w="9525">
            <a:solidFill>
              <a:srgbClr val="000000"/>
            </a:solidFill>
            <a:prstDash val="solid"/>
            <a:headEnd type="none" len="sm" w="sm"/>
            <a:tailEnd type="triangle" len="med" w="lg"/>
          </a:ln>
        </p:spPr>
      </p:sp>
      <p:sp>
        <p:nvSpPr>
          <p:cNvPr name="AutoShape 217" id="217"/>
          <p:cNvSpPr/>
          <p:nvPr/>
        </p:nvSpPr>
        <p:spPr>
          <a:xfrm rot="-6297740">
            <a:off x="1176903" y="7112260"/>
            <a:ext cx="1207928" cy="0"/>
          </a:xfrm>
          <a:prstGeom prst="line">
            <a:avLst/>
          </a:prstGeom>
          <a:ln cap="rnd" w="9525">
            <a:solidFill>
              <a:srgbClr val="000000"/>
            </a:solidFill>
            <a:prstDash val="solid"/>
            <a:headEnd type="none" len="sm" w="sm"/>
            <a:tailEnd type="triangle" len="med" w="lg"/>
          </a:ln>
        </p:spPr>
      </p:sp>
      <p:sp>
        <p:nvSpPr>
          <p:cNvPr name="AutoShape 218" id="218"/>
          <p:cNvSpPr/>
          <p:nvPr/>
        </p:nvSpPr>
        <p:spPr>
          <a:xfrm>
            <a:off x="1277966" y="8159546"/>
            <a:ext cx="659215" cy="9525"/>
          </a:xfrm>
          <a:prstGeom prst="line">
            <a:avLst/>
          </a:prstGeom>
          <a:ln cap="rnd" w="9525">
            <a:solidFill>
              <a:srgbClr val="000000"/>
            </a:solidFill>
            <a:prstDash val="solid"/>
            <a:headEnd type="none" len="sm" w="sm"/>
            <a:tailEnd type="triangle" len="med" w="lg"/>
          </a:ln>
        </p:spPr>
      </p:sp>
      <p:sp>
        <p:nvSpPr>
          <p:cNvPr name="AutoShape 219" id="219"/>
          <p:cNvSpPr/>
          <p:nvPr/>
        </p:nvSpPr>
        <p:spPr>
          <a:xfrm rot="5354719">
            <a:off x="1806430" y="9032245"/>
            <a:ext cx="723169" cy="0"/>
          </a:xfrm>
          <a:prstGeom prst="line">
            <a:avLst/>
          </a:prstGeom>
          <a:ln cap="rnd" w="9525">
            <a:solidFill>
              <a:srgbClr val="000000"/>
            </a:solidFill>
            <a:prstDash val="solid"/>
            <a:headEnd type="none" len="sm" w="sm"/>
            <a:tailEnd type="triangle" len="med" w="lg"/>
          </a:ln>
        </p:spPr>
      </p:sp>
      <p:sp>
        <p:nvSpPr>
          <p:cNvPr name="AutoShape 220" id="220"/>
          <p:cNvSpPr/>
          <p:nvPr/>
        </p:nvSpPr>
        <p:spPr>
          <a:xfrm rot="3002559">
            <a:off x="2414482" y="8953972"/>
            <a:ext cx="739129" cy="0"/>
          </a:xfrm>
          <a:prstGeom prst="line">
            <a:avLst/>
          </a:prstGeom>
          <a:ln cap="rnd" w="9525">
            <a:solidFill>
              <a:srgbClr val="000000"/>
            </a:solidFill>
            <a:prstDash val="solid"/>
            <a:headEnd type="none" len="sm" w="sm"/>
            <a:tailEnd type="triangle" len="med" w="lg"/>
          </a:ln>
        </p:spPr>
      </p:sp>
      <p:sp>
        <p:nvSpPr>
          <p:cNvPr name="AutoShape 221" id="221"/>
          <p:cNvSpPr/>
          <p:nvPr/>
        </p:nvSpPr>
        <p:spPr>
          <a:xfrm rot="1584993">
            <a:off x="3031233" y="9027712"/>
            <a:ext cx="1754177" cy="0"/>
          </a:xfrm>
          <a:prstGeom prst="line">
            <a:avLst/>
          </a:prstGeom>
          <a:ln cap="rnd" w="9525">
            <a:solidFill>
              <a:srgbClr val="000000"/>
            </a:solidFill>
            <a:prstDash val="solid"/>
            <a:headEnd type="none" len="sm" w="sm"/>
            <a:tailEnd type="triangle" len="med" w="lg"/>
          </a:ln>
        </p:spPr>
      </p:sp>
      <p:grpSp>
        <p:nvGrpSpPr>
          <p:cNvPr name="Group 222" id="222"/>
          <p:cNvGrpSpPr/>
          <p:nvPr/>
        </p:nvGrpSpPr>
        <p:grpSpPr>
          <a:xfrm rot="0">
            <a:off x="595155" y="5780604"/>
            <a:ext cx="1589750" cy="782279"/>
            <a:chOff x="0" y="0"/>
            <a:chExt cx="2119666" cy="1043038"/>
          </a:xfrm>
        </p:grpSpPr>
        <p:sp>
          <p:nvSpPr>
            <p:cNvPr name="Freeform 223" id="223"/>
            <p:cNvSpPr/>
            <p:nvPr/>
          </p:nvSpPr>
          <p:spPr>
            <a:xfrm flipH="false" flipV="false" rot="0">
              <a:off x="12700" y="12700"/>
              <a:ext cx="2094230" cy="1017651"/>
            </a:xfrm>
            <a:custGeom>
              <a:avLst/>
              <a:gdLst/>
              <a:ahLst/>
              <a:cxnLst/>
              <a:rect r="r" b="b" t="t" l="l"/>
              <a:pathLst>
                <a:path h="1017651" w="2094230">
                  <a:moveTo>
                    <a:pt x="0" y="508762"/>
                  </a:moveTo>
                  <a:cubicBezTo>
                    <a:pt x="0" y="227838"/>
                    <a:pt x="468757" y="0"/>
                    <a:pt x="1047115" y="0"/>
                  </a:cubicBezTo>
                  <a:cubicBezTo>
                    <a:pt x="1625473" y="0"/>
                    <a:pt x="2094230" y="227838"/>
                    <a:pt x="2094230" y="508762"/>
                  </a:cubicBezTo>
                  <a:cubicBezTo>
                    <a:pt x="2094230" y="789686"/>
                    <a:pt x="1625473" y="1017651"/>
                    <a:pt x="1047115" y="1017651"/>
                  </a:cubicBezTo>
                  <a:cubicBezTo>
                    <a:pt x="468757" y="1017651"/>
                    <a:pt x="0" y="789813"/>
                    <a:pt x="0" y="508762"/>
                  </a:cubicBezTo>
                  <a:close/>
                </a:path>
              </a:pathLst>
            </a:custGeom>
            <a:solidFill>
              <a:srgbClr val="FFFFFF"/>
            </a:solidFill>
          </p:spPr>
        </p:sp>
        <p:sp>
          <p:nvSpPr>
            <p:cNvPr name="Freeform 224" id="224"/>
            <p:cNvSpPr/>
            <p:nvPr/>
          </p:nvSpPr>
          <p:spPr>
            <a:xfrm flipH="false" flipV="false" rot="0">
              <a:off x="0" y="0"/>
              <a:ext cx="2119630" cy="1043051"/>
            </a:xfrm>
            <a:custGeom>
              <a:avLst/>
              <a:gdLst/>
              <a:ahLst/>
              <a:cxnLst/>
              <a:rect r="r" b="b" t="t" l="l"/>
              <a:pathLst>
                <a:path h="1043051" w="2119630">
                  <a:moveTo>
                    <a:pt x="0" y="521462"/>
                  </a:moveTo>
                  <a:cubicBezTo>
                    <a:pt x="0" y="226949"/>
                    <a:pt x="483616" y="0"/>
                    <a:pt x="1059815" y="0"/>
                  </a:cubicBezTo>
                  <a:cubicBezTo>
                    <a:pt x="1636014" y="0"/>
                    <a:pt x="2119630" y="226949"/>
                    <a:pt x="2119630" y="521462"/>
                  </a:cubicBezTo>
                  <a:lnTo>
                    <a:pt x="2106930" y="521462"/>
                  </a:lnTo>
                  <a:lnTo>
                    <a:pt x="2119630" y="521462"/>
                  </a:lnTo>
                  <a:cubicBezTo>
                    <a:pt x="2119630" y="815975"/>
                    <a:pt x="1636014" y="1042924"/>
                    <a:pt x="1059815" y="1042924"/>
                  </a:cubicBezTo>
                  <a:lnTo>
                    <a:pt x="1059815" y="1030224"/>
                  </a:lnTo>
                  <a:lnTo>
                    <a:pt x="1059815" y="1042924"/>
                  </a:lnTo>
                  <a:cubicBezTo>
                    <a:pt x="483616" y="1043051"/>
                    <a:pt x="0" y="816102"/>
                    <a:pt x="0" y="521462"/>
                  </a:cubicBezTo>
                  <a:lnTo>
                    <a:pt x="12700" y="521462"/>
                  </a:lnTo>
                  <a:lnTo>
                    <a:pt x="25400" y="521462"/>
                  </a:lnTo>
                  <a:lnTo>
                    <a:pt x="12700" y="521462"/>
                  </a:lnTo>
                  <a:lnTo>
                    <a:pt x="0" y="521462"/>
                  </a:lnTo>
                  <a:moveTo>
                    <a:pt x="25400" y="521462"/>
                  </a:moveTo>
                  <a:cubicBezTo>
                    <a:pt x="25400" y="528447"/>
                    <a:pt x="19685" y="534162"/>
                    <a:pt x="12700" y="534162"/>
                  </a:cubicBezTo>
                  <a:cubicBezTo>
                    <a:pt x="5715" y="534162"/>
                    <a:pt x="0" y="528447"/>
                    <a:pt x="0" y="521462"/>
                  </a:cubicBezTo>
                  <a:cubicBezTo>
                    <a:pt x="0" y="514477"/>
                    <a:pt x="5715" y="508762"/>
                    <a:pt x="12700" y="508762"/>
                  </a:cubicBezTo>
                  <a:cubicBezTo>
                    <a:pt x="19685" y="508762"/>
                    <a:pt x="25400" y="514477"/>
                    <a:pt x="25400" y="521462"/>
                  </a:cubicBezTo>
                  <a:cubicBezTo>
                    <a:pt x="25400" y="789051"/>
                    <a:pt x="479425" y="1017651"/>
                    <a:pt x="1059815" y="1017651"/>
                  </a:cubicBezTo>
                  <a:cubicBezTo>
                    <a:pt x="1640205" y="1017651"/>
                    <a:pt x="2094230" y="789051"/>
                    <a:pt x="2094230" y="521589"/>
                  </a:cubicBezTo>
                  <a:cubicBezTo>
                    <a:pt x="2094230" y="254127"/>
                    <a:pt x="1640332" y="25400"/>
                    <a:pt x="1059815" y="25400"/>
                  </a:cubicBezTo>
                  <a:lnTo>
                    <a:pt x="1059815" y="12700"/>
                  </a:lnTo>
                  <a:lnTo>
                    <a:pt x="1059815" y="25400"/>
                  </a:lnTo>
                  <a:cubicBezTo>
                    <a:pt x="479425" y="25400"/>
                    <a:pt x="25400" y="254000"/>
                    <a:pt x="25400" y="521462"/>
                  </a:cubicBezTo>
                  <a:close/>
                </a:path>
              </a:pathLst>
            </a:custGeom>
            <a:solidFill>
              <a:srgbClr val="70AD47"/>
            </a:solidFill>
          </p:spPr>
        </p:sp>
        <p:sp>
          <p:nvSpPr>
            <p:cNvPr name="TextBox 225" id="225"/>
            <p:cNvSpPr txBox="true"/>
            <p:nvPr/>
          </p:nvSpPr>
          <p:spPr>
            <a:xfrm>
              <a:off x="0" y="-38100"/>
              <a:ext cx="2119666" cy="1081138"/>
            </a:xfrm>
            <a:prstGeom prst="rect">
              <a:avLst/>
            </a:prstGeom>
          </p:spPr>
          <p:txBody>
            <a:bodyPr anchor="ctr" rtlCol="false" tIns="50800" lIns="50800" bIns="50800" rIns="50800"/>
            <a:lstStyle/>
            <a:p>
              <a:pPr algn="ctr">
                <a:lnSpc>
                  <a:spcPts val="2160"/>
                </a:lnSpc>
              </a:pPr>
              <a:r>
                <a:rPr lang="en-US" sz="1800">
                  <a:solidFill>
                    <a:srgbClr val="000000"/>
                  </a:solidFill>
                  <a:latin typeface="Calibri (MS)"/>
                  <a:ea typeface="Calibri (MS)"/>
                  <a:cs typeface="Calibri (MS)"/>
                  <a:sym typeface="Calibri (MS)"/>
                </a:rPr>
                <a:t>User_name</a:t>
              </a:r>
            </a:p>
          </p:txBody>
        </p:sp>
      </p:grpSp>
      <p:grpSp>
        <p:nvGrpSpPr>
          <p:cNvPr name="Group 226" id="226"/>
          <p:cNvGrpSpPr/>
          <p:nvPr/>
        </p:nvGrpSpPr>
        <p:grpSpPr>
          <a:xfrm rot="0">
            <a:off x="2317038" y="5668562"/>
            <a:ext cx="1523376" cy="852380"/>
            <a:chOff x="0" y="0"/>
            <a:chExt cx="2031168" cy="1136506"/>
          </a:xfrm>
        </p:grpSpPr>
        <p:sp>
          <p:nvSpPr>
            <p:cNvPr name="Freeform 227" id="227"/>
            <p:cNvSpPr/>
            <p:nvPr/>
          </p:nvSpPr>
          <p:spPr>
            <a:xfrm flipH="false" flipV="false" rot="0">
              <a:off x="12700" y="12700"/>
              <a:ext cx="2005838" cy="1110996"/>
            </a:xfrm>
            <a:custGeom>
              <a:avLst/>
              <a:gdLst/>
              <a:ahLst/>
              <a:cxnLst/>
              <a:rect r="r" b="b" t="t" l="l"/>
              <a:pathLst>
                <a:path h="1110996" w="2005838">
                  <a:moveTo>
                    <a:pt x="0" y="555498"/>
                  </a:moveTo>
                  <a:cubicBezTo>
                    <a:pt x="0" y="248793"/>
                    <a:pt x="448945" y="0"/>
                    <a:pt x="1002919" y="0"/>
                  </a:cubicBezTo>
                  <a:cubicBezTo>
                    <a:pt x="1556893" y="0"/>
                    <a:pt x="2005838" y="248793"/>
                    <a:pt x="2005838" y="555498"/>
                  </a:cubicBezTo>
                  <a:cubicBezTo>
                    <a:pt x="2005838" y="862203"/>
                    <a:pt x="1556893" y="1110996"/>
                    <a:pt x="1002919" y="1110996"/>
                  </a:cubicBezTo>
                  <a:cubicBezTo>
                    <a:pt x="448945" y="1110996"/>
                    <a:pt x="0" y="862330"/>
                    <a:pt x="0" y="555498"/>
                  </a:cubicBezTo>
                  <a:close/>
                </a:path>
              </a:pathLst>
            </a:custGeom>
            <a:solidFill>
              <a:srgbClr val="FFFFFF"/>
            </a:solidFill>
          </p:spPr>
        </p:sp>
        <p:sp>
          <p:nvSpPr>
            <p:cNvPr name="Freeform 228" id="228"/>
            <p:cNvSpPr/>
            <p:nvPr/>
          </p:nvSpPr>
          <p:spPr>
            <a:xfrm flipH="false" flipV="false" rot="0">
              <a:off x="0" y="0"/>
              <a:ext cx="2031238" cy="1136523"/>
            </a:xfrm>
            <a:custGeom>
              <a:avLst/>
              <a:gdLst/>
              <a:ahLst/>
              <a:cxnLst/>
              <a:rect r="r" b="b" t="t" l="l"/>
              <a:pathLst>
                <a:path h="1136523" w="2031238">
                  <a:moveTo>
                    <a:pt x="0" y="568198"/>
                  </a:moveTo>
                  <a:cubicBezTo>
                    <a:pt x="0" y="248793"/>
                    <a:pt x="462280" y="0"/>
                    <a:pt x="1015619" y="0"/>
                  </a:cubicBezTo>
                  <a:lnTo>
                    <a:pt x="1015619" y="12700"/>
                  </a:lnTo>
                  <a:lnTo>
                    <a:pt x="1015619" y="25400"/>
                  </a:lnTo>
                  <a:lnTo>
                    <a:pt x="1015619" y="12700"/>
                  </a:lnTo>
                  <a:lnTo>
                    <a:pt x="1015619" y="0"/>
                  </a:lnTo>
                  <a:cubicBezTo>
                    <a:pt x="1568958" y="0"/>
                    <a:pt x="2031238" y="248793"/>
                    <a:pt x="2031238" y="568198"/>
                  </a:cubicBezTo>
                  <a:lnTo>
                    <a:pt x="2018538" y="568198"/>
                  </a:lnTo>
                  <a:lnTo>
                    <a:pt x="2031238" y="568198"/>
                  </a:lnTo>
                  <a:cubicBezTo>
                    <a:pt x="2031238" y="887730"/>
                    <a:pt x="1568958" y="1136396"/>
                    <a:pt x="1015619" y="1136396"/>
                  </a:cubicBezTo>
                  <a:lnTo>
                    <a:pt x="1015619" y="1123696"/>
                  </a:lnTo>
                  <a:lnTo>
                    <a:pt x="1015619" y="1136396"/>
                  </a:lnTo>
                  <a:cubicBezTo>
                    <a:pt x="462280" y="1136523"/>
                    <a:pt x="0" y="887730"/>
                    <a:pt x="0" y="568198"/>
                  </a:cubicBezTo>
                  <a:lnTo>
                    <a:pt x="12700" y="568198"/>
                  </a:lnTo>
                  <a:lnTo>
                    <a:pt x="25400" y="568198"/>
                  </a:lnTo>
                  <a:lnTo>
                    <a:pt x="12700" y="568198"/>
                  </a:lnTo>
                  <a:lnTo>
                    <a:pt x="0" y="568198"/>
                  </a:lnTo>
                  <a:moveTo>
                    <a:pt x="25400" y="568198"/>
                  </a:moveTo>
                  <a:cubicBezTo>
                    <a:pt x="25400" y="575183"/>
                    <a:pt x="19685" y="580898"/>
                    <a:pt x="12700" y="580898"/>
                  </a:cubicBezTo>
                  <a:cubicBezTo>
                    <a:pt x="5715" y="580898"/>
                    <a:pt x="0" y="575183"/>
                    <a:pt x="0" y="568198"/>
                  </a:cubicBezTo>
                  <a:cubicBezTo>
                    <a:pt x="0" y="561213"/>
                    <a:pt x="5715" y="555498"/>
                    <a:pt x="12700" y="555498"/>
                  </a:cubicBezTo>
                  <a:cubicBezTo>
                    <a:pt x="19685" y="555498"/>
                    <a:pt x="25400" y="561213"/>
                    <a:pt x="25400" y="568198"/>
                  </a:cubicBezTo>
                  <a:cubicBezTo>
                    <a:pt x="25400" y="862330"/>
                    <a:pt x="461137" y="1111123"/>
                    <a:pt x="1015619" y="1111123"/>
                  </a:cubicBezTo>
                  <a:cubicBezTo>
                    <a:pt x="1570101" y="1111123"/>
                    <a:pt x="2005838" y="862457"/>
                    <a:pt x="2005838" y="568325"/>
                  </a:cubicBezTo>
                  <a:cubicBezTo>
                    <a:pt x="2005838" y="274193"/>
                    <a:pt x="1569974" y="25400"/>
                    <a:pt x="1015619" y="25400"/>
                  </a:cubicBezTo>
                  <a:cubicBezTo>
                    <a:pt x="1008634" y="25400"/>
                    <a:pt x="1002919" y="19685"/>
                    <a:pt x="1002919" y="12700"/>
                  </a:cubicBezTo>
                  <a:cubicBezTo>
                    <a:pt x="1002919" y="5715"/>
                    <a:pt x="1008634" y="0"/>
                    <a:pt x="1015619" y="0"/>
                  </a:cubicBezTo>
                  <a:cubicBezTo>
                    <a:pt x="1022604" y="0"/>
                    <a:pt x="1028319" y="5715"/>
                    <a:pt x="1028319" y="12700"/>
                  </a:cubicBezTo>
                  <a:cubicBezTo>
                    <a:pt x="1028319" y="19685"/>
                    <a:pt x="1022604" y="25400"/>
                    <a:pt x="1015619" y="25400"/>
                  </a:cubicBezTo>
                  <a:cubicBezTo>
                    <a:pt x="461137" y="25400"/>
                    <a:pt x="25400" y="274066"/>
                    <a:pt x="25400" y="568198"/>
                  </a:cubicBezTo>
                  <a:close/>
                </a:path>
              </a:pathLst>
            </a:custGeom>
            <a:solidFill>
              <a:srgbClr val="70AD47"/>
            </a:solidFill>
          </p:spPr>
        </p:sp>
        <p:sp>
          <p:nvSpPr>
            <p:cNvPr name="TextBox 229" id="229"/>
            <p:cNvSpPr txBox="true"/>
            <p:nvPr/>
          </p:nvSpPr>
          <p:spPr>
            <a:xfrm>
              <a:off x="0" y="-38100"/>
              <a:ext cx="2031168" cy="1174606"/>
            </a:xfrm>
            <a:prstGeom prst="rect">
              <a:avLst/>
            </a:prstGeom>
          </p:spPr>
          <p:txBody>
            <a:bodyPr anchor="ctr" rtlCol="false" tIns="50800" lIns="50800" bIns="50800" rIns="50800"/>
            <a:lstStyle/>
            <a:p>
              <a:pPr algn="ctr">
                <a:lnSpc>
                  <a:spcPts val="2160"/>
                </a:lnSpc>
              </a:pPr>
              <a:r>
                <a:rPr lang="en-US" sz="1800">
                  <a:solidFill>
                    <a:srgbClr val="000000"/>
                  </a:solidFill>
                  <a:latin typeface="Calibri (MS)"/>
                  <a:ea typeface="Calibri (MS)"/>
                  <a:cs typeface="Calibri (MS)"/>
                  <a:sym typeface="Calibri (MS)"/>
                </a:rPr>
                <a:t>password</a:t>
              </a:r>
            </a:p>
          </p:txBody>
        </p:sp>
      </p:grpSp>
      <p:grpSp>
        <p:nvGrpSpPr>
          <p:cNvPr name="Group 230" id="230"/>
          <p:cNvGrpSpPr/>
          <p:nvPr/>
        </p:nvGrpSpPr>
        <p:grpSpPr>
          <a:xfrm rot="0">
            <a:off x="3898797" y="5959862"/>
            <a:ext cx="1449642" cy="852381"/>
            <a:chOff x="0" y="0"/>
            <a:chExt cx="1932856" cy="1136508"/>
          </a:xfrm>
        </p:grpSpPr>
        <p:sp>
          <p:nvSpPr>
            <p:cNvPr name="Freeform 231" id="231"/>
            <p:cNvSpPr/>
            <p:nvPr/>
          </p:nvSpPr>
          <p:spPr>
            <a:xfrm flipH="false" flipV="false" rot="0">
              <a:off x="12700" y="12700"/>
              <a:ext cx="1907540" cy="1110996"/>
            </a:xfrm>
            <a:custGeom>
              <a:avLst/>
              <a:gdLst/>
              <a:ahLst/>
              <a:cxnLst/>
              <a:rect r="r" b="b" t="t" l="l"/>
              <a:pathLst>
                <a:path h="1110996" w="1907540">
                  <a:moveTo>
                    <a:pt x="0" y="555498"/>
                  </a:moveTo>
                  <a:cubicBezTo>
                    <a:pt x="0" y="248793"/>
                    <a:pt x="426974" y="0"/>
                    <a:pt x="953770" y="0"/>
                  </a:cubicBezTo>
                  <a:cubicBezTo>
                    <a:pt x="1480566" y="0"/>
                    <a:pt x="1907540" y="248793"/>
                    <a:pt x="1907540" y="555498"/>
                  </a:cubicBezTo>
                  <a:cubicBezTo>
                    <a:pt x="1907540" y="862203"/>
                    <a:pt x="1480566" y="1110996"/>
                    <a:pt x="953770" y="1110996"/>
                  </a:cubicBezTo>
                  <a:cubicBezTo>
                    <a:pt x="426974" y="1110996"/>
                    <a:pt x="0" y="862330"/>
                    <a:pt x="0" y="555498"/>
                  </a:cubicBezTo>
                  <a:close/>
                </a:path>
              </a:pathLst>
            </a:custGeom>
            <a:solidFill>
              <a:srgbClr val="FFFFFF"/>
            </a:solidFill>
          </p:spPr>
        </p:sp>
        <p:sp>
          <p:nvSpPr>
            <p:cNvPr name="Freeform 232" id="232"/>
            <p:cNvSpPr/>
            <p:nvPr/>
          </p:nvSpPr>
          <p:spPr>
            <a:xfrm flipH="false" flipV="false" rot="0">
              <a:off x="0" y="0"/>
              <a:ext cx="1932940" cy="1136523"/>
            </a:xfrm>
            <a:custGeom>
              <a:avLst/>
              <a:gdLst/>
              <a:ahLst/>
              <a:cxnLst/>
              <a:rect r="r" b="b" t="t" l="l"/>
              <a:pathLst>
                <a:path h="1136523" w="1932940">
                  <a:moveTo>
                    <a:pt x="0" y="568198"/>
                  </a:moveTo>
                  <a:cubicBezTo>
                    <a:pt x="0" y="249047"/>
                    <a:pt x="439547" y="0"/>
                    <a:pt x="966470" y="0"/>
                  </a:cubicBezTo>
                  <a:lnTo>
                    <a:pt x="966470" y="12700"/>
                  </a:lnTo>
                  <a:lnTo>
                    <a:pt x="966470" y="25400"/>
                  </a:lnTo>
                  <a:lnTo>
                    <a:pt x="966470" y="12700"/>
                  </a:lnTo>
                  <a:lnTo>
                    <a:pt x="966470" y="0"/>
                  </a:lnTo>
                  <a:cubicBezTo>
                    <a:pt x="1493266" y="0"/>
                    <a:pt x="1932940" y="249047"/>
                    <a:pt x="1932940" y="568198"/>
                  </a:cubicBezTo>
                  <a:cubicBezTo>
                    <a:pt x="1932940" y="887349"/>
                    <a:pt x="1493266" y="1136523"/>
                    <a:pt x="966470" y="1136523"/>
                  </a:cubicBezTo>
                  <a:lnTo>
                    <a:pt x="966470" y="1123823"/>
                  </a:lnTo>
                  <a:lnTo>
                    <a:pt x="966470" y="1136523"/>
                  </a:lnTo>
                  <a:cubicBezTo>
                    <a:pt x="439547" y="1136523"/>
                    <a:pt x="0" y="887349"/>
                    <a:pt x="0" y="568198"/>
                  </a:cubicBezTo>
                  <a:lnTo>
                    <a:pt x="12700" y="568198"/>
                  </a:lnTo>
                  <a:lnTo>
                    <a:pt x="25400" y="568198"/>
                  </a:lnTo>
                  <a:lnTo>
                    <a:pt x="12700" y="568198"/>
                  </a:lnTo>
                  <a:lnTo>
                    <a:pt x="0" y="568198"/>
                  </a:lnTo>
                  <a:moveTo>
                    <a:pt x="25400" y="568198"/>
                  </a:moveTo>
                  <a:cubicBezTo>
                    <a:pt x="25400" y="575183"/>
                    <a:pt x="19685" y="580898"/>
                    <a:pt x="12700" y="580898"/>
                  </a:cubicBezTo>
                  <a:cubicBezTo>
                    <a:pt x="5715" y="580898"/>
                    <a:pt x="0" y="575183"/>
                    <a:pt x="0" y="568198"/>
                  </a:cubicBezTo>
                  <a:cubicBezTo>
                    <a:pt x="0" y="561213"/>
                    <a:pt x="5715" y="555498"/>
                    <a:pt x="12700" y="555498"/>
                  </a:cubicBezTo>
                  <a:cubicBezTo>
                    <a:pt x="19685" y="555498"/>
                    <a:pt x="25400" y="561213"/>
                    <a:pt x="25400" y="568198"/>
                  </a:cubicBezTo>
                  <a:cubicBezTo>
                    <a:pt x="25400" y="862711"/>
                    <a:pt x="439801" y="1111123"/>
                    <a:pt x="966470" y="1111123"/>
                  </a:cubicBezTo>
                  <a:cubicBezTo>
                    <a:pt x="1493139" y="1111123"/>
                    <a:pt x="1907540" y="862711"/>
                    <a:pt x="1907540" y="568325"/>
                  </a:cubicBezTo>
                  <a:lnTo>
                    <a:pt x="1920240" y="568325"/>
                  </a:lnTo>
                  <a:lnTo>
                    <a:pt x="1907540" y="568325"/>
                  </a:lnTo>
                  <a:cubicBezTo>
                    <a:pt x="1907413" y="273812"/>
                    <a:pt x="1493012" y="25400"/>
                    <a:pt x="966470" y="25400"/>
                  </a:cubicBezTo>
                  <a:cubicBezTo>
                    <a:pt x="959485" y="25400"/>
                    <a:pt x="953770" y="19685"/>
                    <a:pt x="953770" y="12700"/>
                  </a:cubicBezTo>
                  <a:cubicBezTo>
                    <a:pt x="953770" y="5715"/>
                    <a:pt x="959485" y="0"/>
                    <a:pt x="966470" y="0"/>
                  </a:cubicBezTo>
                  <a:cubicBezTo>
                    <a:pt x="973455" y="0"/>
                    <a:pt x="979170" y="5715"/>
                    <a:pt x="979170" y="12700"/>
                  </a:cubicBezTo>
                  <a:cubicBezTo>
                    <a:pt x="979170" y="19685"/>
                    <a:pt x="973455" y="25400"/>
                    <a:pt x="966470" y="25400"/>
                  </a:cubicBezTo>
                  <a:cubicBezTo>
                    <a:pt x="439801" y="25400"/>
                    <a:pt x="25400" y="273812"/>
                    <a:pt x="25400" y="568198"/>
                  </a:cubicBezTo>
                  <a:close/>
                </a:path>
              </a:pathLst>
            </a:custGeom>
            <a:solidFill>
              <a:srgbClr val="70AD47"/>
            </a:solidFill>
          </p:spPr>
        </p:sp>
        <p:sp>
          <p:nvSpPr>
            <p:cNvPr name="TextBox 233" id="233"/>
            <p:cNvSpPr txBox="true"/>
            <p:nvPr/>
          </p:nvSpPr>
          <p:spPr>
            <a:xfrm>
              <a:off x="0" y="-38100"/>
              <a:ext cx="1932856" cy="1174608"/>
            </a:xfrm>
            <a:prstGeom prst="rect">
              <a:avLst/>
            </a:prstGeom>
          </p:spPr>
          <p:txBody>
            <a:bodyPr anchor="ctr" rtlCol="false" tIns="50800" lIns="50800" bIns="50800" rIns="50800"/>
            <a:lstStyle/>
            <a:p>
              <a:pPr algn="ctr">
                <a:lnSpc>
                  <a:spcPts val="2160"/>
                </a:lnSpc>
              </a:pPr>
              <a:r>
                <a:rPr lang="en-US" sz="1800">
                  <a:solidFill>
                    <a:srgbClr val="000000"/>
                  </a:solidFill>
                  <a:latin typeface="Calibri (MS)"/>
                  <a:ea typeface="Calibri (MS)"/>
                  <a:cs typeface="Calibri (MS)"/>
                  <a:sym typeface="Calibri (MS)"/>
                </a:rPr>
                <a:t>IT_Team id</a:t>
              </a:r>
            </a:p>
          </p:txBody>
        </p:sp>
      </p:grpSp>
      <p:grpSp>
        <p:nvGrpSpPr>
          <p:cNvPr name="Group 234" id="234"/>
          <p:cNvGrpSpPr/>
          <p:nvPr/>
        </p:nvGrpSpPr>
        <p:grpSpPr>
          <a:xfrm rot="0">
            <a:off x="137959" y="7939856"/>
            <a:ext cx="1128866" cy="520496"/>
            <a:chOff x="0" y="0"/>
            <a:chExt cx="1505154" cy="693994"/>
          </a:xfrm>
        </p:grpSpPr>
        <p:sp>
          <p:nvSpPr>
            <p:cNvPr name="Freeform 235" id="235"/>
            <p:cNvSpPr/>
            <p:nvPr/>
          </p:nvSpPr>
          <p:spPr>
            <a:xfrm flipH="false" flipV="false" rot="0">
              <a:off x="12700" y="12700"/>
              <a:ext cx="1479804" cy="668655"/>
            </a:xfrm>
            <a:custGeom>
              <a:avLst/>
              <a:gdLst/>
              <a:ahLst/>
              <a:cxnLst/>
              <a:rect r="r" b="b" t="t" l="l"/>
              <a:pathLst>
                <a:path h="668655" w="1479804">
                  <a:moveTo>
                    <a:pt x="0" y="334264"/>
                  </a:moveTo>
                  <a:cubicBezTo>
                    <a:pt x="0" y="149733"/>
                    <a:pt x="331216" y="0"/>
                    <a:pt x="739902" y="0"/>
                  </a:cubicBezTo>
                  <a:cubicBezTo>
                    <a:pt x="1148588" y="0"/>
                    <a:pt x="1479804" y="149733"/>
                    <a:pt x="1479804" y="334264"/>
                  </a:cubicBezTo>
                  <a:cubicBezTo>
                    <a:pt x="1479804" y="518795"/>
                    <a:pt x="1148461" y="668655"/>
                    <a:pt x="739902" y="668655"/>
                  </a:cubicBezTo>
                  <a:cubicBezTo>
                    <a:pt x="331343" y="668655"/>
                    <a:pt x="0" y="518922"/>
                    <a:pt x="0" y="334264"/>
                  </a:cubicBezTo>
                  <a:close/>
                </a:path>
              </a:pathLst>
            </a:custGeom>
            <a:solidFill>
              <a:srgbClr val="FFFFFF"/>
            </a:solidFill>
          </p:spPr>
        </p:sp>
        <p:sp>
          <p:nvSpPr>
            <p:cNvPr name="Freeform 236" id="236"/>
            <p:cNvSpPr/>
            <p:nvPr/>
          </p:nvSpPr>
          <p:spPr>
            <a:xfrm flipH="false" flipV="false" rot="0">
              <a:off x="0" y="0"/>
              <a:ext cx="1505204" cy="694055"/>
            </a:xfrm>
            <a:custGeom>
              <a:avLst/>
              <a:gdLst/>
              <a:ahLst/>
              <a:cxnLst/>
              <a:rect r="r" b="b" t="t" l="l"/>
              <a:pathLst>
                <a:path h="694055" w="1505204">
                  <a:moveTo>
                    <a:pt x="0" y="346964"/>
                  </a:moveTo>
                  <a:cubicBezTo>
                    <a:pt x="0" y="148463"/>
                    <a:pt x="346964" y="0"/>
                    <a:pt x="752602" y="0"/>
                  </a:cubicBezTo>
                  <a:cubicBezTo>
                    <a:pt x="1158240" y="0"/>
                    <a:pt x="1505204" y="148463"/>
                    <a:pt x="1505204" y="346964"/>
                  </a:cubicBezTo>
                  <a:lnTo>
                    <a:pt x="1492504" y="346964"/>
                  </a:lnTo>
                  <a:lnTo>
                    <a:pt x="1505204" y="346964"/>
                  </a:lnTo>
                  <a:cubicBezTo>
                    <a:pt x="1505204" y="545465"/>
                    <a:pt x="1158240" y="693928"/>
                    <a:pt x="752602" y="693928"/>
                  </a:cubicBezTo>
                  <a:lnTo>
                    <a:pt x="752602" y="681228"/>
                  </a:lnTo>
                  <a:lnTo>
                    <a:pt x="752602" y="693928"/>
                  </a:lnTo>
                  <a:cubicBezTo>
                    <a:pt x="346964" y="694055"/>
                    <a:pt x="0" y="545592"/>
                    <a:pt x="0" y="346964"/>
                  </a:cubicBezTo>
                  <a:lnTo>
                    <a:pt x="12700" y="346964"/>
                  </a:lnTo>
                  <a:lnTo>
                    <a:pt x="25400" y="346964"/>
                  </a:lnTo>
                  <a:lnTo>
                    <a:pt x="12700" y="346964"/>
                  </a:lnTo>
                  <a:lnTo>
                    <a:pt x="0" y="346964"/>
                  </a:lnTo>
                  <a:moveTo>
                    <a:pt x="25400" y="346964"/>
                  </a:moveTo>
                  <a:cubicBezTo>
                    <a:pt x="25400" y="353949"/>
                    <a:pt x="19685" y="359664"/>
                    <a:pt x="12700" y="359664"/>
                  </a:cubicBezTo>
                  <a:cubicBezTo>
                    <a:pt x="5715" y="359664"/>
                    <a:pt x="0" y="353949"/>
                    <a:pt x="0" y="346964"/>
                  </a:cubicBezTo>
                  <a:cubicBezTo>
                    <a:pt x="0" y="339979"/>
                    <a:pt x="5715" y="334264"/>
                    <a:pt x="12700" y="334264"/>
                  </a:cubicBezTo>
                  <a:cubicBezTo>
                    <a:pt x="19685" y="334264"/>
                    <a:pt x="25400" y="339979"/>
                    <a:pt x="25400" y="346964"/>
                  </a:cubicBezTo>
                  <a:cubicBezTo>
                    <a:pt x="25400" y="517652"/>
                    <a:pt x="340995" y="668655"/>
                    <a:pt x="752602" y="668655"/>
                  </a:cubicBezTo>
                  <a:cubicBezTo>
                    <a:pt x="1164209" y="668655"/>
                    <a:pt x="1479804" y="517779"/>
                    <a:pt x="1479804" y="347091"/>
                  </a:cubicBezTo>
                  <a:cubicBezTo>
                    <a:pt x="1479804" y="176403"/>
                    <a:pt x="1164209" y="25400"/>
                    <a:pt x="752602" y="25400"/>
                  </a:cubicBezTo>
                  <a:lnTo>
                    <a:pt x="752602" y="12700"/>
                  </a:lnTo>
                  <a:lnTo>
                    <a:pt x="752602" y="25400"/>
                  </a:lnTo>
                  <a:cubicBezTo>
                    <a:pt x="340995" y="25400"/>
                    <a:pt x="25400" y="176276"/>
                    <a:pt x="25400" y="346964"/>
                  </a:cubicBezTo>
                  <a:close/>
                </a:path>
              </a:pathLst>
            </a:custGeom>
            <a:solidFill>
              <a:srgbClr val="70AD47"/>
            </a:solidFill>
          </p:spPr>
        </p:sp>
        <p:sp>
          <p:nvSpPr>
            <p:cNvPr name="TextBox 237" id="237"/>
            <p:cNvSpPr txBox="true"/>
            <p:nvPr/>
          </p:nvSpPr>
          <p:spPr>
            <a:xfrm>
              <a:off x="0" y="-38100"/>
              <a:ext cx="1505154" cy="732094"/>
            </a:xfrm>
            <a:prstGeom prst="rect">
              <a:avLst/>
            </a:prstGeom>
          </p:spPr>
          <p:txBody>
            <a:bodyPr anchor="ctr" rtlCol="false" tIns="50800" lIns="50800" bIns="50800" rIns="50800"/>
            <a:lstStyle/>
            <a:p>
              <a:pPr algn="ctr">
                <a:lnSpc>
                  <a:spcPts val="2160"/>
                </a:lnSpc>
              </a:pPr>
              <a:r>
                <a:rPr lang="en-US" sz="1800">
                  <a:solidFill>
                    <a:srgbClr val="000000"/>
                  </a:solidFill>
                  <a:latin typeface="Calibri (MS)"/>
                  <a:ea typeface="Calibri (MS)"/>
                  <a:cs typeface="Calibri (MS)"/>
                  <a:sym typeface="Calibri (MS)"/>
                </a:rPr>
                <a:t>Status</a:t>
              </a:r>
            </a:p>
          </p:txBody>
        </p:sp>
      </p:grpSp>
      <p:grpSp>
        <p:nvGrpSpPr>
          <p:cNvPr name="Group 238" id="238"/>
          <p:cNvGrpSpPr/>
          <p:nvPr/>
        </p:nvGrpSpPr>
        <p:grpSpPr>
          <a:xfrm rot="0">
            <a:off x="1280956" y="9374979"/>
            <a:ext cx="1707741" cy="629418"/>
            <a:chOff x="0" y="0"/>
            <a:chExt cx="2276988" cy="839224"/>
          </a:xfrm>
        </p:grpSpPr>
        <p:sp>
          <p:nvSpPr>
            <p:cNvPr name="Freeform 239" id="239"/>
            <p:cNvSpPr/>
            <p:nvPr/>
          </p:nvSpPr>
          <p:spPr>
            <a:xfrm flipH="false" flipV="false" rot="0">
              <a:off x="12700" y="12700"/>
              <a:ext cx="2251710" cy="813816"/>
            </a:xfrm>
            <a:custGeom>
              <a:avLst/>
              <a:gdLst/>
              <a:ahLst/>
              <a:cxnLst/>
              <a:rect r="r" b="b" t="t" l="l"/>
              <a:pathLst>
                <a:path h="813816" w="2251710">
                  <a:moveTo>
                    <a:pt x="0" y="406908"/>
                  </a:moveTo>
                  <a:cubicBezTo>
                    <a:pt x="0" y="182118"/>
                    <a:pt x="504063" y="0"/>
                    <a:pt x="1125855" y="0"/>
                  </a:cubicBezTo>
                  <a:cubicBezTo>
                    <a:pt x="1747647" y="0"/>
                    <a:pt x="2251710" y="182118"/>
                    <a:pt x="2251710" y="406908"/>
                  </a:cubicBezTo>
                  <a:cubicBezTo>
                    <a:pt x="2251710" y="631698"/>
                    <a:pt x="1747520" y="813816"/>
                    <a:pt x="1125855" y="813816"/>
                  </a:cubicBezTo>
                  <a:cubicBezTo>
                    <a:pt x="504190" y="813816"/>
                    <a:pt x="0" y="631698"/>
                    <a:pt x="0" y="406908"/>
                  </a:cubicBezTo>
                  <a:close/>
                </a:path>
              </a:pathLst>
            </a:custGeom>
            <a:solidFill>
              <a:srgbClr val="FFFFFF"/>
            </a:solidFill>
          </p:spPr>
        </p:sp>
        <p:sp>
          <p:nvSpPr>
            <p:cNvPr name="Freeform 240" id="240"/>
            <p:cNvSpPr/>
            <p:nvPr/>
          </p:nvSpPr>
          <p:spPr>
            <a:xfrm flipH="false" flipV="false" rot="0">
              <a:off x="0" y="0"/>
              <a:ext cx="2277110" cy="839216"/>
            </a:xfrm>
            <a:custGeom>
              <a:avLst/>
              <a:gdLst/>
              <a:ahLst/>
              <a:cxnLst/>
              <a:rect r="r" b="b" t="t" l="l"/>
              <a:pathLst>
                <a:path h="839216" w="2277110">
                  <a:moveTo>
                    <a:pt x="0" y="419608"/>
                  </a:moveTo>
                  <a:cubicBezTo>
                    <a:pt x="0" y="179959"/>
                    <a:pt x="522097" y="0"/>
                    <a:pt x="1138555" y="0"/>
                  </a:cubicBezTo>
                  <a:cubicBezTo>
                    <a:pt x="1755013" y="0"/>
                    <a:pt x="2277110" y="179959"/>
                    <a:pt x="2277110" y="419608"/>
                  </a:cubicBezTo>
                  <a:lnTo>
                    <a:pt x="2264410" y="419608"/>
                  </a:lnTo>
                  <a:lnTo>
                    <a:pt x="2277110" y="419608"/>
                  </a:lnTo>
                  <a:cubicBezTo>
                    <a:pt x="2277110" y="659257"/>
                    <a:pt x="1755013" y="839216"/>
                    <a:pt x="1138555" y="839216"/>
                  </a:cubicBezTo>
                  <a:lnTo>
                    <a:pt x="1138555" y="826516"/>
                  </a:lnTo>
                  <a:lnTo>
                    <a:pt x="1138555" y="839216"/>
                  </a:lnTo>
                  <a:cubicBezTo>
                    <a:pt x="522097" y="839216"/>
                    <a:pt x="0" y="659257"/>
                    <a:pt x="0" y="419608"/>
                  </a:cubicBezTo>
                  <a:lnTo>
                    <a:pt x="12700" y="419608"/>
                  </a:lnTo>
                  <a:lnTo>
                    <a:pt x="25400" y="419608"/>
                  </a:lnTo>
                  <a:lnTo>
                    <a:pt x="12700" y="419608"/>
                  </a:lnTo>
                  <a:lnTo>
                    <a:pt x="0" y="419608"/>
                  </a:lnTo>
                  <a:moveTo>
                    <a:pt x="25400" y="419608"/>
                  </a:moveTo>
                  <a:cubicBezTo>
                    <a:pt x="25400" y="426593"/>
                    <a:pt x="19685" y="432308"/>
                    <a:pt x="12700" y="432308"/>
                  </a:cubicBezTo>
                  <a:cubicBezTo>
                    <a:pt x="5715" y="432308"/>
                    <a:pt x="0" y="426593"/>
                    <a:pt x="0" y="419608"/>
                  </a:cubicBezTo>
                  <a:cubicBezTo>
                    <a:pt x="0" y="412623"/>
                    <a:pt x="5715" y="406908"/>
                    <a:pt x="12700" y="406908"/>
                  </a:cubicBezTo>
                  <a:cubicBezTo>
                    <a:pt x="19685" y="406908"/>
                    <a:pt x="25400" y="412623"/>
                    <a:pt x="25400" y="419608"/>
                  </a:cubicBezTo>
                  <a:cubicBezTo>
                    <a:pt x="25400" y="629412"/>
                    <a:pt x="511302" y="813816"/>
                    <a:pt x="1138555" y="813816"/>
                  </a:cubicBezTo>
                  <a:cubicBezTo>
                    <a:pt x="1765808" y="813816"/>
                    <a:pt x="2251710" y="629412"/>
                    <a:pt x="2251710" y="419608"/>
                  </a:cubicBezTo>
                  <a:cubicBezTo>
                    <a:pt x="2251710" y="209804"/>
                    <a:pt x="1765681" y="25400"/>
                    <a:pt x="1138555" y="25400"/>
                  </a:cubicBezTo>
                  <a:lnTo>
                    <a:pt x="1138555" y="12700"/>
                  </a:lnTo>
                  <a:lnTo>
                    <a:pt x="1138555" y="25400"/>
                  </a:lnTo>
                  <a:cubicBezTo>
                    <a:pt x="511302" y="25400"/>
                    <a:pt x="25400" y="209804"/>
                    <a:pt x="25400" y="419608"/>
                  </a:cubicBezTo>
                  <a:close/>
                </a:path>
              </a:pathLst>
            </a:custGeom>
            <a:solidFill>
              <a:srgbClr val="70AD47"/>
            </a:solidFill>
          </p:spPr>
        </p:sp>
        <p:sp>
          <p:nvSpPr>
            <p:cNvPr name="TextBox 241" id="241"/>
            <p:cNvSpPr txBox="true"/>
            <p:nvPr/>
          </p:nvSpPr>
          <p:spPr>
            <a:xfrm>
              <a:off x="0" y="-38100"/>
              <a:ext cx="2276988" cy="877324"/>
            </a:xfrm>
            <a:prstGeom prst="rect">
              <a:avLst/>
            </a:prstGeom>
          </p:spPr>
          <p:txBody>
            <a:bodyPr anchor="ctr" rtlCol="false" tIns="50800" lIns="50800" bIns="50800" rIns="50800"/>
            <a:lstStyle/>
            <a:p>
              <a:pPr algn="ctr">
                <a:lnSpc>
                  <a:spcPts val="2160"/>
                </a:lnSpc>
              </a:pPr>
              <a:r>
                <a:rPr lang="en-US" sz="1800">
                  <a:solidFill>
                    <a:srgbClr val="000000"/>
                  </a:solidFill>
                  <a:latin typeface="Calibri (MS)"/>
                  <a:ea typeface="Calibri (MS)"/>
                  <a:cs typeface="Calibri (MS)"/>
                  <a:sym typeface="Calibri (MS)"/>
                </a:rPr>
                <a:t>Mobile</a:t>
              </a:r>
            </a:p>
          </p:txBody>
        </p:sp>
      </p:grpSp>
      <p:grpSp>
        <p:nvGrpSpPr>
          <p:cNvPr name="Group 242" id="242"/>
          <p:cNvGrpSpPr/>
          <p:nvPr/>
        </p:nvGrpSpPr>
        <p:grpSpPr>
          <a:xfrm rot="0">
            <a:off x="2969648" y="9075504"/>
            <a:ext cx="1243167" cy="889180"/>
            <a:chOff x="0" y="0"/>
            <a:chExt cx="1657556" cy="1185574"/>
          </a:xfrm>
        </p:grpSpPr>
        <p:sp>
          <p:nvSpPr>
            <p:cNvPr name="Freeform 243" id="243"/>
            <p:cNvSpPr/>
            <p:nvPr/>
          </p:nvSpPr>
          <p:spPr>
            <a:xfrm flipH="false" flipV="false" rot="0">
              <a:off x="12700" y="12700"/>
              <a:ext cx="1632204" cy="1160272"/>
            </a:xfrm>
            <a:custGeom>
              <a:avLst/>
              <a:gdLst/>
              <a:ahLst/>
              <a:cxnLst/>
              <a:rect r="r" b="b" t="t" l="l"/>
              <a:pathLst>
                <a:path h="1160272" w="1632204">
                  <a:moveTo>
                    <a:pt x="0" y="580136"/>
                  </a:moveTo>
                  <a:cubicBezTo>
                    <a:pt x="0" y="259715"/>
                    <a:pt x="365379" y="0"/>
                    <a:pt x="816102" y="0"/>
                  </a:cubicBezTo>
                  <a:cubicBezTo>
                    <a:pt x="1266825" y="0"/>
                    <a:pt x="1632204" y="259715"/>
                    <a:pt x="1632204" y="580136"/>
                  </a:cubicBezTo>
                  <a:cubicBezTo>
                    <a:pt x="1632204" y="900557"/>
                    <a:pt x="1266825" y="1160272"/>
                    <a:pt x="816102" y="1160272"/>
                  </a:cubicBezTo>
                  <a:cubicBezTo>
                    <a:pt x="365379" y="1160272"/>
                    <a:pt x="0" y="900430"/>
                    <a:pt x="0" y="580136"/>
                  </a:cubicBezTo>
                  <a:close/>
                </a:path>
              </a:pathLst>
            </a:custGeom>
            <a:solidFill>
              <a:srgbClr val="FFFFFF"/>
            </a:solidFill>
          </p:spPr>
        </p:sp>
        <p:sp>
          <p:nvSpPr>
            <p:cNvPr name="Freeform 244" id="244"/>
            <p:cNvSpPr/>
            <p:nvPr/>
          </p:nvSpPr>
          <p:spPr>
            <a:xfrm flipH="false" flipV="false" rot="0">
              <a:off x="0" y="0"/>
              <a:ext cx="1657604" cy="1185672"/>
            </a:xfrm>
            <a:custGeom>
              <a:avLst/>
              <a:gdLst/>
              <a:ahLst/>
              <a:cxnLst/>
              <a:rect r="r" b="b" t="t" l="l"/>
              <a:pathLst>
                <a:path h="1185672" w="1657604">
                  <a:moveTo>
                    <a:pt x="0" y="592836"/>
                  </a:moveTo>
                  <a:cubicBezTo>
                    <a:pt x="0" y="261747"/>
                    <a:pt x="375412" y="0"/>
                    <a:pt x="828802" y="0"/>
                  </a:cubicBezTo>
                  <a:cubicBezTo>
                    <a:pt x="1282192" y="0"/>
                    <a:pt x="1657604" y="261747"/>
                    <a:pt x="1657604" y="592836"/>
                  </a:cubicBezTo>
                  <a:lnTo>
                    <a:pt x="1644904" y="592836"/>
                  </a:lnTo>
                  <a:lnTo>
                    <a:pt x="1657604" y="592836"/>
                  </a:lnTo>
                  <a:cubicBezTo>
                    <a:pt x="1657604" y="923925"/>
                    <a:pt x="1282192" y="1185672"/>
                    <a:pt x="828802" y="1185672"/>
                  </a:cubicBezTo>
                  <a:lnTo>
                    <a:pt x="828802" y="1172972"/>
                  </a:lnTo>
                  <a:lnTo>
                    <a:pt x="828802" y="1185672"/>
                  </a:lnTo>
                  <a:cubicBezTo>
                    <a:pt x="375412" y="1185545"/>
                    <a:pt x="0" y="923798"/>
                    <a:pt x="0" y="592836"/>
                  </a:cubicBezTo>
                  <a:lnTo>
                    <a:pt x="12700" y="592836"/>
                  </a:lnTo>
                  <a:lnTo>
                    <a:pt x="25400" y="592836"/>
                  </a:lnTo>
                  <a:lnTo>
                    <a:pt x="12700" y="592836"/>
                  </a:lnTo>
                  <a:lnTo>
                    <a:pt x="0" y="592836"/>
                  </a:lnTo>
                  <a:moveTo>
                    <a:pt x="25400" y="592836"/>
                  </a:moveTo>
                  <a:cubicBezTo>
                    <a:pt x="25400" y="599821"/>
                    <a:pt x="19685" y="605536"/>
                    <a:pt x="12700" y="605536"/>
                  </a:cubicBezTo>
                  <a:cubicBezTo>
                    <a:pt x="5715" y="605536"/>
                    <a:pt x="0" y="599821"/>
                    <a:pt x="0" y="592836"/>
                  </a:cubicBezTo>
                  <a:cubicBezTo>
                    <a:pt x="0" y="585851"/>
                    <a:pt x="5715" y="580136"/>
                    <a:pt x="12700" y="580136"/>
                  </a:cubicBezTo>
                  <a:cubicBezTo>
                    <a:pt x="19685" y="580136"/>
                    <a:pt x="25400" y="585851"/>
                    <a:pt x="25400" y="592836"/>
                  </a:cubicBezTo>
                  <a:cubicBezTo>
                    <a:pt x="25400" y="902462"/>
                    <a:pt x="380746" y="1160145"/>
                    <a:pt x="828802" y="1160145"/>
                  </a:cubicBezTo>
                  <a:cubicBezTo>
                    <a:pt x="1276858" y="1160145"/>
                    <a:pt x="1632204" y="902462"/>
                    <a:pt x="1632204" y="592709"/>
                  </a:cubicBezTo>
                  <a:cubicBezTo>
                    <a:pt x="1632204" y="282956"/>
                    <a:pt x="1276858" y="25400"/>
                    <a:pt x="828802" y="25400"/>
                  </a:cubicBezTo>
                  <a:lnTo>
                    <a:pt x="828802" y="12700"/>
                  </a:lnTo>
                  <a:lnTo>
                    <a:pt x="828802" y="25400"/>
                  </a:lnTo>
                  <a:cubicBezTo>
                    <a:pt x="380746" y="25400"/>
                    <a:pt x="25400" y="283083"/>
                    <a:pt x="25400" y="592836"/>
                  </a:cubicBezTo>
                  <a:close/>
                </a:path>
              </a:pathLst>
            </a:custGeom>
            <a:solidFill>
              <a:srgbClr val="70AD47"/>
            </a:solidFill>
          </p:spPr>
        </p:sp>
        <p:sp>
          <p:nvSpPr>
            <p:cNvPr name="TextBox 245" id="245"/>
            <p:cNvSpPr txBox="true"/>
            <p:nvPr/>
          </p:nvSpPr>
          <p:spPr>
            <a:xfrm>
              <a:off x="0" y="-38100"/>
              <a:ext cx="1657556" cy="1223674"/>
            </a:xfrm>
            <a:prstGeom prst="rect">
              <a:avLst/>
            </a:prstGeom>
          </p:spPr>
          <p:txBody>
            <a:bodyPr anchor="ctr" rtlCol="false" tIns="50800" lIns="50800" bIns="50800" rIns="50800"/>
            <a:lstStyle/>
            <a:p>
              <a:pPr algn="ctr">
                <a:lnSpc>
                  <a:spcPts val="2160"/>
                </a:lnSpc>
              </a:pPr>
              <a:r>
                <a:rPr lang="en-US" sz="1800">
                  <a:solidFill>
                    <a:srgbClr val="000000"/>
                  </a:solidFill>
                  <a:latin typeface="Calibri (MS)"/>
                  <a:ea typeface="Calibri (MS)"/>
                  <a:cs typeface="Calibri (MS)"/>
                  <a:sym typeface="Calibri (MS)"/>
                </a:rPr>
                <a:t>Email_id</a:t>
              </a:r>
            </a:p>
          </p:txBody>
        </p:sp>
      </p:grpSp>
      <p:grpSp>
        <p:nvGrpSpPr>
          <p:cNvPr name="Group 246" id="246"/>
          <p:cNvGrpSpPr/>
          <p:nvPr/>
        </p:nvGrpSpPr>
        <p:grpSpPr>
          <a:xfrm rot="0">
            <a:off x="4470297" y="9296704"/>
            <a:ext cx="1812823" cy="629418"/>
            <a:chOff x="0" y="0"/>
            <a:chExt cx="2417098" cy="839224"/>
          </a:xfrm>
        </p:grpSpPr>
        <p:sp>
          <p:nvSpPr>
            <p:cNvPr name="Freeform 247" id="247"/>
            <p:cNvSpPr/>
            <p:nvPr/>
          </p:nvSpPr>
          <p:spPr>
            <a:xfrm flipH="false" flipV="false" rot="0">
              <a:off x="12700" y="12700"/>
              <a:ext cx="2391664" cy="813816"/>
            </a:xfrm>
            <a:custGeom>
              <a:avLst/>
              <a:gdLst/>
              <a:ahLst/>
              <a:cxnLst/>
              <a:rect r="r" b="b" t="t" l="l"/>
              <a:pathLst>
                <a:path h="813816" w="2391664">
                  <a:moveTo>
                    <a:pt x="0" y="406908"/>
                  </a:moveTo>
                  <a:cubicBezTo>
                    <a:pt x="0" y="182118"/>
                    <a:pt x="535432" y="0"/>
                    <a:pt x="1195832" y="0"/>
                  </a:cubicBezTo>
                  <a:cubicBezTo>
                    <a:pt x="1856232" y="0"/>
                    <a:pt x="2391664" y="182118"/>
                    <a:pt x="2391664" y="406908"/>
                  </a:cubicBezTo>
                  <a:cubicBezTo>
                    <a:pt x="2391664" y="631698"/>
                    <a:pt x="1856232" y="813816"/>
                    <a:pt x="1195832" y="813816"/>
                  </a:cubicBezTo>
                  <a:cubicBezTo>
                    <a:pt x="535432" y="813816"/>
                    <a:pt x="0" y="631698"/>
                    <a:pt x="0" y="406908"/>
                  </a:cubicBezTo>
                  <a:close/>
                </a:path>
              </a:pathLst>
            </a:custGeom>
            <a:solidFill>
              <a:srgbClr val="FFFFFF"/>
            </a:solidFill>
          </p:spPr>
        </p:sp>
        <p:sp>
          <p:nvSpPr>
            <p:cNvPr name="Freeform 248" id="248"/>
            <p:cNvSpPr/>
            <p:nvPr/>
          </p:nvSpPr>
          <p:spPr>
            <a:xfrm flipH="false" flipV="false" rot="0">
              <a:off x="0" y="0"/>
              <a:ext cx="2417064" cy="839216"/>
            </a:xfrm>
            <a:custGeom>
              <a:avLst/>
              <a:gdLst/>
              <a:ahLst/>
              <a:cxnLst/>
              <a:rect r="r" b="b" t="t" l="l"/>
              <a:pathLst>
                <a:path h="839216" w="2417064">
                  <a:moveTo>
                    <a:pt x="0" y="419608"/>
                  </a:moveTo>
                  <a:lnTo>
                    <a:pt x="12700" y="419608"/>
                  </a:lnTo>
                  <a:lnTo>
                    <a:pt x="0" y="419608"/>
                  </a:lnTo>
                  <a:cubicBezTo>
                    <a:pt x="0" y="179705"/>
                    <a:pt x="554101" y="0"/>
                    <a:pt x="1208532" y="0"/>
                  </a:cubicBezTo>
                  <a:cubicBezTo>
                    <a:pt x="1862963" y="0"/>
                    <a:pt x="2417064" y="179705"/>
                    <a:pt x="2417064" y="419608"/>
                  </a:cubicBezTo>
                  <a:lnTo>
                    <a:pt x="2404364" y="419608"/>
                  </a:lnTo>
                  <a:lnTo>
                    <a:pt x="2417064" y="419608"/>
                  </a:lnTo>
                  <a:cubicBezTo>
                    <a:pt x="2417064" y="659511"/>
                    <a:pt x="1862963" y="839216"/>
                    <a:pt x="1208532" y="839216"/>
                  </a:cubicBezTo>
                  <a:lnTo>
                    <a:pt x="1208532" y="826516"/>
                  </a:lnTo>
                  <a:lnTo>
                    <a:pt x="1208532" y="839216"/>
                  </a:lnTo>
                  <a:cubicBezTo>
                    <a:pt x="554101" y="839216"/>
                    <a:pt x="0" y="659511"/>
                    <a:pt x="0" y="419608"/>
                  </a:cubicBezTo>
                  <a:lnTo>
                    <a:pt x="12700" y="419608"/>
                  </a:lnTo>
                  <a:lnTo>
                    <a:pt x="25400" y="419608"/>
                  </a:lnTo>
                  <a:lnTo>
                    <a:pt x="12700" y="419608"/>
                  </a:lnTo>
                  <a:lnTo>
                    <a:pt x="0" y="419608"/>
                  </a:lnTo>
                  <a:moveTo>
                    <a:pt x="25400" y="419608"/>
                  </a:moveTo>
                  <a:cubicBezTo>
                    <a:pt x="25400" y="426593"/>
                    <a:pt x="19685" y="432308"/>
                    <a:pt x="12700" y="432308"/>
                  </a:cubicBezTo>
                  <a:cubicBezTo>
                    <a:pt x="5715" y="432308"/>
                    <a:pt x="0" y="426593"/>
                    <a:pt x="0" y="419608"/>
                  </a:cubicBezTo>
                  <a:cubicBezTo>
                    <a:pt x="0" y="412623"/>
                    <a:pt x="5715" y="406908"/>
                    <a:pt x="12700" y="406908"/>
                  </a:cubicBezTo>
                  <a:cubicBezTo>
                    <a:pt x="19685" y="406908"/>
                    <a:pt x="25400" y="412623"/>
                    <a:pt x="25400" y="419608"/>
                  </a:cubicBezTo>
                  <a:cubicBezTo>
                    <a:pt x="25400" y="629158"/>
                    <a:pt x="542036" y="813816"/>
                    <a:pt x="1208532" y="813816"/>
                  </a:cubicBezTo>
                  <a:cubicBezTo>
                    <a:pt x="1875028" y="813816"/>
                    <a:pt x="2391664" y="629158"/>
                    <a:pt x="2391664" y="419608"/>
                  </a:cubicBezTo>
                  <a:cubicBezTo>
                    <a:pt x="2391664" y="210058"/>
                    <a:pt x="1875028" y="25400"/>
                    <a:pt x="1208532" y="25400"/>
                  </a:cubicBezTo>
                  <a:lnTo>
                    <a:pt x="1208532" y="12700"/>
                  </a:lnTo>
                  <a:lnTo>
                    <a:pt x="1208532" y="25400"/>
                  </a:lnTo>
                  <a:cubicBezTo>
                    <a:pt x="542036" y="25400"/>
                    <a:pt x="25400" y="210058"/>
                    <a:pt x="25400" y="419608"/>
                  </a:cubicBezTo>
                  <a:close/>
                </a:path>
              </a:pathLst>
            </a:custGeom>
            <a:solidFill>
              <a:srgbClr val="70AD47"/>
            </a:solidFill>
          </p:spPr>
        </p:sp>
        <p:sp>
          <p:nvSpPr>
            <p:cNvPr name="TextBox 249" id="249"/>
            <p:cNvSpPr txBox="true"/>
            <p:nvPr/>
          </p:nvSpPr>
          <p:spPr>
            <a:xfrm>
              <a:off x="0" y="-38100"/>
              <a:ext cx="2417098" cy="877324"/>
            </a:xfrm>
            <a:prstGeom prst="rect">
              <a:avLst/>
            </a:prstGeom>
          </p:spPr>
          <p:txBody>
            <a:bodyPr anchor="ctr" rtlCol="false" tIns="50800" lIns="50800" bIns="50800" rIns="50800"/>
            <a:lstStyle/>
            <a:p>
              <a:pPr algn="ctr">
                <a:lnSpc>
                  <a:spcPts val="2160"/>
                </a:lnSpc>
              </a:pPr>
              <a:r>
                <a:rPr lang="en-US" sz="1800">
                  <a:solidFill>
                    <a:srgbClr val="000000"/>
                  </a:solidFill>
                  <a:latin typeface="Calibri (MS)"/>
                  <a:ea typeface="Calibri (MS)"/>
                  <a:cs typeface="Calibri (MS)"/>
                  <a:sym typeface="Calibri (MS)"/>
                </a:rPr>
                <a:t>Create_dt</a:t>
              </a:r>
            </a:p>
          </p:txBody>
        </p:sp>
      </p:grpSp>
      <p:sp>
        <p:nvSpPr>
          <p:cNvPr name="AutoShape 250" id="250"/>
          <p:cNvSpPr/>
          <p:nvPr/>
        </p:nvSpPr>
        <p:spPr>
          <a:xfrm rot="32066">
            <a:off x="4113042" y="6680679"/>
            <a:ext cx="1021151" cy="0"/>
          </a:xfrm>
          <a:prstGeom prst="line">
            <a:avLst/>
          </a:prstGeom>
          <a:ln cap="rnd" w="9525">
            <a:solidFill>
              <a:srgbClr val="000000"/>
            </a:solidFill>
            <a:prstDash val="solid"/>
            <a:headEnd type="none" len="sm" w="sm"/>
            <a:tailEnd type="none" len="sm" w="sm"/>
          </a:ln>
        </p:spPr>
      </p:sp>
      <p:sp>
        <p:nvSpPr>
          <p:cNvPr name="AutoShape 251" id="251"/>
          <p:cNvSpPr/>
          <p:nvPr/>
        </p:nvSpPr>
        <p:spPr>
          <a:xfrm rot="5577109">
            <a:off x="1704492" y="3148778"/>
            <a:ext cx="1914602" cy="0"/>
          </a:xfrm>
          <a:prstGeom prst="line">
            <a:avLst/>
          </a:prstGeom>
          <a:ln cap="rnd" w="9525">
            <a:solidFill>
              <a:srgbClr val="000000"/>
            </a:solidFill>
            <a:prstDash val="solid"/>
            <a:headEnd type="none" len="sm" w="sm"/>
            <a:tailEnd type="none" len="sm" w="sm"/>
          </a:ln>
        </p:spPr>
      </p:sp>
      <p:grpSp>
        <p:nvGrpSpPr>
          <p:cNvPr name="Group 252" id="252"/>
          <p:cNvGrpSpPr/>
          <p:nvPr/>
        </p:nvGrpSpPr>
        <p:grpSpPr>
          <a:xfrm rot="0">
            <a:off x="1727098" y="4013070"/>
            <a:ext cx="1711426" cy="852381"/>
            <a:chOff x="0" y="0"/>
            <a:chExt cx="2281902" cy="1136508"/>
          </a:xfrm>
        </p:grpSpPr>
        <p:sp>
          <p:nvSpPr>
            <p:cNvPr name="Freeform 253" id="253"/>
            <p:cNvSpPr/>
            <p:nvPr/>
          </p:nvSpPr>
          <p:spPr>
            <a:xfrm flipH="false" flipV="false" rot="0">
              <a:off x="12700" y="12700"/>
              <a:ext cx="2256536" cy="1111123"/>
            </a:xfrm>
            <a:custGeom>
              <a:avLst/>
              <a:gdLst/>
              <a:ahLst/>
              <a:cxnLst/>
              <a:rect r="r" b="b" t="t" l="l"/>
              <a:pathLst>
                <a:path h="1111123" w="2256536">
                  <a:moveTo>
                    <a:pt x="0" y="555498"/>
                  </a:moveTo>
                  <a:lnTo>
                    <a:pt x="1128268" y="0"/>
                  </a:lnTo>
                  <a:lnTo>
                    <a:pt x="2256536" y="555498"/>
                  </a:lnTo>
                  <a:lnTo>
                    <a:pt x="1128268" y="1111123"/>
                  </a:lnTo>
                  <a:close/>
                </a:path>
              </a:pathLst>
            </a:custGeom>
            <a:solidFill>
              <a:srgbClr val="FFFFFF"/>
            </a:solidFill>
          </p:spPr>
        </p:sp>
        <p:sp>
          <p:nvSpPr>
            <p:cNvPr name="Freeform 254" id="254"/>
            <p:cNvSpPr/>
            <p:nvPr/>
          </p:nvSpPr>
          <p:spPr>
            <a:xfrm flipH="false" flipV="false" rot="0">
              <a:off x="0" y="-508"/>
              <a:ext cx="2281936" cy="1137539"/>
            </a:xfrm>
            <a:custGeom>
              <a:avLst/>
              <a:gdLst/>
              <a:ahLst/>
              <a:cxnLst/>
              <a:rect r="r" b="b" t="t" l="l"/>
              <a:pathLst>
                <a:path h="1137539" w="2281936">
                  <a:moveTo>
                    <a:pt x="7112" y="557403"/>
                  </a:moveTo>
                  <a:lnTo>
                    <a:pt x="1135380" y="1778"/>
                  </a:lnTo>
                  <a:cubicBezTo>
                    <a:pt x="1138936" y="0"/>
                    <a:pt x="1143000" y="0"/>
                    <a:pt x="1146556" y="1778"/>
                  </a:cubicBezTo>
                  <a:lnTo>
                    <a:pt x="2274824" y="557276"/>
                  </a:lnTo>
                  <a:cubicBezTo>
                    <a:pt x="2279142" y="559435"/>
                    <a:pt x="2281936" y="563880"/>
                    <a:pt x="2281936" y="568706"/>
                  </a:cubicBezTo>
                  <a:cubicBezTo>
                    <a:pt x="2281936" y="573532"/>
                    <a:pt x="2279142" y="577977"/>
                    <a:pt x="2274824" y="580136"/>
                  </a:cubicBezTo>
                  <a:lnTo>
                    <a:pt x="1146556" y="1135761"/>
                  </a:lnTo>
                  <a:cubicBezTo>
                    <a:pt x="1143000" y="1137539"/>
                    <a:pt x="1138936" y="1137539"/>
                    <a:pt x="1135380" y="1135761"/>
                  </a:cubicBezTo>
                  <a:lnTo>
                    <a:pt x="7112" y="580136"/>
                  </a:lnTo>
                  <a:cubicBezTo>
                    <a:pt x="2794" y="577977"/>
                    <a:pt x="0" y="573532"/>
                    <a:pt x="0" y="568706"/>
                  </a:cubicBezTo>
                  <a:cubicBezTo>
                    <a:pt x="0" y="563880"/>
                    <a:pt x="2794" y="559435"/>
                    <a:pt x="7112" y="557276"/>
                  </a:cubicBezTo>
                  <a:moveTo>
                    <a:pt x="18288" y="580009"/>
                  </a:moveTo>
                  <a:lnTo>
                    <a:pt x="12700" y="568706"/>
                  </a:lnTo>
                  <a:lnTo>
                    <a:pt x="18288" y="557276"/>
                  </a:lnTo>
                  <a:lnTo>
                    <a:pt x="1146556" y="1112901"/>
                  </a:lnTo>
                  <a:lnTo>
                    <a:pt x="1140968" y="1124331"/>
                  </a:lnTo>
                  <a:lnTo>
                    <a:pt x="1135380" y="1112901"/>
                  </a:lnTo>
                  <a:lnTo>
                    <a:pt x="2263648" y="557403"/>
                  </a:lnTo>
                  <a:lnTo>
                    <a:pt x="2269236" y="568833"/>
                  </a:lnTo>
                  <a:lnTo>
                    <a:pt x="2263648" y="580263"/>
                  </a:lnTo>
                  <a:lnTo>
                    <a:pt x="1135380" y="24638"/>
                  </a:lnTo>
                  <a:lnTo>
                    <a:pt x="1140968" y="13208"/>
                  </a:lnTo>
                  <a:lnTo>
                    <a:pt x="1146556" y="24638"/>
                  </a:lnTo>
                  <a:lnTo>
                    <a:pt x="18288" y="580136"/>
                  </a:lnTo>
                  <a:close/>
                </a:path>
              </a:pathLst>
            </a:custGeom>
            <a:solidFill>
              <a:srgbClr val="70AD47"/>
            </a:solidFill>
          </p:spPr>
        </p:sp>
        <p:sp>
          <p:nvSpPr>
            <p:cNvPr name="TextBox 255" id="255"/>
            <p:cNvSpPr txBox="true"/>
            <p:nvPr/>
          </p:nvSpPr>
          <p:spPr>
            <a:xfrm>
              <a:off x="0" y="-28575"/>
              <a:ext cx="2281902" cy="1165083"/>
            </a:xfrm>
            <a:prstGeom prst="rect">
              <a:avLst/>
            </a:prstGeom>
          </p:spPr>
          <p:txBody>
            <a:bodyPr anchor="ctr" rtlCol="false" tIns="50800" lIns="50800" bIns="50800" rIns="50800"/>
            <a:lstStyle/>
            <a:p>
              <a:pPr algn="ctr">
                <a:lnSpc>
                  <a:spcPts val="1980"/>
                </a:lnSpc>
              </a:pPr>
              <a:r>
                <a:rPr lang="en-US" sz="1650">
                  <a:solidFill>
                    <a:srgbClr val="000000"/>
                  </a:solidFill>
                  <a:latin typeface="Calibri (MS)"/>
                  <a:ea typeface="Calibri (MS)"/>
                  <a:cs typeface="Calibri (MS)"/>
                  <a:sym typeface="Calibri (MS)"/>
                </a:rPr>
                <a:t>Also logged in by</a:t>
              </a:r>
            </a:p>
          </p:txBody>
        </p:sp>
      </p:grpSp>
      <p:sp>
        <p:nvSpPr>
          <p:cNvPr name="AutoShape 256" id="256"/>
          <p:cNvSpPr/>
          <p:nvPr/>
        </p:nvSpPr>
        <p:spPr>
          <a:xfrm>
            <a:off x="1062596" y="6170378"/>
            <a:ext cx="2666192" cy="9525"/>
          </a:xfrm>
          <a:prstGeom prst="line">
            <a:avLst/>
          </a:prstGeom>
          <a:ln cap="rnd" w="9525">
            <a:solidFill>
              <a:srgbClr val="000000"/>
            </a:solidFill>
            <a:prstDash val="solid"/>
            <a:headEnd type="none" len="sm" w="sm"/>
            <a:tailEnd type="triangle" len="med" w="lg"/>
          </a:ln>
        </p:spPr>
      </p:sp>
      <p:grpSp>
        <p:nvGrpSpPr>
          <p:cNvPr name="Group 257" id="257"/>
          <p:cNvGrpSpPr/>
          <p:nvPr/>
        </p:nvGrpSpPr>
        <p:grpSpPr>
          <a:xfrm rot="0">
            <a:off x="1185093" y="1288334"/>
            <a:ext cx="2659006" cy="1025630"/>
            <a:chOff x="0" y="0"/>
            <a:chExt cx="3545342" cy="1367506"/>
          </a:xfrm>
        </p:grpSpPr>
        <p:sp>
          <p:nvSpPr>
            <p:cNvPr name="Freeform 258" id="258"/>
            <p:cNvSpPr/>
            <p:nvPr/>
          </p:nvSpPr>
          <p:spPr>
            <a:xfrm flipH="false" flipV="false" rot="0">
              <a:off x="12700" y="12700"/>
              <a:ext cx="3519932" cy="1342136"/>
            </a:xfrm>
            <a:custGeom>
              <a:avLst/>
              <a:gdLst/>
              <a:ahLst/>
              <a:cxnLst/>
              <a:rect r="r" b="b" t="t" l="l"/>
              <a:pathLst>
                <a:path h="1342136" w="3519932">
                  <a:moveTo>
                    <a:pt x="0" y="0"/>
                  </a:moveTo>
                  <a:lnTo>
                    <a:pt x="3519932" y="0"/>
                  </a:lnTo>
                  <a:lnTo>
                    <a:pt x="3519932" y="1342136"/>
                  </a:lnTo>
                  <a:lnTo>
                    <a:pt x="0" y="1342136"/>
                  </a:lnTo>
                  <a:close/>
                </a:path>
              </a:pathLst>
            </a:custGeom>
            <a:solidFill>
              <a:srgbClr val="FFFFFF"/>
            </a:solidFill>
          </p:spPr>
        </p:sp>
        <p:sp>
          <p:nvSpPr>
            <p:cNvPr name="Freeform 259" id="259"/>
            <p:cNvSpPr/>
            <p:nvPr/>
          </p:nvSpPr>
          <p:spPr>
            <a:xfrm flipH="false" flipV="false" rot="0">
              <a:off x="0" y="0"/>
              <a:ext cx="3545332" cy="1367536"/>
            </a:xfrm>
            <a:custGeom>
              <a:avLst/>
              <a:gdLst/>
              <a:ahLst/>
              <a:cxnLst/>
              <a:rect r="r" b="b" t="t" l="l"/>
              <a:pathLst>
                <a:path h="1367536" w="3545332">
                  <a:moveTo>
                    <a:pt x="12700" y="0"/>
                  </a:moveTo>
                  <a:lnTo>
                    <a:pt x="3532632" y="0"/>
                  </a:lnTo>
                  <a:cubicBezTo>
                    <a:pt x="3539617" y="0"/>
                    <a:pt x="3545332" y="5715"/>
                    <a:pt x="3545332" y="12700"/>
                  </a:cubicBezTo>
                  <a:lnTo>
                    <a:pt x="3545332" y="1354836"/>
                  </a:lnTo>
                  <a:cubicBezTo>
                    <a:pt x="3545332" y="1361821"/>
                    <a:pt x="3539617" y="1367536"/>
                    <a:pt x="3532632" y="1367536"/>
                  </a:cubicBezTo>
                  <a:lnTo>
                    <a:pt x="12700" y="1367536"/>
                  </a:lnTo>
                  <a:cubicBezTo>
                    <a:pt x="5715" y="1367536"/>
                    <a:pt x="0" y="1361821"/>
                    <a:pt x="0" y="1354836"/>
                  </a:cubicBezTo>
                  <a:lnTo>
                    <a:pt x="0" y="12700"/>
                  </a:lnTo>
                  <a:cubicBezTo>
                    <a:pt x="0" y="5715"/>
                    <a:pt x="5715" y="0"/>
                    <a:pt x="12700" y="0"/>
                  </a:cubicBezTo>
                  <a:moveTo>
                    <a:pt x="12700" y="25400"/>
                  </a:moveTo>
                  <a:lnTo>
                    <a:pt x="12700" y="12700"/>
                  </a:lnTo>
                  <a:lnTo>
                    <a:pt x="25400" y="12700"/>
                  </a:lnTo>
                  <a:lnTo>
                    <a:pt x="25400" y="1354836"/>
                  </a:lnTo>
                  <a:lnTo>
                    <a:pt x="12700" y="1354836"/>
                  </a:lnTo>
                  <a:lnTo>
                    <a:pt x="12700" y="1342136"/>
                  </a:lnTo>
                  <a:lnTo>
                    <a:pt x="3532632" y="1342136"/>
                  </a:lnTo>
                  <a:lnTo>
                    <a:pt x="3532632" y="1354836"/>
                  </a:lnTo>
                  <a:lnTo>
                    <a:pt x="3519932" y="1354836"/>
                  </a:lnTo>
                  <a:lnTo>
                    <a:pt x="3519932" y="12700"/>
                  </a:lnTo>
                  <a:lnTo>
                    <a:pt x="3532632" y="12700"/>
                  </a:lnTo>
                  <a:lnTo>
                    <a:pt x="3532632" y="25400"/>
                  </a:lnTo>
                  <a:lnTo>
                    <a:pt x="12700" y="25400"/>
                  </a:lnTo>
                  <a:close/>
                </a:path>
              </a:pathLst>
            </a:custGeom>
            <a:solidFill>
              <a:srgbClr val="70AD47"/>
            </a:solidFill>
          </p:spPr>
        </p:sp>
        <p:sp>
          <p:nvSpPr>
            <p:cNvPr name="TextBox 260" id="260"/>
            <p:cNvSpPr txBox="true"/>
            <p:nvPr/>
          </p:nvSpPr>
          <p:spPr>
            <a:xfrm>
              <a:off x="0" y="-57150"/>
              <a:ext cx="3545342" cy="1424656"/>
            </a:xfrm>
            <a:prstGeom prst="rect">
              <a:avLst/>
            </a:prstGeom>
          </p:spPr>
          <p:txBody>
            <a:bodyPr anchor="ctr" rtlCol="false" tIns="50800" lIns="50800" bIns="50800" rIns="50800"/>
            <a:lstStyle/>
            <a:p>
              <a:pPr algn="ctr">
                <a:lnSpc>
                  <a:spcPts val="3240"/>
                </a:lnSpc>
              </a:pPr>
              <a:r>
                <a:rPr lang="en-US" sz="2700">
                  <a:solidFill>
                    <a:srgbClr val="000000"/>
                  </a:solidFill>
                  <a:latin typeface="Calibri (MS)"/>
                  <a:ea typeface="Calibri (MS)"/>
                  <a:cs typeface="Calibri (MS)"/>
                  <a:sym typeface="Calibri (MS)"/>
                </a:rPr>
                <a:t>Log in</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grpSp>
        <p:nvGrpSpPr>
          <p:cNvPr name="Group 2" id="2"/>
          <p:cNvGrpSpPr/>
          <p:nvPr/>
        </p:nvGrpSpPr>
        <p:grpSpPr>
          <a:xfrm rot="-1660488">
            <a:off x="-1841810" y="1900233"/>
            <a:ext cx="8282376" cy="404757"/>
            <a:chOff x="0" y="0"/>
            <a:chExt cx="2181367" cy="106603"/>
          </a:xfrm>
        </p:grpSpPr>
        <p:sp>
          <p:nvSpPr>
            <p:cNvPr name="Freeform 3" id="3"/>
            <p:cNvSpPr/>
            <p:nvPr/>
          </p:nvSpPr>
          <p:spPr>
            <a:xfrm flipH="false" flipV="false" rot="0">
              <a:off x="0" y="0"/>
              <a:ext cx="2181366" cy="106603"/>
            </a:xfrm>
            <a:custGeom>
              <a:avLst/>
              <a:gdLst/>
              <a:ahLst/>
              <a:cxnLst/>
              <a:rect r="r" b="b" t="t" l="l"/>
              <a:pathLst>
                <a:path h="106603" w="2181366">
                  <a:moveTo>
                    <a:pt x="0" y="0"/>
                  </a:moveTo>
                  <a:lnTo>
                    <a:pt x="2181366" y="0"/>
                  </a:lnTo>
                  <a:lnTo>
                    <a:pt x="2181366" y="106603"/>
                  </a:lnTo>
                  <a:lnTo>
                    <a:pt x="0" y="106603"/>
                  </a:lnTo>
                  <a:close/>
                </a:path>
              </a:pathLst>
            </a:custGeom>
            <a:solidFill>
              <a:srgbClr val="1C5739"/>
            </a:solidFill>
          </p:spPr>
        </p:sp>
        <p:sp>
          <p:nvSpPr>
            <p:cNvPr name="TextBox 4" id="4"/>
            <p:cNvSpPr txBox="true"/>
            <p:nvPr/>
          </p:nvSpPr>
          <p:spPr>
            <a:xfrm>
              <a:off x="0" y="-19050"/>
              <a:ext cx="2181367" cy="125653"/>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1747322">
            <a:off x="-654679" y="2008371"/>
            <a:ext cx="8282376" cy="111180"/>
            <a:chOff x="0" y="0"/>
            <a:chExt cx="2181367" cy="29282"/>
          </a:xfrm>
        </p:grpSpPr>
        <p:sp>
          <p:nvSpPr>
            <p:cNvPr name="Freeform 6" id="6"/>
            <p:cNvSpPr/>
            <p:nvPr/>
          </p:nvSpPr>
          <p:spPr>
            <a:xfrm flipH="false" flipV="false" rot="0">
              <a:off x="0" y="0"/>
              <a:ext cx="2181366" cy="29282"/>
            </a:xfrm>
            <a:custGeom>
              <a:avLst/>
              <a:gdLst/>
              <a:ahLst/>
              <a:cxnLst/>
              <a:rect r="r" b="b" t="t" l="l"/>
              <a:pathLst>
                <a:path h="29282" w="2181366">
                  <a:moveTo>
                    <a:pt x="0" y="0"/>
                  </a:moveTo>
                  <a:lnTo>
                    <a:pt x="2181366" y="0"/>
                  </a:lnTo>
                  <a:lnTo>
                    <a:pt x="2181366" y="29282"/>
                  </a:lnTo>
                  <a:lnTo>
                    <a:pt x="0" y="29282"/>
                  </a:lnTo>
                  <a:close/>
                </a:path>
              </a:pathLst>
            </a:custGeom>
            <a:solidFill>
              <a:srgbClr val="1C5739"/>
            </a:solidFill>
          </p:spPr>
        </p:sp>
        <p:sp>
          <p:nvSpPr>
            <p:cNvPr name="TextBox 7" id="7"/>
            <p:cNvSpPr txBox="true"/>
            <p:nvPr/>
          </p:nvSpPr>
          <p:spPr>
            <a:xfrm>
              <a:off x="0" y="-19050"/>
              <a:ext cx="2181367" cy="48332"/>
            </a:xfrm>
            <a:prstGeom prst="rect">
              <a:avLst/>
            </a:prstGeom>
          </p:spPr>
          <p:txBody>
            <a:bodyPr anchor="ctr" rtlCol="false" tIns="50800" lIns="50800" bIns="50800" rIns="50800"/>
            <a:lstStyle/>
            <a:p>
              <a:pPr algn="ctr">
                <a:lnSpc>
                  <a:spcPts val="2859"/>
                </a:lnSpc>
              </a:pPr>
            </a:p>
          </p:txBody>
        </p:sp>
      </p:grpSp>
      <p:sp>
        <p:nvSpPr>
          <p:cNvPr name="Freeform 8" id="8"/>
          <p:cNvSpPr/>
          <p:nvPr/>
        </p:nvSpPr>
        <p:spPr>
          <a:xfrm flipH="false" flipV="false" rot="0">
            <a:off x="10322554" y="3977975"/>
            <a:ext cx="1366146" cy="1120240"/>
          </a:xfrm>
          <a:custGeom>
            <a:avLst/>
            <a:gdLst/>
            <a:ahLst/>
            <a:cxnLst/>
            <a:rect r="r" b="b" t="t" l="l"/>
            <a:pathLst>
              <a:path h="1120240" w="1366146">
                <a:moveTo>
                  <a:pt x="0" y="0"/>
                </a:moveTo>
                <a:lnTo>
                  <a:pt x="1366146" y="0"/>
                </a:lnTo>
                <a:lnTo>
                  <a:pt x="1366146" y="1120240"/>
                </a:lnTo>
                <a:lnTo>
                  <a:pt x="0" y="11202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628506" y="5663681"/>
            <a:ext cx="914928" cy="1433647"/>
          </a:xfrm>
          <a:custGeom>
            <a:avLst/>
            <a:gdLst/>
            <a:ahLst/>
            <a:cxnLst/>
            <a:rect r="r" b="b" t="t" l="l"/>
            <a:pathLst>
              <a:path h="1433647" w="914928">
                <a:moveTo>
                  <a:pt x="0" y="0"/>
                </a:moveTo>
                <a:lnTo>
                  <a:pt x="914928" y="0"/>
                </a:lnTo>
                <a:lnTo>
                  <a:pt x="914928" y="1433647"/>
                </a:lnTo>
                <a:lnTo>
                  <a:pt x="0" y="14336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2333988" y="1938985"/>
            <a:ext cx="1075074" cy="1424797"/>
          </a:xfrm>
          <a:custGeom>
            <a:avLst/>
            <a:gdLst/>
            <a:ahLst/>
            <a:cxnLst/>
            <a:rect r="r" b="b" t="t" l="l"/>
            <a:pathLst>
              <a:path h="1424797" w="1075074">
                <a:moveTo>
                  <a:pt x="0" y="0"/>
                </a:moveTo>
                <a:lnTo>
                  <a:pt x="1075074" y="0"/>
                </a:lnTo>
                <a:lnTo>
                  <a:pt x="1075074" y="1424797"/>
                </a:lnTo>
                <a:lnTo>
                  <a:pt x="0" y="14247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0" y="4167123"/>
            <a:ext cx="17818558" cy="5425439"/>
          </a:xfrm>
          <a:prstGeom prst="rect">
            <a:avLst/>
          </a:prstGeom>
        </p:spPr>
        <p:txBody>
          <a:bodyPr anchor="t" rtlCol="false" tIns="0" lIns="0" bIns="0" rIns="0">
            <a:spAutoFit/>
          </a:bodyPr>
          <a:lstStyle/>
          <a:p>
            <a:pPr algn="just">
              <a:lnSpc>
                <a:spcPts val="3360"/>
              </a:lnSpc>
            </a:pPr>
            <a:r>
              <a:rPr lang="en-US" sz="2400">
                <a:solidFill>
                  <a:srgbClr val="000000"/>
                </a:solidFill>
                <a:latin typeface="Canva Sans"/>
                <a:ea typeface="Canva Sans"/>
                <a:cs typeface="Canva Sans"/>
                <a:sym typeface="Canva Sans"/>
              </a:rPr>
              <a:t>Our IT support system implementation is designed to deliver seamless integration, efficient issue resolution, and exceptional user experience. Here's an overview of our implementation approach:</a:t>
            </a:r>
          </a:p>
          <a:p>
            <a:pPr algn="just">
              <a:lnSpc>
                <a:spcPts val="3360"/>
              </a:lnSpc>
            </a:pPr>
          </a:p>
          <a:p>
            <a:pPr algn="just">
              <a:lnSpc>
                <a:spcPts val="3360"/>
              </a:lnSpc>
            </a:pPr>
            <a:r>
              <a:rPr lang="en-US" sz="2400">
                <a:solidFill>
                  <a:srgbClr val="000000"/>
                </a:solidFill>
                <a:latin typeface="Canva Sans"/>
                <a:ea typeface="Canva Sans"/>
                <a:cs typeface="Canva Sans"/>
                <a:sym typeface="Canva Sans"/>
              </a:rPr>
              <a:t>Implementation Roadmap:</a:t>
            </a:r>
          </a:p>
          <a:p>
            <a:pPr algn="just">
              <a:lnSpc>
                <a:spcPts val="3360"/>
              </a:lnSpc>
            </a:pPr>
          </a:p>
          <a:p>
            <a:pPr algn="just">
              <a:lnSpc>
                <a:spcPts val="3360"/>
              </a:lnSpc>
            </a:pPr>
            <a:r>
              <a:rPr lang="en-US" sz="2400">
                <a:solidFill>
                  <a:srgbClr val="000000"/>
                </a:solidFill>
                <a:latin typeface="Canva Sans"/>
                <a:ea typeface="Canva Sans"/>
                <a:cs typeface="Canva Sans"/>
                <a:sym typeface="Canva Sans"/>
              </a:rPr>
              <a:t>1. Requirements Gathering: Collaborate with stakeholders to understand specific needs and requirements.</a:t>
            </a:r>
          </a:p>
          <a:p>
            <a:pPr algn="just">
              <a:lnSpc>
                <a:spcPts val="3360"/>
              </a:lnSpc>
            </a:pPr>
            <a:r>
              <a:rPr lang="en-US" sz="2400">
                <a:solidFill>
                  <a:srgbClr val="000000"/>
                </a:solidFill>
                <a:latin typeface="Canva Sans"/>
                <a:ea typeface="Canva Sans"/>
                <a:cs typeface="Canva Sans"/>
                <a:sym typeface="Canva Sans"/>
              </a:rPr>
              <a:t>2. Customization: Tailor the platform to meet unique needs, including branding, workflows, and integrations.</a:t>
            </a:r>
          </a:p>
          <a:p>
            <a:pPr algn="just">
              <a:lnSpc>
                <a:spcPts val="3360"/>
              </a:lnSpc>
            </a:pPr>
            <a:r>
              <a:rPr lang="en-US" sz="2400">
                <a:solidFill>
                  <a:srgbClr val="000000"/>
                </a:solidFill>
                <a:latin typeface="Canva Sans"/>
                <a:ea typeface="Canva Sans"/>
                <a:cs typeface="Canva Sans"/>
                <a:sym typeface="Canva Sans"/>
              </a:rPr>
              <a:t>3. Integration: Integrate with existing systems, such as CRM, ERP, or ticketing systems, to ensure seamless data exchange.</a:t>
            </a:r>
          </a:p>
          <a:p>
            <a:pPr algn="just">
              <a:lnSpc>
                <a:spcPts val="3360"/>
              </a:lnSpc>
            </a:pPr>
            <a:r>
              <a:rPr lang="en-US" sz="2400">
                <a:solidFill>
                  <a:srgbClr val="000000"/>
                </a:solidFill>
                <a:latin typeface="Canva Sans"/>
                <a:ea typeface="Canva Sans"/>
                <a:cs typeface="Canva Sans"/>
                <a:sym typeface="Canva Sans"/>
              </a:rPr>
              <a:t>4. Testing: Conduct thorough testing, including functional, performance, and security testing, to ensure platform stability.</a:t>
            </a:r>
          </a:p>
          <a:p>
            <a:pPr algn="just">
              <a:lnSpc>
                <a:spcPts val="3360"/>
              </a:lnSpc>
            </a:pPr>
            <a:r>
              <a:rPr lang="en-US" sz="2400">
                <a:solidFill>
                  <a:srgbClr val="000000"/>
                </a:solidFill>
                <a:latin typeface="Canva Sans"/>
                <a:ea typeface="Canva Sans"/>
                <a:cs typeface="Canva Sans"/>
                <a:sym typeface="Canva Sans"/>
              </a:rPr>
              <a:t>5. Deployment: Deploy the platform in a controlled environment, with phased rollout to ensure minimal disruption.</a:t>
            </a:r>
          </a:p>
          <a:p>
            <a:pPr algn="just">
              <a:lnSpc>
                <a:spcPts val="3360"/>
              </a:lnSpc>
            </a:pPr>
            <a:r>
              <a:rPr lang="en-US" sz="2400">
                <a:solidFill>
                  <a:srgbClr val="000000"/>
                </a:solidFill>
                <a:latin typeface="Canva Sans"/>
                <a:ea typeface="Canva Sans"/>
                <a:cs typeface="Canva Sans"/>
                <a:sym typeface="Canva Sans"/>
              </a:rPr>
              <a:t>6. Training: Provide comprehensive training to admins, IT teams, and users to ensure successful adoption.</a:t>
            </a:r>
          </a:p>
          <a:p>
            <a:pPr algn="just">
              <a:lnSpc>
                <a:spcPts val="3360"/>
              </a:lnSpc>
            </a:pPr>
            <a:r>
              <a:rPr lang="en-US" sz="2400">
                <a:solidFill>
                  <a:srgbClr val="000000"/>
                </a:solidFill>
                <a:latin typeface="Canva Sans"/>
                <a:ea typeface="Canva Sans"/>
                <a:cs typeface="Canva Sans"/>
                <a:sym typeface="Canva Sans"/>
              </a:rPr>
              <a:t>7. Ongoing Support: Offer ongoing maintenance, updates, and support to ensure the platform continues to meet evolving needs</a:t>
            </a:r>
          </a:p>
        </p:txBody>
      </p:sp>
      <p:sp>
        <p:nvSpPr>
          <p:cNvPr name="TextBox 12" id="12"/>
          <p:cNvSpPr txBox="true"/>
          <p:nvPr/>
        </p:nvSpPr>
        <p:spPr>
          <a:xfrm rot="0">
            <a:off x="5289693" y="923925"/>
            <a:ext cx="6399007" cy="952571"/>
          </a:xfrm>
          <a:prstGeom prst="rect">
            <a:avLst/>
          </a:prstGeom>
        </p:spPr>
        <p:txBody>
          <a:bodyPr anchor="t" rtlCol="false" tIns="0" lIns="0" bIns="0" rIns="0">
            <a:spAutoFit/>
          </a:bodyPr>
          <a:lstStyle/>
          <a:p>
            <a:pPr algn="ctr">
              <a:lnSpc>
                <a:spcPts val="7794"/>
              </a:lnSpc>
            </a:pPr>
            <a:r>
              <a:rPr lang="en-US" sz="5567" b="true">
                <a:solidFill>
                  <a:srgbClr val="397D5A"/>
                </a:solidFill>
                <a:latin typeface="Canva Sans Bold"/>
                <a:ea typeface="Canva Sans Bold"/>
                <a:cs typeface="Canva Sans Bold"/>
                <a:sym typeface="Canva Sans Bold"/>
              </a:rPr>
              <a:t>IMPLEMENTATION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633448" y="374453"/>
            <a:ext cx="17021103" cy="3970203"/>
            <a:chOff x="0" y="0"/>
            <a:chExt cx="4482924" cy="1045650"/>
          </a:xfrm>
        </p:grpSpPr>
        <p:sp>
          <p:nvSpPr>
            <p:cNvPr name="Freeform 4" id="4"/>
            <p:cNvSpPr/>
            <p:nvPr/>
          </p:nvSpPr>
          <p:spPr>
            <a:xfrm flipH="false" flipV="false" rot="0">
              <a:off x="0" y="0"/>
              <a:ext cx="4482924" cy="1045650"/>
            </a:xfrm>
            <a:custGeom>
              <a:avLst/>
              <a:gdLst/>
              <a:ahLst/>
              <a:cxnLst/>
              <a:rect r="r" b="b" t="t" l="l"/>
              <a:pathLst>
                <a:path h="1045650" w="4482924">
                  <a:moveTo>
                    <a:pt x="0" y="0"/>
                  </a:moveTo>
                  <a:lnTo>
                    <a:pt x="4482924" y="0"/>
                  </a:lnTo>
                  <a:lnTo>
                    <a:pt x="4482924" y="1045650"/>
                  </a:lnTo>
                  <a:lnTo>
                    <a:pt x="0" y="1045650"/>
                  </a:lnTo>
                  <a:close/>
                </a:path>
              </a:pathLst>
            </a:custGeom>
            <a:solidFill>
              <a:srgbClr val="1C5739"/>
            </a:solidFill>
          </p:spPr>
        </p:sp>
        <p:sp>
          <p:nvSpPr>
            <p:cNvPr name="TextBox 5" id="5"/>
            <p:cNvSpPr txBox="true"/>
            <p:nvPr/>
          </p:nvSpPr>
          <p:spPr>
            <a:xfrm>
              <a:off x="0" y="-19050"/>
              <a:ext cx="4482924" cy="1064700"/>
            </a:xfrm>
            <a:prstGeom prst="rect">
              <a:avLst/>
            </a:prstGeom>
          </p:spPr>
          <p:txBody>
            <a:bodyPr anchor="ctr" rtlCol="false" tIns="50800" lIns="50800" bIns="50800" rIns="50800"/>
            <a:lstStyle/>
            <a:p>
              <a:pPr algn="ctr">
                <a:lnSpc>
                  <a:spcPts val="2859"/>
                </a:lnSpc>
              </a:pPr>
            </a:p>
            <a:p>
              <a:pPr algn="ctr">
                <a:lnSpc>
                  <a:spcPts val="2859"/>
                </a:lnSpc>
              </a:pPr>
            </a:p>
          </p:txBody>
        </p:sp>
      </p:grpSp>
      <p:sp>
        <p:nvSpPr>
          <p:cNvPr name="Freeform 6" id="6"/>
          <p:cNvSpPr/>
          <p:nvPr/>
        </p:nvSpPr>
        <p:spPr>
          <a:xfrm flipH="false" flipV="false" rot="0">
            <a:off x="667020" y="395051"/>
            <a:ext cx="16933642" cy="3949605"/>
          </a:xfrm>
          <a:custGeom>
            <a:avLst/>
            <a:gdLst/>
            <a:ahLst/>
            <a:cxnLst/>
            <a:rect r="r" b="b" t="t" l="l"/>
            <a:pathLst>
              <a:path h="3949605" w="16933642">
                <a:moveTo>
                  <a:pt x="0" y="0"/>
                </a:moveTo>
                <a:lnTo>
                  <a:pt x="16933643" y="0"/>
                </a:lnTo>
                <a:lnTo>
                  <a:pt x="16933643" y="3949605"/>
                </a:lnTo>
                <a:lnTo>
                  <a:pt x="0" y="3949605"/>
                </a:lnTo>
                <a:lnTo>
                  <a:pt x="0" y="0"/>
                </a:lnTo>
                <a:close/>
              </a:path>
            </a:pathLst>
          </a:custGeom>
          <a:blipFill>
            <a:blip r:embed="rId3">
              <a:alphaModFix amt="18000"/>
            </a:blip>
            <a:stretch>
              <a:fillRect l="0" t="-92914" r="0" b="-92914"/>
            </a:stretch>
          </a:blipFill>
        </p:spPr>
      </p:sp>
      <p:sp>
        <p:nvSpPr>
          <p:cNvPr name="TextBox 7" id="7"/>
          <p:cNvSpPr txBox="true"/>
          <p:nvPr/>
        </p:nvSpPr>
        <p:spPr>
          <a:xfrm rot="0">
            <a:off x="633448" y="4829492"/>
            <a:ext cx="17021103" cy="5110480"/>
          </a:xfrm>
          <a:prstGeom prst="rect">
            <a:avLst/>
          </a:prstGeom>
        </p:spPr>
        <p:txBody>
          <a:bodyPr anchor="t" rtlCol="false" tIns="0" lIns="0" bIns="0" rIns="0">
            <a:spAutoFit/>
          </a:bodyPr>
          <a:lstStyle/>
          <a:p>
            <a:pPr algn="just">
              <a:lnSpc>
                <a:spcPts val="3920"/>
              </a:lnSpc>
            </a:pPr>
            <a:r>
              <a:rPr lang="en-US" sz="2800">
                <a:solidFill>
                  <a:srgbClr val="000000"/>
                </a:solidFill>
                <a:latin typeface="Canva Sans"/>
                <a:ea typeface="Canva Sans"/>
                <a:cs typeface="Canva Sans"/>
                <a:sym typeface="Canva Sans"/>
              </a:rPr>
              <a:t>Our future development plans for the virtual assistance feature include:</a:t>
            </a:r>
          </a:p>
          <a:p>
            <a:pPr algn="just">
              <a:lnSpc>
                <a:spcPts val="3920"/>
              </a:lnSpc>
            </a:pPr>
          </a:p>
          <a:p>
            <a:pPr algn="just">
              <a:lnSpc>
                <a:spcPts val="3920"/>
              </a:lnSpc>
            </a:pPr>
            <a:r>
              <a:rPr lang="en-US" sz="2800">
                <a:solidFill>
                  <a:srgbClr val="000000"/>
                </a:solidFill>
                <a:latin typeface="Canva Sans"/>
                <a:ea typeface="Canva Sans"/>
                <a:cs typeface="Canva Sans"/>
                <a:sym typeface="Canva Sans"/>
              </a:rPr>
              <a:t>1. Advanced NLP: Improve natural language understanding for more accurate responses.</a:t>
            </a:r>
          </a:p>
          <a:p>
            <a:pPr algn="just">
              <a:lnSpc>
                <a:spcPts val="3920"/>
              </a:lnSpc>
            </a:pPr>
            <a:r>
              <a:rPr lang="en-US" sz="2800">
                <a:solidFill>
                  <a:srgbClr val="000000"/>
                </a:solidFill>
                <a:latin typeface="Canva Sans"/>
                <a:ea typeface="Canva Sans"/>
                <a:cs typeface="Canva Sans"/>
                <a:sym typeface="Canva Sans"/>
              </a:rPr>
              <a:t>2. Contextual Support: Provide personalized support based on user history and preferences.</a:t>
            </a:r>
          </a:p>
          <a:p>
            <a:pPr algn="just">
              <a:lnSpc>
                <a:spcPts val="3920"/>
              </a:lnSpc>
            </a:pPr>
            <a:r>
              <a:rPr lang="en-US" sz="2800">
                <a:solidFill>
                  <a:srgbClr val="000000"/>
                </a:solidFill>
                <a:latin typeface="Canva Sans"/>
                <a:ea typeface="Canva Sans"/>
                <a:cs typeface="Canva Sans"/>
                <a:sym typeface="Canva Sans"/>
              </a:rPr>
              <a:t>3. Proactive Issue Resolution: Develop the virtual assistant to proactively offer solutions and suggestions.</a:t>
            </a:r>
          </a:p>
          <a:p>
            <a:pPr algn="just">
              <a:lnSpc>
                <a:spcPts val="3920"/>
              </a:lnSpc>
            </a:pPr>
            <a:r>
              <a:rPr lang="en-US" sz="2800">
                <a:solidFill>
                  <a:srgbClr val="000000"/>
                </a:solidFill>
                <a:latin typeface="Canva Sans"/>
                <a:ea typeface="Canva Sans"/>
                <a:cs typeface="Canva Sans"/>
                <a:sym typeface="Canva Sans"/>
              </a:rPr>
              <a:t>4. Autonomous Resolution: Enable the virtual assistant to autonomously resolve common issues.</a:t>
            </a:r>
          </a:p>
          <a:p>
            <a:pPr algn="just">
              <a:lnSpc>
                <a:spcPts val="5319"/>
              </a:lnSpc>
            </a:pPr>
          </a:p>
          <a:p>
            <a:pPr algn="just">
              <a:lnSpc>
                <a:spcPts val="3920"/>
              </a:lnSpc>
            </a:pPr>
            <a:r>
              <a:rPr lang="en-US" sz="2800">
                <a:solidFill>
                  <a:srgbClr val="000000"/>
                </a:solidFill>
                <a:latin typeface="Canva Sans"/>
                <a:ea typeface="Canva Sans"/>
                <a:cs typeface="Canva Sans"/>
                <a:sym typeface="Canva Sans"/>
              </a:rPr>
              <a:t>These enhancements will further streamline issue resolution, improve user experience, and increase efficiency for IT teams.</a:t>
            </a:r>
          </a:p>
        </p:txBody>
      </p:sp>
      <p:sp>
        <p:nvSpPr>
          <p:cNvPr name="TextBox 8" id="8"/>
          <p:cNvSpPr txBox="true"/>
          <p:nvPr/>
        </p:nvSpPr>
        <p:spPr>
          <a:xfrm rot="0">
            <a:off x="-3043767" y="1198314"/>
            <a:ext cx="16933642" cy="887095"/>
          </a:xfrm>
          <a:prstGeom prst="rect">
            <a:avLst/>
          </a:prstGeom>
        </p:spPr>
        <p:txBody>
          <a:bodyPr anchor="t" rtlCol="false" tIns="0" lIns="0" bIns="0" rIns="0">
            <a:spAutoFit/>
          </a:bodyPr>
          <a:lstStyle/>
          <a:p>
            <a:pPr algn="ctr">
              <a:lnSpc>
                <a:spcPts val="7279"/>
              </a:lnSpc>
            </a:pPr>
            <a:r>
              <a:rPr lang="en-US" sz="5199" b="true">
                <a:solidFill>
                  <a:srgbClr val="F2F2F2"/>
                </a:solidFill>
                <a:latin typeface="Canva Sans Bold"/>
                <a:ea typeface="Canva Sans Bold"/>
                <a:cs typeface="Canva Sans Bold"/>
                <a:sym typeface="Canva Sans Bold"/>
              </a:rPr>
              <a:t>FUTURE DEVELOPMENT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0" y="0"/>
            <a:ext cx="18288000" cy="3086100"/>
            <a:chOff x="0" y="0"/>
            <a:chExt cx="4816593" cy="812800"/>
          </a:xfrm>
        </p:grpSpPr>
        <p:sp>
          <p:nvSpPr>
            <p:cNvPr name="Freeform 4" id="4"/>
            <p:cNvSpPr/>
            <p:nvPr/>
          </p:nvSpPr>
          <p:spPr>
            <a:xfrm flipH="false" flipV="false" rot="0">
              <a:off x="0" y="0"/>
              <a:ext cx="4816592" cy="812800"/>
            </a:xfrm>
            <a:custGeom>
              <a:avLst/>
              <a:gdLst/>
              <a:ahLst/>
              <a:cxnLst/>
              <a:rect r="r" b="b" t="t" l="l"/>
              <a:pathLst>
                <a:path h="812800" w="4816592">
                  <a:moveTo>
                    <a:pt x="0" y="0"/>
                  </a:moveTo>
                  <a:lnTo>
                    <a:pt x="4816592" y="0"/>
                  </a:lnTo>
                  <a:lnTo>
                    <a:pt x="4816592" y="812800"/>
                  </a:lnTo>
                  <a:lnTo>
                    <a:pt x="0" y="812800"/>
                  </a:lnTo>
                  <a:close/>
                </a:path>
              </a:pathLst>
            </a:custGeom>
            <a:solidFill>
              <a:srgbClr val="1C5739"/>
            </a:solidFill>
          </p:spPr>
        </p:sp>
        <p:sp>
          <p:nvSpPr>
            <p:cNvPr name="TextBox 5" id="5"/>
            <p:cNvSpPr txBox="true"/>
            <p:nvPr/>
          </p:nvSpPr>
          <p:spPr>
            <a:xfrm>
              <a:off x="0" y="-19050"/>
              <a:ext cx="4816593" cy="831850"/>
            </a:xfrm>
            <a:prstGeom prst="rect">
              <a:avLst/>
            </a:prstGeom>
          </p:spPr>
          <p:txBody>
            <a:bodyPr anchor="ctr" rtlCol="false" tIns="50800" lIns="50800" bIns="50800" rIns="50800"/>
            <a:lstStyle/>
            <a:p>
              <a:pPr algn="ctr">
                <a:lnSpc>
                  <a:spcPts val="2859"/>
                </a:lnSpc>
              </a:pPr>
            </a:p>
          </p:txBody>
        </p:sp>
      </p:grpSp>
      <p:sp>
        <p:nvSpPr>
          <p:cNvPr name="TextBox 6" id="6"/>
          <p:cNvSpPr txBox="true"/>
          <p:nvPr/>
        </p:nvSpPr>
        <p:spPr>
          <a:xfrm rot="0">
            <a:off x="2349317" y="6423761"/>
            <a:ext cx="2731184" cy="819150"/>
          </a:xfrm>
          <a:prstGeom prst="rect">
            <a:avLst/>
          </a:prstGeom>
        </p:spPr>
        <p:txBody>
          <a:bodyPr anchor="t" rtlCol="false" tIns="0" lIns="0" bIns="0" rIns="0">
            <a:spAutoFit/>
          </a:bodyPr>
          <a:lstStyle/>
          <a:p>
            <a:pPr algn="ctr">
              <a:lnSpc>
                <a:spcPts val="3286"/>
              </a:lnSpc>
            </a:pPr>
            <a:r>
              <a:rPr lang="en-US" sz="2738" spc="136">
                <a:solidFill>
                  <a:srgbClr val="FFFBFB"/>
                </a:solidFill>
                <a:latin typeface="Open Sauce"/>
                <a:ea typeface="Open Sauce"/>
                <a:cs typeface="Open Sauce"/>
                <a:sym typeface="Open Sauce"/>
              </a:rPr>
              <a:t>Remy</a:t>
            </a:r>
          </a:p>
          <a:p>
            <a:pPr algn="ctr">
              <a:lnSpc>
                <a:spcPts val="3286"/>
              </a:lnSpc>
            </a:pPr>
            <a:r>
              <a:rPr lang="en-US" sz="2738" spc="136">
                <a:solidFill>
                  <a:srgbClr val="FFFBFB"/>
                </a:solidFill>
                <a:latin typeface="Open Sauce"/>
                <a:ea typeface="Open Sauce"/>
                <a:cs typeface="Open Sauce"/>
                <a:sym typeface="Open Sauce"/>
              </a:rPr>
              <a:t>Marsh</a:t>
            </a:r>
          </a:p>
        </p:txBody>
      </p:sp>
      <p:sp>
        <p:nvSpPr>
          <p:cNvPr name="TextBox 7" id="7"/>
          <p:cNvSpPr txBox="true"/>
          <p:nvPr/>
        </p:nvSpPr>
        <p:spPr>
          <a:xfrm rot="0">
            <a:off x="2563861" y="7421816"/>
            <a:ext cx="2302097" cy="304800"/>
          </a:xfrm>
          <a:prstGeom prst="rect">
            <a:avLst/>
          </a:prstGeom>
        </p:spPr>
        <p:txBody>
          <a:bodyPr anchor="t" rtlCol="false" tIns="0" lIns="0" bIns="0" rIns="0">
            <a:spAutoFit/>
          </a:bodyPr>
          <a:lstStyle/>
          <a:p>
            <a:pPr algn="ctr">
              <a:lnSpc>
                <a:spcPts val="2464"/>
              </a:lnSpc>
            </a:pPr>
            <a:r>
              <a:rPr lang="en-US" sz="2053" spc="102">
                <a:solidFill>
                  <a:srgbClr val="FFFBFB"/>
                </a:solidFill>
                <a:latin typeface="Open Sauce"/>
                <a:ea typeface="Open Sauce"/>
                <a:cs typeface="Open Sauce"/>
                <a:sym typeface="Open Sauce"/>
              </a:rPr>
              <a:t>Manager</a:t>
            </a:r>
          </a:p>
        </p:txBody>
      </p:sp>
      <p:sp>
        <p:nvSpPr>
          <p:cNvPr name="TextBox 8" id="8"/>
          <p:cNvSpPr txBox="true"/>
          <p:nvPr/>
        </p:nvSpPr>
        <p:spPr>
          <a:xfrm rot="0">
            <a:off x="6076812" y="6423761"/>
            <a:ext cx="2516641" cy="819150"/>
          </a:xfrm>
          <a:prstGeom prst="rect">
            <a:avLst/>
          </a:prstGeom>
        </p:spPr>
        <p:txBody>
          <a:bodyPr anchor="t" rtlCol="false" tIns="0" lIns="0" bIns="0" rIns="0">
            <a:spAutoFit/>
          </a:bodyPr>
          <a:lstStyle/>
          <a:p>
            <a:pPr algn="ctr">
              <a:lnSpc>
                <a:spcPts val="3286"/>
              </a:lnSpc>
            </a:pPr>
            <a:r>
              <a:rPr lang="en-US" sz="2738" spc="136">
                <a:solidFill>
                  <a:srgbClr val="FFFBFB"/>
                </a:solidFill>
                <a:latin typeface="Open Sauce"/>
                <a:ea typeface="Open Sauce"/>
                <a:cs typeface="Open Sauce"/>
                <a:sym typeface="Open Sauce"/>
              </a:rPr>
              <a:t>Everest Cantu</a:t>
            </a:r>
          </a:p>
        </p:txBody>
      </p:sp>
      <p:sp>
        <p:nvSpPr>
          <p:cNvPr name="TextBox 9" id="9"/>
          <p:cNvSpPr txBox="true"/>
          <p:nvPr/>
        </p:nvSpPr>
        <p:spPr>
          <a:xfrm rot="0">
            <a:off x="6184084" y="7421816"/>
            <a:ext cx="2302097" cy="304800"/>
          </a:xfrm>
          <a:prstGeom prst="rect">
            <a:avLst/>
          </a:prstGeom>
        </p:spPr>
        <p:txBody>
          <a:bodyPr anchor="t" rtlCol="false" tIns="0" lIns="0" bIns="0" rIns="0">
            <a:spAutoFit/>
          </a:bodyPr>
          <a:lstStyle/>
          <a:p>
            <a:pPr algn="ctr">
              <a:lnSpc>
                <a:spcPts val="2464"/>
              </a:lnSpc>
            </a:pPr>
            <a:r>
              <a:rPr lang="en-US" sz="2053" spc="102">
                <a:solidFill>
                  <a:srgbClr val="FFFBFB"/>
                </a:solidFill>
                <a:latin typeface="Open Sauce"/>
                <a:ea typeface="Open Sauce"/>
                <a:cs typeface="Open Sauce"/>
                <a:sym typeface="Open Sauce"/>
              </a:rPr>
              <a:t>Marketing </a:t>
            </a:r>
          </a:p>
        </p:txBody>
      </p:sp>
      <p:sp>
        <p:nvSpPr>
          <p:cNvPr name="TextBox 10" id="10"/>
          <p:cNvSpPr txBox="true"/>
          <p:nvPr/>
        </p:nvSpPr>
        <p:spPr>
          <a:xfrm rot="0">
            <a:off x="13207498" y="6423761"/>
            <a:ext cx="2731184" cy="819150"/>
          </a:xfrm>
          <a:prstGeom prst="rect">
            <a:avLst/>
          </a:prstGeom>
        </p:spPr>
        <p:txBody>
          <a:bodyPr anchor="t" rtlCol="false" tIns="0" lIns="0" bIns="0" rIns="0">
            <a:spAutoFit/>
          </a:bodyPr>
          <a:lstStyle/>
          <a:p>
            <a:pPr algn="ctr">
              <a:lnSpc>
                <a:spcPts val="3286"/>
              </a:lnSpc>
            </a:pPr>
            <a:r>
              <a:rPr lang="en-US" sz="2738" spc="136">
                <a:solidFill>
                  <a:srgbClr val="FFFBFB"/>
                </a:solidFill>
                <a:latin typeface="Open Sauce"/>
                <a:ea typeface="Open Sauce"/>
                <a:cs typeface="Open Sauce"/>
                <a:sym typeface="Open Sauce"/>
              </a:rPr>
              <a:t>Morgan Maxwell</a:t>
            </a:r>
          </a:p>
        </p:txBody>
      </p:sp>
      <p:sp>
        <p:nvSpPr>
          <p:cNvPr name="TextBox 11" id="11"/>
          <p:cNvSpPr txBox="true"/>
          <p:nvPr/>
        </p:nvSpPr>
        <p:spPr>
          <a:xfrm rot="0">
            <a:off x="13422042" y="7421816"/>
            <a:ext cx="2302097" cy="304800"/>
          </a:xfrm>
          <a:prstGeom prst="rect">
            <a:avLst/>
          </a:prstGeom>
        </p:spPr>
        <p:txBody>
          <a:bodyPr anchor="t" rtlCol="false" tIns="0" lIns="0" bIns="0" rIns="0">
            <a:spAutoFit/>
          </a:bodyPr>
          <a:lstStyle/>
          <a:p>
            <a:pPr algn="ctr">
              <a:lnSpc>
                <a:spcPts val="2464"/>
              </a:lnSpc>
            </a:pPr>
            <a:r>
              <a:rPr lang="en-US" sz="2053" spc="102">
                <a:solidFill>
                  <a:srgbClr val="FFFBFB"/>
                </a:solidFill>
                <a:latin typeface="Open Sauce"/>
                <a:ea typeface="Open Sauce"/>
                <a:cs typeface="Open Sauce"/>
                <a:sym typeface="Open Sauce"/>
              </a:rPr>
              <a:t>Manager</a:t>
            </a:r>
          </a:p>
        </p:txBody>
      </p:sp>
      <p:sp>
        <p:nvSpPr>
          <p:cNvPr name="TextBox 12" id="12"/>
          <p:cNvSpPr txBox="true"/>
          <p:nvPr/>
        </p:nvSpPr>
        <p:spPr>
          <a:xfrm rot="0">
            <a:off x="5080502" y="1736323"/>
            <a:ext cx="7845600" cy="834203"/>
          </a:xfrm>
          <a:prstGeom prst="rect">
            <a:avLst/>
          </a:prstGeom>
        </p:spPr>
        <p:txBody>
          <a:bodyPr anchor="t" rtlCol="false" tIns="0" lIns="0" bIns="0" rIns="0">
            <a:spAutoFit/>
          </a:bodyPr>
          <a:lstStyle/>
          <a:p>
            <a:pPr algn="ctr" marL="0" indent="0" lvl="0">
              <a:lnSpc>
                <a:spcPts val="5862"/>
              </a:lnSpc>
              <a:spcBef>
                <a:spcPct val="0"/>
              </a:spcBef>
            </a:pPr>
            <a:r>
              <a:rPr lang="en-US" sz="5921" spc="207">
                <a:solidFill>
                  <a:srgbClr val="FFFFFF"/>
                </a:solidFill>
                <a:latin typeface="Poppins"/>
                <a:ea typeface="Poppins"/>
                <a:cs typeface="Poppins"/>
                <a:sym typeface="Poppins"/>
              </a:rPr>
              <a:t>CONCLUSION</a:t>
            </a:r>
          </a:p>
        </p:txBody>
      </p:sp>
      <p:sp>
        <p:nvSpPr>
          <p:cNvPr name="Freeform 13" id="13"/>
          <p:cNvSpPr/>
          <p:nvPr/>
        </p:nvSpPr>
        <p:spPr>
          <a:xfrm flipH="false" flipV="false" rot="0">
            <a:off x="-1586068" y="-1808676"/>
            <a:ext cx="3172137" cy="4114800"/>
          </a:xfrm>
          <a:custGeom>
            <a:avLst/>
            <a:gdLst/>
            <a:ahLst/>
            <a:cxnLst/>
            <a:rect r="r" b="b" t="t" l="l"/>
            <a:pathLst>
              <a:path h="4114800" w="3172137">
                <a:moveTo>
                  <a:pt x="0" y="0"/>
                </a:moveTo>
                <a:lnTo>
                  <a:pt x="3172136" y="0"/>
                </a:lnTo>
                <a:lnTo>
                  <a:pt x="3172136"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6384715" y="-413585"/>
            <a:ext cx="3806571" cy="2083232"/>
          </a:xfrm>
          <a:custGeom>
            <a:avLst/>
            <a:gdLst/>
            <a:ahLst/>
            <a:cxnLst/>
            <a:rect r="r" b="b" t="t" l="l"/>
            <a:pathLst>
              <a:path h="2083232" w="3806571">
                <a:moveTo>
                  <a:pt x="0" y="0"/>
                </a:moveTo>
                <a:lnTo>
                  <a:pt x="3806570" y="0"/>
                </a:lnTo>
                <a:lnTo>
                  <a:pt x="3806570" y="2083233"/>
                </a:lnTo>
                <a:lnTo>
                  <a:pt x="0" y="208323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338930" y="3544979"/>
            <a:ext cx="17076401" cy="6614160"/>
          </a:xfrm>
          <a:prstGeom prst="rect">
            <a:avLst/>
          </a:prstGeom>
        </p:spPr>
        <p:txBody>
          <a:bodyPr anchor="t" rtlCol="false" tIns="0" lIns="0" bIns="0" rIns="0">
            <a:spAutoFit/>
          </a:bodyPr>
          <a:lstStyle/>
          <a:p>
            <a:pPr algn="just">
              <a:lnSpc>
                <a:spcPts val="4060"/>
              </a:lnSpc>
            </a:pPr>
            <a:r>
              <a:rPr lang="en-US" sz="2900">
                <a:solidFill>
                  <a:srgbClr val="000000"/>
                </a:solidFill>
                <a:latin typeface="Canva Sans"/>
                <a:ea typeface="Canva Sans"/>
                <a:cs typeface="Canva Sans"/>
                <a:sym typeface="Canva Sans"/>
              </a:rPr>
              <a:t>Our IT support system offers a comprehensive platform for users to submit complaints, track progress, and receive point-wise solutions from our dedicated IT team. With the added power of AI-driven virtual assistance, we provide instant support and guidance, ensuring a seamless experience.</a:t>
            </a:r>
          </a:p>
          <a:p>
            <a:pPr algn="just">
              <a:lnSpc>
                <a:spcPts val="4060"/>
              </a:lnSpc>
            </a:pPr>
          </a:p>
          <a:p>
            <a:pPr algn="just">
              <a:lnSpc>
                <a:spcPts val="4060"/>
              </a:lnSpc>
            </a:pPr>
            <a:r>
              <a:rPr lang="en-US" sz="2900">
                <a:solidFill>
                  <a:srgbClr val="000000"/>
                </a:solidFill>
                <a:latin typeface="Canva Sans"/>
                <a:ea typeface="Canva Sans"/>
                <a:cs typeface="Canva Sans"/>
                <a:sym typeface="Canva Sans"/>
              </a:rPr>
              <a:t>Key Takeaways:</a:t>
            </a:r>
          </a:p>
          <a:p>
            <a:pPr algn="just">
              <a:lnSpc>
                <a:spcPts val="4060"/>
              </a:lnSpc>
            </a:pPr>
          </a:p>
          <a:p>
            <a:pPr algn="just">
              <a:lnSpc>
                <a:spcPts val="4060"/>
              </a:lnSpc>
            </a:pPr>
            <a:r>
              <a:rPr lang="en-US" sz="2900">
                <a:solidFill>
                  <a:srgbClr val="000000"/>
                </a:solidFill>
                <a:latin typeface="Canva Sans"/>
                <a:ea typeface="Canva Sans"/>
                <a:cs typeface="Canva Sans"/>
                <a:sym typeface="Canva Sans"/>
              </a:rPr>
              <a:t>- Efficient Issue Resolution: Streamlined complaint submission and resolution process</a:t>
            </a:r>
          </a:p>
          <a:p>
            <a:pPr algn="just">
              <a:lnSpc>
                <a:spcPts val="4060"/>
              </a:lnSpc>
            </a:pPr>
            <a:r>
              <a:rPr lang="en-US" sz="2900">
                <a:solidFill>
                  <a:srgbClr val="000000"/>
                </a:solidFill>
                <a:latin typeface="Canva Sans"/>
                <a:ea typeface="Canva Sans"/>
                <a:cs typeface="Canva Sans"/>
                <a:sym typeface="Canva Sans"/>
              </a:rPr>
              <a:t>- AI-Powered Virtual Assistance: Instant support and guidance</a:t>
            </a:r>
          </a:p>
          <a:p>
            <a:pPr algn="just">
              <a:lnSpc>
                <a:spcPts val="4060"/>
              </a:lnSpc>
            </a:pPr>
            <a:r>
              <a:rPr lang="en-US" sz="2900">
                <a:solidFill>
                  <a:srgbClr val="000000"/>
                </a:solidFill>
                <a:latin typeface="Canva Sans"/>
                <a:ea typeface="Canva Sans"/>
                <a:cs typeface="Canva Sans"/>
                <a:sym typeface="Canva Sans"/>
              </a:rPr>
              <a:t>- Real-time Updates: Transparency throughout the resolution process</a:t>
            </a:r>
          </a:p>
          <a:p>
            <a:pPr algn="just">
              <a:lnSpc>
                <a:spcPts val="3920"/>
              </a:lnSpc>
            </a:pPr>
          </a:p>
          <a:p>
            <a:pPr algn="just">
              <a:lnSpc>
                <a:spcPts val="3920"/>
              </a:lnSpc>
            </a:pPr>
            <a:r>
              <a:rPr lang="en-US" sz="2800">
                <a:solidFill>
                  <a:srgbClr val="000000"/>
                </a:solidFill>
                <a:latin typeface="Canva Sans"/>
                <a:ea typeface="Canva Sans"/>
                <a:cs typeface="Canva Sans"/>
                <a:sym typeface="Canva Sans"/>
              </a:rPr>
              <a:t>By leveraging technology and human expertise, our IT support system delivers exceptional support, enhancing user experience and productivity.</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TextBox 3" id="3"/>
          <p:cNvSpPr txBox="true"/>
          <p:nvPr/>
        </p:nvSpPr>
        <p:spPr>
          <a:xfrm rot="0">
            <a:off x="3463770" y="3831652"/>
            <a:ext cx="5435861" cy="2071638"/>
          </a:xfrm>
          <a:prstGeom prst="rect">
            <a:avLst/>
          </a:prstGeom>
        </p:spPr>
        <p:txBody>
          <a:bodyPr anchor="t" rtlCol="false" tIns="0" lIns="0" bIns="0" rIns="0">
            <a:spAutoFit/>
          </a:bodyPr>
          <a:lstStyle/>
          <a:p>
            <a:pPr algn="ctr" marL="0" indent="0" lvl="0">
              <a:lnSpc>
                <a:spcPts val="7602"/>
              </a:lnSpc>
            </a:pPr>
            <a:r>
              <a:rPr lang="en-US" sz="8174" spc="882">
                <a:solidFill>
                  <a:srgbClr val="231F20"/>
                </a:solidFill>
                <a:latin typeface="Poppins"/>
                <a:ea typeface="Poppins"/>
                <a:cs typeface="Poppins"/>
                <a:sym typeface="Poppins"/>
              </a:rPr>
              <a:t>THANK YOU</a:t>
            </a:r>
          </a:p>
        </p:txBody>
      </p:sp>
      <p:grpSp>
        <p:nvGrpSpPr>
          <p:cNvPr name="Group 4" id="4"/>
          <p:cNvGrpSpPr/>
          <p:nvPr/>
        </p:nvGrpSpPr>
        <p:grpSpPr>
          <a:xfrm rot="0">
            <a:off x="9684427" y="0"/>
            <a:ext cx="8603573" cy="10287000"/>
            <a:chOff x="0" y="0"/>
            <a:chExt cx="8603361" cy="10286746"/>
          </a:xfrm>
        </p:grpSpPr>
        <p:sp>
          <p:nvSpPr>
            <p:cNvPr name="Freeform 5" id="5"/>
            <p:cNvSpPr/>
            <p:nvPr/>
          </p:nvSpPr>
          <p:spPr>
            <a:xfrm flipH="false" flipV="false" rot="0">
              <a:off x="-2794" y="-127"/>
              <a:ext cx="8606155" cy="10286873"/>
            </a:xfrm>
            <a:custGeom>
              <a:avLst/>
              <a:gdLst/>
              <a:ahLst/>
              <a:cxnLst/>
              <a:rect r="r" b="b" t="t" l="l"/>
              <a:pathLst>
                <a:path h="10286873" w="8606155">
                  <a:moveTo>
                    <a:pt x="8606155" y="10251440"/>
                  </a:moveTo>
                  <a:cubicBezTo>
                    <a:pt x="8606155" y="10284587"/>
                    <a:pt x="8595487" y="10286873"/>
                    <a:pt x="8567674" y="10286873"/>
                  </a:cubicBezTo>
                  <a:cubicBezTo>
                    <a:pt x="5713095" y="10286238"/>
                    <a:pt x="2858643" y="10286238"/>
                    <a:pt x="4064" y="10286238"/>
                  </a:cubicBezTo>
                  <a:cubicBezTo>
                    <a:pt x="0" y="10272395"/>
                    <a:pt x="6350" y="10259822"/>
                    <a:pt x="9271" y="10246995"/>
                  </a:cubicBezTo>
                  <a:cubicBezTo>
                    <a:pt x="134747" y="9685401"/>
                    <a:pt x="260350" y="9123934"/>
                    <a:pt x="386207" y="8562467"/>
                  </a:cubicBezTo>
                  <a:cubicBezTo>
                    <a:pt x="565658" y="7761986"/>
                    <a:pt x="745490" y="6961632"/>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5"/>
                    <a:pt x="8605139" y="6846316"/>
                    <a:pt x="8606155" y="10251440"/>
                  </a:cubicBezTo>
                  <a:close/>
                </a:path>
              </a:pathLst>
            </a:custGeom>
            <a:blipFill>
              <a:blip r:embed="rId3"/>
              <a:stretch>
                <a:fillRect l="-39675" t="0" r="-39675" b="0"/>
              </a:stretch>
            </a:blipFill>
          </p:spPr>
        </p:sp>
      </p:grpSp>
      <p:grpSp>
        <p:nvGrpSpPr>
          <p:cNvPr name="Group 6" id="6"/>
          <p:cNvGrpSpPr/>
          <p:nvPr/>
        </p:nvGrpSpPr>
        <p:grpSpPr>
          <a:xfrm rot="826432">
            <a:off x="-18353104" y="-3567159"/>
            <a:ext cx="21026341" cy="12831921"/>
            <a:chOff x="0" y="0"/>
            <a:chExt cx="5537802" cy="3379601"/>
          </a:xfrm>
        </p:grpSpPr>
        <p:sp>
          <p:nvSpPr>
            <p:cNvPr name="Freeform 7" id="7"/>
            <p:cNvSpPr/>
            <p:nvPr/>
          </p:nvSpPr>
          <p:spPr>
            <a:xfrm flipH="false" flipV="false" rot="0">
              <a:off x="0" y="0"/>
              <a:ext cx="5537802" cy="3379601"/>
            </a:xfrm>
            <a:custGeom>
              <a:avLst/>
              <a:gdLst/>
              <a:ahLst/>
              <a:cxnLst/>
              <a:rect r="r" b="b" t="t" l="l"/>
              <a:pathLst>
                <a:path h="3379601" w="5537802">
                  <a:moveTo>
                    <a:pt x="0" y="0"/>
                  </a:moveTo>
                  <a:lnTo>
                    <a:pt x="5537802" y="0"/>
                  </a:lnTo>
                  <a:lnTo>
                    <a:pt x="5537802" y="3379601"/>
                  </a:lnTo>
                  <a:lnTo>
                    <a:pt x="0" y="3379601"/>
                  </a:lnTo>
                  <a:close/>
                </a:path>
              </a:pathLst>
            </a:custGeom>
            <a:solidFill>
              <a:srgbClr val="1C5739"/>
            </a:solidFill>
          </p:spPr>
        </p:sp>
        <p:sp>
          <p:nvSpPr>
            <p:cNvPr name="TextBox 8" id="8"/>
            <p:cNvSpPr txBox="true"/>
            <p:nvPr/>
          </p:nvSpPr>
          <p:spPr>
            <a:xfrm>
              <a:off x="0" y="-19050"/>
              <a:ext cx="5537802" cy="3398651"/>
            </a:xfrm>
            <a:prstGeom prst="rect">
              <a:avLst/>
            </a:prstGeom>
          </p:spPr>
          <p:txBody>
            <a:bodyPr anchor="ctr" rtlCol="false" tIns="50800" lIns="50800" bIns="50800" rIns="50800"/>
            <a:lstStyle/>
            <a:p>
              <a:pPr algn="ctr">
                <a:lnSpc>
                  <a:spcPts val="2859"/>
                </a:lnSpc>
              </a:pPr>
            </a:p>
          </p:txBody>
        </p:sp>
      </p:grpSp>
      <p:grpSp>
        <p:nvGrpSpPr>
          <p:cNvPr name="Group 9" id="9"/>
          <p:cNvGrpSpPr/>
          <p:nvPr/>
        </p:nvGrpSpPr>
        <p:grpSpPr>
          <a:xfrm rot="773821">
            <a:off x="10036024" y="4365564"/>
            <a:ext cx="313833" cy="8482349"/>
            <a:chOff x="0" y="0"/>
            <a:chExt cx="82656" cy="2234034"/>
          </a:xfrm>
        </p:grpSpPr>
        <p:sp>
          <p:nvSpPr>
            <p:cNvPr name="Freeform 10" id="10"/>
            <p:cNvSpPr/>
            <p:nvPr/>
          </p:nvSpPr>
          <p:spPr>
            <a:xfrm flipH="false" flipV="false" rot="0">
              <a:off x="0" y="0"/>
              <a:ext cx="82656" cy="2234034"/>
            </a:xfrm>
            <a:custGeom>
              <a:avLst/>
              <a:gdLst/>
              <a:ahLst/>
              <a:cxnLst/>
              <a:rect r="r" b="b" t="t" l="l"/>
              <a:pathLst>
                <a:path h="2234034" w="82656">
                  <a:moveTo>
                    <a:pt x="0" y="0"/>
                  </a:moveTo>
                  <a:lnTo>
                    <a:pt x="82656" y="0"/>
                  </a:lnTo>
                  <a:lnTo>
                    <a:pt x="82656" y="2234034"/>
                  </a:lnTo>
                  <a:lnTo>
                    <a:pt x="0" y="2234034"/>
                  </a:lnTo>
                  <a:close/>
                </a:path>
              </a:pathLst>
            </a:custGeom>
            <a:solidFill>
              <a:srgbClr val="1C5739"/>
            </a:solidFill>
          </p:spPr>
        </p:sp>
        <p:sp>
          <p:nvSpPr>
            <p:cNvPr name="TextBox 11" id="11"/>
            <p:cNvSpPr txBox="true"/>
            <p:nvPr/>
          </p:nvSpPr>
          <p:spPr>
            <a:xfrm>
              <a:off x="0" y="-19050"/>
              <a:ext cx="82656" cy="2253084"/>
            </a:xfrm>
            <a:prstGeom prst="rect">
              <a:avLst/>
            </a:prstGeom>
          </p:spPr>
          <p:txBody>
            <a:bodyPr anchor="ctr" rtlCol="false" tIns="50800" lIns="50800" bIns="50800" rIns="50800"/>
            <a:lstStyle/>
            <a:p>
              <a:pPr algn="ctr">
                <a:lnSpc>
                  <a:spcPts val="2859"/>
                </a:lnSpc>
              </a:pPr>
            </a:p>
          </p:txBody>
        </p:sp>
      </p:grpSp>
      <p:grpSp>
        <p:nvGrpSpPr>
          <p:cNvPr name="Group 12" id="12"/>
          <p:cNvGrpSpPr/>
          <p:nvPr/>
        </p:nvGrpSpPr>
        <p:grpSpPr>
          <a:xfrm rot="773821">
            <a:off x="3741572" y="-4834013"/>
            <a:ext cx="313833" cy="8482349"/>
            <a:chOff x="0" y="0"/>
            <a:chExt cx="82656" cy="2234034"/>
          </a:xfrm>
        </p:grpSpPr>
        <p:sp>
          <p:nvSpPr>
            <p:cNvPr name="Freeform 13" id="13"/>
            <p:cNvSpPr/>
            <p:nvPr/>
          </p:nvSpPr>
          <p:spPr>
            <a:xfrm flipH="false" flipV="false" rot="0">
              <a:off x="0" y="0"/>
              <a:ext cx="82656" cy="2234034"/>
            </a:xfrm>
            <a:custGeom>
              <a:avLst/>
              <a:gdLst/>
              <a:ahLst/>
              <a:cxnLst/>
              <a:rect r="r" b="b" t="t" l="l"/>
              <a:pathLst>
                <a:path h="2234034" w="82656">
                  <a:moveTo>
                    <a:pt x="0" y="0"/>
                  </a:moveTo>
                  <a:lnTo>
                    <a:pt x="82656" y="0"/>
                  </a:lnTo>
                  <a:lnTo>
                    <a:pt x="82656" y="2234034"/>
                  </a:lnTo>
                  <a:lnTo>
                    <a:pt x="0" y="2234034"/>
                  </a:lnTo>
                  <a:close/>
                </a:path>
              </a:pathLst>
            </a:custGeom>
            <a:solidFill>
              <a:srgbClr val="397D5A"/>
            </a:solidFill>
          </p:spPr>
        </p:sp>
        <p:sp>
          <p:nvSpPr>
            <p:cNvPr name="TextBox 14" id="14"/>
            <p:cNvSpPr txBox="true"/>
            <p:nvPr/>
          </p:nvSpPr>
          <p:spPr>
            <a:xfrm>
              <a:off x="0" y="-19050"/>
              <a:ext cx="82656" cy="2253084"/>
            </a:xfrm>
            <a:prstGeom prst="rect">
              <a:avLst/>
            </a:prstGeom>
          </p:spPr>
          <p:txBody>
            <a:bodyPr anchor="ctr" rtlCol="false" tIns="50800" lIns="50800" bIns="50800" rIns="50800"/>
            <a:lstStyle/>
            <a:p>
              <a:pPr algn="ctr">
                <a:lnSpc>
                  <a:spcPts val="2859"/>
                </a:lnSpc>
              </a:pPr>
            </a:p>
          </p:txBody>
        </p:sp>
      </p:grpSp>
      <p:grpSp>
        <p:nvGrpSpPr>
          <p:cNvPr name="Group 15" id="15"/>
          <p:cNvGrpSpPr>
            <a:grpSpLocks noChangeAspect="true"/>
          </p:cNvGrpSpPr>
          <p:nvPr/>
        </p:nvGrpSpPr>
        <p:grpSpPr>
          <a:xfrm rot="0">
            <a:off x="841959" y="6036641"/>
            <a:ext cx="2801925" cy="2801925"/>
            <a:chOff x="0" y="0"/>
            <a:chExt cx="6350000" cy="6350000"/>
          </a:xfrm>
        </p:grpSpPr>
        <p:sp>
          <p:nvSpPr>
            <p:cNvPr name="Freeform 16" id="16"/>
            <p:cNvSpPr/>
            <p:nvPr/>
          </p:nvSpPr>
          <p:spPr>
            <a:xfrm flipH="false" flipV="false" rot="0">
              <a:off x="655320" y="655320"/>
              <a:ext cx="5039360" cy="5039360"/>
            </a:xfrm>
            <a:custGeom>
              <a:avLst/>
              <a:gdLst/>
              <a:ahLst/>
              <a:cxnLst/>
              <a:rect r="r" b="b" t="t" l="l"/>
              <a:pathLst>
                <a:path h="5039360" w="5039360">
                  <a:moveTo>
                    <a:pt x="2519680" y="0"/>
                  </a:moveTo>
                  <a:cubicBezTo>
                    <a:pt x="1127760" y="0"/>
                    <a:pt x="0" y="1127760"/>
                    <a:pt x="0" y="2519680"/>
                  </a:cubicBezTo>
                  <a:cubicBezTo>
                    <a:pt x="0" y="3911600"/>
                    <a:pt x="1127760" y="5039360"/>
                    <a:pt x="2519680" y="5039360"/>
                  </a:cubicBezTo>
                  <a:cubicBezTo>
                    <a:pt x="3911600" y="5039360"/>
                    <a:pt x="5039360" y="3911600"/>
                    <a:pt x="5039360" y="2519680"/>
                  </a:cubicBezTo>
                  <a:cubicBezTo>
                    <a:pt x="5039360" y="1127760"/>
                    <a:pt x="3911600" y="0"/>
                    <a:pt x="2519680" y="0"/>
                  </a:cubicBezTo>
                  <a:close/>
                </a:path>
              </a:pathLst>
            </a:custGeom>
            <a:blipFill>
              <a:blip r:embed="rId4"/>
              <a:stretch>
                <a:fillRect l="-25046" t="0" r="-25046" b="0"/>
              </a:stretch>
            </a:blipFill>
          </p:spPr>
        </p:sp>
        <p:sp>
          <p:nvSpPr>
            <p:cNvPr name="Freeform 17" id="17"/>
            <p:cNvSpPr/>
            <p:nvPr/>
          </p:nvSpPr>
          <p:spPr>
            <a:xfrm flipH="false" flipV="false" rot="0">
              <a:off x="0" y="0"/>
              <a:ext cx="6350000" cy="6350000"/>
            </a:xfrm>
            <a:custGeom>
              <a:avLst/>
              <a:gdLst/>
              <a:ahLst/>
              <a:cxnLst/>
              <a:rect r="r" b="b" t="t" l="l"/>
              <a:pathLst>
                <a:path h="6350000" w="6350000">
                  <a:moveTo>
                    <a:pt x="3175000" y="0"/>
                  </a:moveTo>
                  <a:cubicBezTo>
                    <a:pt x="1423670" y="0"/>
                    <a:pt x="0" y="1424940"/>
                    <a:pt x="0" y="3175000"/>
                  </a:cubicBezTo>
                  <a:cubicBezTo>
                    <a:pt x="0" y="4925060"/>
                    <a:pt x="1423670" y="6350000"/>
                    <a:pt x="3175000" y="6350000"/>
                  </a:cubicBezTo>
                  <a:cubicBezTo>
                    <a:pt x="4925060" y="6350000"/>
                    <a:pt x="6350000" y="4926330"/>
                    <a:pt x="6350000" y="3175000"/>
                  </a:cubicBezTo>
                  <a:cubicBezTo>
                    <a:pt x="6350000" y="1424940"/>
                    <a:pt x="4926330" y="0"/>
                    <a:pt x="3175000" y="0"/>
                  </a:cubicBezTo>
                  <a:close/>
                  <a:moveTo>
                    <a:pt x="3175000" y="5833110"/>
                  </a:moveTo>
                  <a:cubicBezTo>
                    <a:pt x="1709420" y="5833110"/>
                    <a:pt x="516890" y="4640580"/>
                    <a:pt x="516890" y="3175000"/>
                  </a:cubicBezTo>
                  <a:cubicBezTo>
                    <a:pt x="516890" y="1709420"/>
                    <a:pt x="1709420" y="516890"/>
                    <a:pt x="3175000" y="516890"/>
                  </a:cubicBezTo>
                  <a:cubicBezTo>
                    <a:pt x="4640580" y="516890"/>
                    <a:pt x="5833110" y="1709420"/>
                    <a:pt x="5833110" y="3175000"/>
                  </a:cubicBezTo>
                  <a:cubicBezTo>
                    <a:pt x="5833110" y="4640580"/>
                    <a:pt x="4640580" y="5833110"/>
                    <a:pt x="3175000" y="5833110"/>
                  </a:cubicBezTo>
                  <a:close/>
                </a:path>
              </a:pathLst>
            </a:custGeom>
            <a:solidFill>
              <a:srgbClr val="397D5A"/>
            </a:solid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DAGwUYATtyc</dc:identifier>
  <dcterms:modified xsi:type="dcterms:W3CDTF">2011-08-01T06:04:30Z</dcterms:modified>
  <cp:revision>1</cp:revision>
  <dc:title>Business</dc:title>
</cp:coreProperties>
</file>